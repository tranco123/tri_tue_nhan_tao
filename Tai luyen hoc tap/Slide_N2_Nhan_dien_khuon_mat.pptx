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3" r:id="rId6"/>
    <p:sldId id="260" r:id="rId7"/>
    <p:sldId id="261" r:id="rId8"/>
    <p:sldId id="262" r:id="rId9"/>
    <p:sldId id="264" r:id="rId10"/>
    <p:sldId id="269" r:id="rId11"/>
    <p:sldId id="270"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903" autoAdjust="0"/>
  </p:normalViewPr>
  <p:slideViewPr>
    <p:cSldViewPr snapToGrid="0" snapToObjects="1">
      <p:cViewPr>
        <p:scale>
          <a:sx n="60" d="100"/>
          <a:sy n="60" d="100"/>
        </p:scale>
        <p:origin x="1522" y="21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9812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vi-VN" sz="1800" kern="100" dirty="0">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ứng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phục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vụ</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Python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OpenCV.”</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Trong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lớp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học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nay,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tưởng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đơn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giản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nhưng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nếu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lớp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thì</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lại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khá</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nhiều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Vì</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vậy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muốn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áp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kiến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thức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Trí</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tuệ</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nhân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cụ</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thị</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giác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máy</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tính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qua webcam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Trong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phần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hôm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nay,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ý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vì</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sao</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chọn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hoạt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thế</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nào</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quả</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ra</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sao</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Trước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chọn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vì</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bài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toán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vẫn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còn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chế</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Thứ</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gọi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hoặc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giấy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mất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biệt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lớp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Thứ</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hai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quá</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dễ</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sót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dụ</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nhầm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bỏ</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sót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hoặc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hộ</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Thứ</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nếu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rời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khó</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quản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lý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tổng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lại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tuần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hoặc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Từ</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những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vấn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xuất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giải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webcam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file CSV.</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hướng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đến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bốn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mục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tiêu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Đầu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thu</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thập</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từng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webcam.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Mỗi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nhiều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Tiếp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database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Ở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bước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trực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tiếp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SFace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chuyển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mỗi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thành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vector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trưng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Sau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Khi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xuất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trước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camera,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xuất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database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Cuối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Khi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thành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họ</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giờ</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tin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cậy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file CSV.</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Về</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Python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ngữ</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vì</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Python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dễ</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triển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khai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nhiều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hỗ</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tuệ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nhân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trọng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OpenCV</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mở</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webcam,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phát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tích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AI.</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Trong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YuNet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phát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Nhiệm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vụ</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YuNet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hay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nằm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ở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vị</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Sau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SFace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chỉnh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xuất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trưng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hiểu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Cuối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nhóm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cosine similarity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database.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Nếu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file CSV.</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trọng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ở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trực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tiếp</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gốc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mà</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trưng</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được chia thành nhiều file. capture_faces dùng để thu thập ảnh, build_database tạo database, recognize_attendance là file chính để nhận diện và điểm danh.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luồng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hoạt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Đầu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camera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ảnh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Sau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YuNet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phát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vị</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Ở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bước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chỉ</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biết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ở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chứ</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chưa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biết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ai.</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Tiếp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đưa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SFace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trích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xuất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trưng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đại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mặt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Sau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vector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lưu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database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cosine similarity.</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Nếu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nhau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tức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score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lớn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hơn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hoặc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threshold</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đồng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chênh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người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thứ</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hai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lớn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tức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margin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đủ</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err="1">
                <a:effectLst/>
                <a:latin typeface="Times New Roman" panose="02020603050405020304" pitchFamily="18" charset="0"/>
                <a:ea typeface="Aptos" panose="020B0004020202020204" pitchFamily="34" charset="0"/>
                <a:cs typeface="Times New Roman" panose="02020603050405020304" pitchFamily="18" charset="0"/>
              </a:rPr>
              <a:t>lớn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thì</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thành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Ngược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lại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nếu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chưa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đủ</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chắc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chắn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hiển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thị</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Unknown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chế</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nhầm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Sau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nhận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diện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thành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thông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tin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sinh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ghi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file CSV.</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bước thu thập dữ liệu, mỗi sinh viên được chụp nhiều ảnh ở các góc và trạng thái khác nhau. Ảnh mờ, quá tối, mặt quá nhỏ hoặc bị che khuất sẽ bị loại bỏ.</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dữ liệu ảnh, hệ thống dùng SFace để trích xuất vector đặc trưng. Các vector được lưu trong face_database.npz và dùng cho bước nhận diện sau này.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kết quả thực nghiệm, hệ thống hiển thị khung nhận diện và tên sinh viên trên webcam. Sau khi nhận diện thành công, thông tin được ghi vào file CSV gồm họ tên, ngày, thời gian và điểm tin cậy.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đánh giá kết quả nhận diện. Hệ thống đạt 93,33% khi ánh sáng ổn định và mặt nhìn chính diện. Khi mặt nghiêng hoặc khoảng cách camera xa, tỷ lệ đúng giảm. Điều này cho thấy chất lượng ảnh đầu vào ảnh hưởng trực tiếp đến YuNet và SFace.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giải thích threshold. Khi threshold thấp, hệ thống dễ chấp nhận kết quả nên tỷ lệ nhận diện cao nhưng có nguy cơ nhận nhầm. Khi threshold tăng, hệ thống nghiêm ngặt hơn, số lần Unknown tăng. Nhóm chọn threshold 0.50 và margin 0.06 để cân bằng giữa nhận diện đúng và hạn chế nhận sai.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thực nghiệm cho thấy hệ thống ổn định hơn trong điều kiện ánh sáng tốt và mặt chính diện. Threshold và margin giúp hạn chế nhận diện nhầm.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ưu điểm là tự động điểm danh, lưu CSV và dễ demo. Tuy nhiên còn phụ thuộc ánh sáng, chưa có giao diện hoàn chỉnh và chưa có chống giả mạo. Hướng phát triển là thêm giao diện, database và chống điểm danh hộ.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đề tài đã hoàn thành các chức năng chính: thu thập dữ liệu, xây dựng database, nhận diện sinh viên qua webcam và lưu điểm danh vào CSV. Em xin cảm ơn thầy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F"/>
        </a:solidFill>
        <a:effectLst/>
      </p:bgPr>
    </p:bg>
    <p:spTree>
      <p:nvGrpSpPr>
        <p:cNvPr id="1" name=""/>
        <p:cNvGrpSpPr/>
        <p:nvPr/>
      </p:nvGrpSpPr>
      <p:grpSpPr>
        <a:xfrm>
          <a:off x="0" y="0"/>
          <a:ext cx="0" cy="0"/>
          <a:chOff x="0" y="0"/>
          <a:chExt cx="0" cy="0"/>
        </a:xfrm>
      </p:grpSpPr>
      <p:pic>
        <p:nvPicPr>
          <p:cNvPr id="2" name="Image 0" descr="/mnt/data/crop_cover_portrait.jpg"/>
          <p:cNvPicPr>
            <a:picLocks noChangeAspect="1"/>
          </p:cNvPicPr>
          <p:nvPr/>
        </p:nvPicPr>
        <p:blipFill>
          <a:blip r:embed="rId3"/>
          <a:stretch>
            <a:fillRect/>
          </a:stretch>
        </p:blipFill>
        <p:spPr>
          <a:xfrm>
            <a:off x="6114293" y="-11573"/>
            <a:ext cx="6057746" cy="6858000"/>
          </a:xfrm>
          <a:prstGeom prst="rect">
            <a:avLst/>
          </a:prstGeom>
        </p:spPr>
      </p:pic>
      <p:sp>
        <p:nvSpPr>
          <p:cNvPr id="3" name="Shape 0"/>
          <p:cNvSpPr/>
          <p:nvPr/>
        </p:nvSpPr>
        <p:spPr>
          <a:xfrm>
            <a:off x="6083046" y="22860"/>
            <a:ext cx="22859" cy="6784823"/>
          </a:xfrm>
          <a:prstGeom prst="line">
            <a:avLst/>
          </a:prstGeom>
          <a:noFill/>
          <a:ln w="25400">
            <a:solidFill>
              <a:srgbClr val="20C7E6">
                <a:alpha val="55000"/>
              </a:srgbClr>
            </a:solidFill>
            <a:prstDash val="solid"/>
          </a:ln>
        </p:spPr>
      </p:sp>
      <p:sp>
        <p:nvSpPr>
          <p:cNvPr id="4" name="Shape 1"/>
          <p:cNvSpPr/>
          <p:nvPr/>
        </p:nvSpPr>
        <p:spPr>
          <a:xfrm>
            <a:off x="1356359" y="637006"/>
            <a:ext cx="3291840" cy="310896"/>
          </a:xfrm>
          <a:prstGeom prst="roundRect">
            <a:avLst>
              <a:gd name="adj" fmla="val 23529"/>
            </a:avLst>
          </a:prstGeom>
          <a:solidFill>
            <a:srgbClr val="EAF4FF"/>
          </a:solidFill>
          <a:ln w="12700">
            <a:solidFill>
              <a:srgbClr val="EAF4FF">
                <a:alpha val="0"/>
              </a:srgbClr>
            </a:solidFill>
            <a:prstDash val="solid"/>
          </a:ln>
        </p:spPr>
        <p:txBody>
          <a:bodyPr/>
          <a:lstStyle/>
          <a:p>
            <a:endParaRPr lang="en-US" dirty="0"/>
          </a:p>
        </p:txBody>
      </p:sp>
      <p:sp>
        <p:nvSpPr>
          <p:cNvPr id="5" name="Text 2"/>
          <p:cNvSpPr/>
          <p:nvPr/>
        </p:nvSpPr>
        <p:spPr>
          <a:xfrm>
            <a:off x="1463041" y="714754"/>
            <a:ext cx="3108960" cy="137160"/>
          </a:xfrm>
          <a:prstGeom prst="rect">
            <a:avLst/>
          </a:prstGeom>
          <a:noFill/>
          <a:ln/>
        </p:spPr>
        <p:txBody>
          <a:bodyPr wrap="square" lIns="0" tIns="0" rIns="0" bIns="0" rtlCol="0" anchor="ctr">
            <a:noAutofit/>
          </a:bodyPr>
          <a:lstStyle/>
          <a:p>
            <a:pPr marL="0" indent="0" algn="ctr">
              <a:buNone/>
            </a:pPr>
            <a:r>
              <a:rPr lang="en-US" sz="1400" b="1" dirty="0">
                <a:solidFill>
                  <a:srgbClr val="1D6BFF"/>
                </a:solidFill>
              </a:rPr>
              <a:t>ĐỀ TÀI MÔN HỌC | TRÍ TUỆ NHÂN TẠO</a:t>
            </a:r>
            <a:endParaRPr lang="en-US" sz="1400" dirty="0"/>
          </a:p>
        </p:txBody>
      </p:sp>
      <p:sp>
        <p:nvSpPr>
          <p:cNvPr id="6" name="Text 3"/>
          <p:cNvSpPr/>
          <p:nvPr/>
        </p:nvSpPr>
        <p:spPr>
          <a:xfrm>
            <a:off x="457198" y="1037818"/>
            <a:ext cx="5597654" cy="1115568"/>
          </a:xfrm>
          <a:prstGeom prst="rect">
            <a:avLst/>
          </a:prstGeom>
          <a:noFill/>
          <a:ln/>
        </p:spPr>
        <p:txBody>
          <a:bodyPr wrap="square" lIns="0" tIns="0" rIns="0" bIns="0" rtlCol="0" anchor="ctr">
            <a:noAutofit/>
          </a:bodyPr>
          <a:lstStyle/>
          <a:p>
            <a:pPr marL="0" indent="0" algn="ctr">
              <a:buNone/>
            </a:pPr>
            <a:r>
              <a:rPr lang="en-US" sz="2700" b="1" dirty="0">
                <a:solidFill>
                  <a:srgbClr val="0B1F3A"/>
                </a:solidFill>
                <a:latin typeface="Aptos Display" pitchFamily="34" charset="0"/>
                <a:ea typeface="Aptos Display" pitchFamily="34" charset="-122"/>
                <a:cs typeface="Aptos Display" pitchFamily="34" charset="-120"/>
              </a:rPr>
              <a:t>XÂY DỰNG ỨNG DỤNG</a:t>
            </a:r>
            <a:r>
              <a:rPr lang="en-US" sz="2700" dirty="0"/>
              <a:t> </a:t>
            </a:r>
            <a:r>
              <a:rPr lang="en-US" sz="2700" b="1" dirty="0">
                <a:solidFill>
                  <a:srgbClr val="0B1F3A"/>
                </a:solidFill>
                <a:latin typeface="Aptos Display" pitchFamily="34" charset="0"/>
                <a:ea typeface="Aptos Display" pitchFamily="34" charset="-122"/>
                <a:cs typeface="Aptos Display" pitchFamily="34" charset="-120"/>
              </a:rPr>
              <a:t>NHẬN DIỆN KHUÔN MẶT</a:t>
            </a:r>
            <a:endParaRPr lang="en-US" sz="2700" dirty="0"/>
          </a:p>
        </p:txBody>
      </p:sp>
      <p:sp>
        <p:nvSpPr>
          <p:cNvPr id="7" name="Text 4"/>
          <p:cNvSpPr/>
          <p:nvPr/>
        </p:nvSpPr>
        <p:spPr>
          <a:xfrm>
            <a:off x="624840" y="2017923"/>
            <a:ext cx="5582412" cy="384048"/>
          </a:xfrm>
          <a:prstGeom prst="rect">
            <a:avLst/>
          </a:prstGeom>
          <a:noFill/>
          <a:ln/>
        </p:spPr>
        <p:txBody>
          <a:bodyPr wrap="square" lIns="0" tIns="0" rIns="0" bIns="0" rtlCol="0" anchor="ctr"/>
          <a:lstStyle/>
          <a:p>
            <a:pPr marL="0" indent="0" algn="ctr">
              <a:buNone/>
            </a:pPr>
            <a:r>
              <a:rPr lang="en-US" sz="1500" b="1" dirty="0">
                <a:solidFill>
                  <a:srgbClr val="0A55C9"/>
                </a:solidFill>
              </a:rPr>
              <a:t>Phục vụ điểm danh sinh viên bằng Python </a:t>
            </a:r>
            <a:r>
              <a:rPr lang="en-US" sz="1500" b="1" dirty="0" err="1">
                <a:solidFill>
                  <a:srgbClr val="0A55C9"/>
                </a:solidFill>
              </a:rPr>
              <a:t>và</a:t>
            </a:r>
            <a:r>
              <a:rPr lang="en-US" sz="1500" b="1" dirty="0">
                <a:solidFill>
                  <a:srgbClr val="0A55C9"/>
                </a:solidFill>
              </a:rPr>
              <a:t> OpenCV</a:t>
            </a:r>
            <a:endParaRPr lang="en-US" sz="1500" dirty="0"/>
          </a:p>
        </p:txBody>
      </p:sp>
      <p:sp>
        <p:nvSpPr>
          <p:cNvPr id="8" name="Shape 5"/>
          <p:cNvSpPr/>
          <p:nvPr/>
        </p:nvSpPr>
        <p:spPr>
          <a:xfrm>
            <a:off x="1158240" y="2396022"/>
            <a:ext cx="4488179" cy="0"/>
          </a:xfrm>
          <a:prstGeom prst="line">
            <a:avLst/>
          </a:prstGeom>
          <a:noFill/>
          <a:ln w="25400">
            <a:solidFill>
              <a:srgbClr val="20C7E6"/>
            </a:solidFill>
            <a:prstDash val="solid"/>
          </a:ln>
        </p:spPr>
        <p:txBody>
          <a:bodyPr/>
          <a:lstStyle/>
          <a:p>
            <a:endParaRPr lang="en-US" dirty="0"/>
          </a:p>
        </p:txBody>
      </p:sp>
      <p:sp>
        <p:nvSpPr>
          <p:cNvPr id="9" name="Text 6"/>
          <p:cNvSpPr/>
          <p:nvPr/>
        </p:nvSpPr>
        <p:spPr>
          <a:xfrm>
            <a:off x="939546" y="2779065"/>
            <a:ext cx="5120640" cy="274320"/>
          </a:xfrm>
          <a:prstGeom prst="rect">
            <a:avLst/>
          </a:prstGeom>
          <a:noFill/>
          <a:ln/>
        </p:spPr>
        <p:txBody>
          <a:bodyPr wrap="square" lIns="0" tIns="0" rIns="0" bIns="0" rtlCol="0" anchor="ctr"/>
          <a:lstStyle/>
          <a:p>
            <a:pPr marL="0" indent="0">
              <a:buNone/>
            </a:pPr>
            <a:r>
              <a:rPr lang="en-US" sz="1500" dirty="0">
                <a:solidFill>
                  <a:srgbClr val="182334"/>
                </a:solidFill>
              </a:rPr>
              <a:t>Nhóm 2  |  GVHD: ThS. Nguyễn Huy Hòa</a:t>
            </a:r>
            <a:endParaRPr lang="en-US" sz="1500" dirty="0"/>
          </a:p>
        </p:txBody>
      </p:sp>
      <p:sp>
        <p:nvSpPr>
          <p:cNvPr id="10" name="Text 7"/>
          <p:cNvSpPr/>
          <p:nvPr/>
        </p:nvSpPr>
        <p:spPr>
          <a:xfrm>
            <a:off x="932457" y="3128791"/>
            <a:ext cx="5212080" cy="933767"/>
          </a:xfrm>
          <a:prstGeom prst="rect">
            <a:avLst/>
          </a:prstGeom>
          <a:noFill/>
          <a:ln/>
        </p:spPr>
        <p:txBody>
          <a:bodyPr wrap="square" lIns="0" tIns="0" rIns="0" bIns="0" rtlCol="0" anchor="ctr"/>
          <a:lstStyle/>
          <a:p>
            <a:pPr marL="0" indent="0">
              <a:buNone/>
            </a:pPr>
            <a:r>
              <a:rPr lang="en-US" sz="1400" dirty="0">
                <a:solidFill>
                  <a:srgbClr val="5F6B7A"/>
                </a:solidFill>
              </a:rPr>
              <a:t>Thành </a:t>
            </a:r>
            <a:r>
              <a:rPr lang="en-US" sz="1400" dirty="0" err="1">
                <a:solidFill>
                  <a:srgbClr val="5F6B7A"/>
                </a:solidFill>
              </a:rPr>
              <a:t>viên</a:t>
            </a:r>
            <a:r>
              <a:rPr lang="en-US" sz="1400" dirty="0">
                <a:solidFill>
                  <a:srgbClr val="5F6B7A"/>
                </a:solidFill>
              </a:rPr>
              <a:t>: </a:t>
            </a:r>
            <a:r>
              <a:rPr lang="en-US" sz="1400" dirty="0" err="1">
                <a:solidFill>
                  <a:srgbClr val="5F6B7A"/>
                </a:solidFill>
              </a:rPr>
              <a:t>Trần</a:t>
            </a:r>
            <a:r>
              <a:rPr lang="en-US" sz="1400" dirty="0">
                <a:solidFill>
                  <a:srgbClr val="5F6B7A"/>
                </a:solidFill>
              </a:rPr>
              <a:t> Đức </a:t>
            </a:r>
            <a:r>
              <a:rPr lang="en-US" sz="1400" dirty="0" err="1">
                <a:solidFill>
                  <a:srgbClr val="5F6B7A"/>
                </a:solidFill>
              </a:rPr>
              <a:t>Cơ</a:t>
            </a:r>
            <a:r>
              <a:rPr lang="en-US" sz="1400" dirty="0">
                <a:solidFill>
                  <a:srgbClr val="5F6B7A"/>
                </a:solidFill>
              </a:rPr>
              <a:t> </a:t>
            </a:r>
          </a:p>
          <a:p>
            <a:pPr marL="0" indent="0">
              <a:buNone/>
            </a:pPr>
            <a:r>
              <a:rPr lang="en-US" sz="1400" dirty="0">
                <a:solidFill>
                  <a:srgbClr val="5F6B7A"/>
                </a:solidFill>
              </a:rPr>
              <a:t>                       · Trần Thị Thùy Linh </a:t>
            </a:r>
          </a:p>
          <a:p>
            <a:pPr marL="0" indent="0">
              <a:buNone/>
            </a:pPr>
            <a:r>
              <a:rPr lang="en-US" sz="1400" dirty="0">
                <a:solidFill>
                  <a:srgbClr val="5F6B7A"/>
                </a:solidFill>
              </a:rPr>
              <a:t>                       · Trịnh </a:t>
            </a:r>
            <a:r>
              <a:rPr lang="en-US" sz="1400" dirty="0" err="1">
                <a:solidFill>
                  <a:srgbClr val="5F6B7A"/>
                </a:solidFill>
              </a:rPr>
              <a:t>Ngọc</a:t>
            </a:r>
            <a:r>
              <a:rPr lang="en-US" sz="1400" dirty="0">
                <a:solidFill>
                  <a:srgbClr val="5F6B7A"/>
                </a:solidFill>
              </a:rPr>
              <a:t> </a:t>
            </a:r>
            <a:r>
              <a:rPr lang="en-US" sz="1400" dirty="0" err="1">
                <a:solidFill>
                  <a:srgbClr val="5F6B7A"/>
                </a:solidFill>
              </a:rPr>
              <a:t>Toàn</a:t>
            </a:r>
            <a:r>
              <a:rPr lang="en-US" sz="1400" dirty="0">
                <a:solidFill>
                  <a:srgbClr val="5F6B7A"/>
                </a:solidFill>
              </a:rPr>
              <a:t> </a:t>
            </a:r>
          </a:p>
          <a:p>
            <a:pPr marL="0" indent="0">
              <a:buNone/>
            </a:pPr>
            <a:r>
              <a:rPr lang="en-US" sz="1400" dirty="0">
                <a:solidFill>
                  <a:srgbClr val="5F6B7A"/>
                </a:solidFill>
              </a:rPr>
              <a:t>                       ·</a:t>
            </a:r>
            <a:r>
              <a:rPr lang="en-US" sz="1400" dirty="0"/>
              <a:t> </a:t>
            </a:r>
            <a:r>
              <a:rPr lang="en-US" sz="1400" dirty="0" err="1">
                <a:solidFill>
                  <a:srgbClr val="5F6B7A"/>
                </a:solidFill>
              </a:rPr>
              <a:t>Đặng</a:t>
            </a:r>
            <a:r>
              <a:rPr lang="en-US" sz="1400" dirty="0">
                <a:solidFill>
                  <a:srgbClr val="5F6B7A"/>
                </a:solidFill>
              </a:rPr>
              <a:t> Văn </a:t>
            </a:r>
            <a:r>
              <a:rPr lang="en-US" sz="1400" dirty="0" err="1">
                <a:solidFill>
                  <a:srgbClr val="5F6B7A"/>
                </a:solidFill>
              </a:rPr>
              <a:t>Hùng</a:t>
            </a:r>
            <a:r>
              <a:rPr lang="en-US" sz="1400" dirty="0">
                <a:solidFill>
                  <a:srgbClr val="5F6B7A"/>
                </a:solidFill>
              </a:rPr>
              <a:t> </a:t>
            </a:r>
          </a:p>
          <a:p>
            <a:pPr marL="0" indent="0">
              <a:buNone/>
            </a:pPr>
            <a:r>
              <a:rPr lang="en-US" sz="1400" dirty="0">
                <a:solidFill>
                  <a:srgbClr val="5F6B7A"/>
                </a:solidFill>
              </a:rPr>
              <a:t>                       · Nguyễn Hương Giang</a:t>
            </a:r>
            <a:endParaRPr lang="en-US" sz="1400" dirty="0"/>
          </a:p>
        </p:txBody>
      </p:sp>
      <p:sp>
        <p:nvSpPr>
          <p:cNvPr id="11" name="Shape 8"/>
          <p:cNvSpPr/>
          <p:nvPr/>
        </p:nvSpPr>
        <p:spPr>
          <a:xfrm>
            <a:off x="124585" y="4391476"/>
            <a:ext cx="1298447" cy="850336"/>
          </a:xfrm>
          <a:prstGeom prst="roundRect">
            <a:avLst>
              <a:gd name="adj" fmla="val 12000"/>
            </a:avLst>
          </a:prstGeom>
          <a:solidFill>
            <a:srgbClr val="FFFFFF"/>
          </a:solidFill>
          <a:ln w="12700">
            <a:solidFill>
              <a:srgbClr val="DDEBFA"/>
            </a:solidFill>
            <a:prstDash val="solid"/>
          </a:ln>
          <a:effectLst>
            <a:outerShdw blurRad="25400" dist="50800" dir="2700000" algn="bl" rotWithShape="0">
              <a:srgbClr val="C6D7EA">
                <a:alpha val="16000"/>
              </a:srgbClr>
            </a:outerShdw>
          </a:effectLst>
        </p:spPr>
        <p:txBody>
          <a:bodyPr/>
          <a:lstStyle/>
          <a:p>
            <a:endParaRPr lang="en-US" dirty="0"/>
          </a:p>
        </p:txBody>
      </p:sp>
      <p:sp>
        <p:nvSpPr>
          <p:cNvPr id="12" name="Text 9"/>
          <p:cNvSpPr/>
          <p:nvPr/>
        </p:nvSpPr>
        <p:spPr>
          <a:xfrm>
            <a:off x="213359" y="4487809"/>
            <a:ext cx="1143000" cy="292608"/>
          </a:xfrm>
          <a:prstGeom prst="rect">
            <a:avLst/>
          </a:prstGeom>
          <a:noFill/>
          <a:ln/>
        </p:spPr>
        <p:txBody>
          <a:bodyPr wrap="square" lIns="0" tIns="0" rIns="0" bIns="0" rtlCol="0" anchor="ctr">
            <a:normAutofit fontScale="92500" lnSpcReduction="10000"/>
          </a:bodyPr>
          <a:lstStyle/>
          <a:p>
            <a:pPr marL="0" indent="0" algn="ctr">
              <a:buNone/>
            </a:pPr>
            <a:r>
              <a:rPr lang="en-US" sz="2300" b="1" dirty="0">
                <a:solidFill>
                  <a:srgbClr val="1D6BFF"/>
                </a:solidFill>
              </a:rPr>
              <a:t>AI</a:t>
            </a:r>
            <a:endParaRPr lang="en-US" sz="2300" dirty="0"/>
          </a:p>
        </p:txBody>
      </p:sp>
      <p:sp>
        <p:nvSpPr>
          <p:cNvPr id="13" name="Text 10"/>
          <p:cNvSpPr/>
          <p:nvPr/>
        </p:nvSpPr>
        <p:spPr>
          <a:xfrm>
            <a:off x="235459" y="4816644"/>
            <a:ext cx="1106424" cy="256032"/>
          </a:xfrm>
          <a:prstGeom prst="rect">
            <a:avLst/>
          </a:prstGeom>
          <a:noFill/>
          <a:ln/>
        </p:spPr>
        <p:txBody>
          <a:bodyPr wrap="square" lIns="0" tIns="0" rIns="0" bIns="0" rtlCol="0" anchor="ctr">
            <a:normAutofit/>
          </a:bodyPr>
          <a:lstStyle/>
          <a:p>
            <a:pPr marL="0" indent="0" algn="ctr">
              <a:buNone/>
            </a:pPr>
            <a:r>
              <a:rPr lang="en-US" sz="1000" dirty="0">
                <a:solidFill>
                  <a:srgbClr val="5F6B7A"/>
                </a:solidFill>
              </a:rPr>
              <a:t>Thị giác máy tính</a:t>
            </a:r>
            <a:endParaRPr lang="en-US" sz="1000" dirty="0"/>
          </a:p>
        </p:txBody>
      </p:sp>
      <p:sp>
        <p:nvSpPr>
          <p:cNvPr id="14" name="Shape 11"/>
          <p:cNvSpPr/>
          <p:nvPr/>
        </p:nvSpPr>
        <p:spPr>
          <a:xfrm>
            <a:off x="2353817" y="5097780"/>
            <a:ext cx="1325880" cy="914400"/>
          </a:xfrm>
          <a:prstGeom prst="roundRect">
            <a:avLst>
              <a:gd name="adj" fmla="val 12000"/>
            </a:avLst>
          </a:prstGeom>
          <a:solidFill>
            <a:srgbClr val="FFFFFF"/>
          </a:solidFill>
          <a:ln w="12700">
            <a:solidFill>
              <a:srgbClr val="DDEBFA"/>
            </a:solidFill>
            <a:prstDash val="solid"/>
          </a:ln>
          <a:effectLst>
            <a:outerShdw blurRad="25400" dist="50800" dir="2700000" algn="bl" rotWithShape="0">
              <a:srgbClr val="C6D7EA">
                <a:alpha val="16000"/>
              </a:srgbClr>
            </a:outerShdw>
          </a:effectLst>
        </p:spPr>
      </p:sp>
      <p:sp>
        <p:nvSpPr>
          <p:cNvPr id="15" name="Text 12"/>
          <p:cNvSpPr/>
          <p:nvPr/>
        </p:nvSpPr>
        <p:spPr>
          <a:xfrm>
            <a:off x="2445257" y="5202164"/>
            <a:ext cx="1143000" cy="292608"/>
          </a:xfrm>
          <a:prstGeom prst="rect">
            <a:avLst/>
          </a:prstGeom>
          <a:noFill/>
          <a:ln/>
        </p:spPr>
        <p:txBody>
          <a:bodyPr wrap="square" lIns="0" tIns="0" rIns="0" bIns="0" rtlCol="0" anchor="ctr">
            <a:normAutofit fontScale="92500" lnSpcReduction="10000"/>
          </a:bodyPr>
          <a:lstStyle/>
          <a:p>
            <a:pPr marL="0" indent="0" algn="ctr">
              <a:buNone/>
            </a:pPr>
            <a:r>
              <a:rPr lang="en-US" sz="2300" b="1" dirty="0">
                <a:solidFill>
                  <a:srgbClr val="35C58A"/>
                </a:solidFill>
              </a:rPr>
              <a:t>CSV</a:t>
            </a:r>
            <a:endParaRPr lang="en-US" sz="2300" dirty="0"/>
          </a:p>
        </p:txBody>
      </p:sp>
      <p:sp>
        <p:nvSpPr>
          <p:cNvPr id="16" name="Text 13"/>
          <p:cNvSpPr/>
          <p:nvPr/>
        </p:nvSpPr>
        <p:spPr>
          <a:xfrm>
            <a:off x="2481833" y="5564150"/>
            <a:ext cx="1106424" cy="256032"/>
          </a:xfrm>
          <a:prstGeom prst="rect">
            <a:avLst/>
          </a:prstGeom>
          <a:noFill/>
          <a:ln/>
        </p:spPr>
        <p:txBody>
          <a:bodyPr wrap="square" lIns="0" tIns="0" rIns="0" bIns="0" rtlCol="0" anchor="ctr">
            <a:normAutofit/>
          </a:bodyPr>
          <a:lstStyle/>
          <a:p>
            <a:pPr marL="0" indent="0" algn="ctr">
              <a:buNone/>
            </a:pPr>
            <a:r>
              <a:rPr lang="en-US" sz="1000" dirty="0">
                <a:solidFill>
                  <a:srgbClr val="5F6B7A"/>
                </a:solidFill>
              </a:rPr>
              <a:t>Lưu điểm danh</a:t>
            </a:r>
            <a:endParaRPr lang="en-US" sz="1000" dirty="0"/>
          </a:p>
        </p:txBody>
      </p:sp>
      <p:sp>
        <p:nvSpPr>
          <p:cNvPr id="17" name="Shape 14"/>
          <p:cNvSpPr/>
          <p:nvPr/>
        </p:nvSpPr>
        <p:spPr>
          <a:xfrm>
            <a:off x="4610100" y="4363232"/>
            <a:ext cx="1325880" cy="914400"/>
          </a:xfrm>
          <a:prstGeom prst="roundRect">
            <a:avLst>
              <a:gd name="adj" fmla="val 12000"/>
            </a:avLst>
          </a:prstGeom>
          <a:solidFill>
            <a:srgbClr val="FFFFFF"/>
          </a:solidFill>
          <a:ln w="12700">
            <a:solidFill>
              <a:srgbClr val="DDEBFA"/>
            </a:solidFill>
            <a:prstDash val="solid"/>
          </a:ln>
          <a:effectLst>
            <a:outerShdw blurRad="25400" dist="50800" dir="2700000" algn="bl" rotWithShape="0">
              <a:srgbClr val="C6D7EA">
                <a:alpha val="16000"/>
              </a:srgbClr>
            </a:outerShdw>
          </a:effectLst>
        </p:spPr>
      </p:sp>
      <p:sp>
        <p:nvSpPr>
          <p:cNvPr id="18" name="Text 15"/>
          <p:cNvSpPr/>
          <p:nvPr/>
        </p:nvSpPr>
        <p:spPr>
          <a:xfrm>
            <a:off x="4689345" y="4496226"/>
            <a:ext cx="1143000" cy="292608"/>
          </a:xfrm>
          <a:prstGeom prst="rect">
            <a:avLst/>
          </a:prstGeom>
          <a:noFill/>
          <a:ln/>
        </p:spPr>
        <p:txBody>
          <a:bodyPr wrap="square" lIns="0" tIns="0" rIns="0" bIns="0" rtlCol="0" anchor="ctr">
            <a:normAutofit fontScale="92500" lnSpcReduction="10000"/>
          </a:bodyPr>
          <a:lstStyle/>
          <a:p>
            <a:pPr marL="0" indent="0" algn="ctr">
              <a:buNone/>
            </a:pPr>
            <a:r>
              <a:rPr lang="en-US" sz="2300" b="1" dirty="0">
                <a:solidFill>
                  <a:srgbClr val="F59E0B"/>
                </a:solidFill>
              </a:rPr>
              <a:t>RT</a:t>
            </a:r>
            <a:endParaRPr lang="en-US" sz="2300" dirty="0"/>
          </a:p>
        </p:txBody>
      </p:sp>
      <p:sp>
        <p:nvSpPr>
          <p:cNvPr id="19" name="Text 16"/>
          <p:cNvSpPr/>
          <p:nvPr/>
        </p:nvSpPr>
        <p:spPr>
          <a:xfrm>
            <a:off x="4719828" y="4842500"/>
            <a:ext cx="1106424" cy="256032"/>
          </a:xfrm>
          <a:prstGeom prst="rect">
            <a:avLst/>
          </a:prstGeom>
          <a:noFill/>
          <a:ln/>
        </p:spPr>
        <p:txBody>
          <a:bodyPr wrap="square" lIns="0" tIns="0" rIns="0" bIns="0" rtlCol="0" anchor="ctr">
            <a:noAutofit/>
          </a:bodyPr>
          <a:lstStyle/>
          <a:p>
            <a:pPr marL="0" indent="0" algn="ctr">
              <a:buNone/>
            </a:pPr>
            <a:r>
              <a:rPr lang="en-US" sz="1000" dirty="0">
                <a:solidFill>
                  <a:srgbClr val="5F6B7A"/>
                </a:solidFill>
              </a:rPr>
              <a:t>Nhận diện thời gian thực</a:t>
            </a:r>
            <a:endParaRPr lang="en-US" sz="1000" dirty="0"/>
          </a:p>
        </p:txBody>
      </p:sp>
      <p:pic>
        <p:nvPicPr>
          <p:cNvPr id="20" name="Picture 19">
            <a:extLst>
              <a:ext uri="{FF2B5EF4-FFF2-40B4-BE49-F238E27FC236}">
                <a16:creationId xmlns:a16="http://schemas.microsoft.com/office/drawing/2014/main" id="{DA5EA2D1-4D4D-0B65-98AB-531B3A721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12" y="22860"/>
            <a:ext cx="691894" cy="691894"/>
          </a:xfrm>
          <a:prstGeom prst="rect">
            <a:avLst/>
          </a:prstGeom>
        </p:spPr>
      </p:pic>
      <p:sp>
        <p:nvSpPr>
          <p:cNvPr id="29" name="Oval 28">
            <a:extLst>
              <a:ext uri="{FF2B5EF4-FFF2-40B4-BE49-F238E27FC236}">
                <a16:creationId xmlns:a16="http://schemas.microsoft.com/office/drawing/2014/main" id="{B1BF7EFE-A5B0-DAC1-1F20-B006F7C6A23D}"/>
              </a:ext>
            </a:extLst>
          </p:cNvPr>
          <p:cNvSpPr/>
          <p:nvPr/>
        </p:nvSpPr>
        <p:spPr>
          <a:xfrm>
            <a:off x="1801747" y="6470956"/>
            <a:ext cx="2297432" cy="36115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err="1">
                <a:solidFill>
                  <a:schemeClr val="tx1"/>
                </a:solidFill>
              </a:rPr>
              <a:t>Năm</a:t>
            </a:r>
            <a:r>
              <a:rPr lang="en-US" sz="1200" b="1" dirty="0">
                <a:solidFill>
                  <a:schemeClr val="tx1"/>
                </a:solidFill>
              </a:rPr>
              <a:t> </a:t>
            </a:r>
            <a:r>
              <a:rPr lang="en-US" sz="1200" b="1" dirty="0" err="1">
                <a:solidFill>
                  <a:schemeClr val="tx1"/>
                </a:solidFill>
              </a:rPr>
              <a:t>học</a:t>
            </a:r>
            <a:r>
              <a:rPr lang="en-US" sz="1200" b="1" dirty="0">
                <a:solidFill>
                  <a:schemeClr val="tx1"/>
                </a:solidFill>
              </a:rPr>
              <a:t> 2025 - 2026</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1. Lý do chọn đề tài</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Bài toán điểm danh thủ công có thể được tự động hóa bằng thị giác máy tính</a:t>
            </a:r>
            <a:endParaRPr lang="en-US" sz="1600" dirty="0"/>
          </a:p>
        </p:txBody>
      </p:sp>
      <p:sp>
        <p:nvSpPr>
          <p:cNvPr id="7" name="Text 5"/>
          <p:cNvSpPr/>
          <p:nvPr/>
        </p:nvSpPr>
        <p:spPr>
          <a:xfrm>
            <a:off x="480060" y="6574536"/>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02</a:t>
            </a:r>
            <a:endParaRPr lang="en-US" sz="850" dirty="0"/>
          </a:p>
        </p:txBody>
      </p:sp>
      <p:pic>
        <p:nvPicPr>
          <p:cNvPr id="9" name="Image 0" descr="/mnt/data/crop_problem_square.jpg"/>
          <p:cNvPicPr>
            <a:picLocks noChangeAspect="1"/>
          </p:cNvPicPr>
          <p:nvPr/>
        </p:nvPicPr>
        <p:blipFill>
          <a:blip r:embed="rId3"/>
          <a:stretch>
            <a:fillRect/>
          </a:stretch>
        </p:blipFill>
        <p:spPr>
          <a:xfrm>
            <a:off x="6629400" y="1325880"/>
            <a:ext cx="5074920" cy="4892040"/>
          </a:xfrm>
          <a:prstGeom prst="rect">
            <a:avLst/>
          </a:prstGeom>
        </p:spPr>
      </p:pic>
      <p:sp>
        <p:nvSpPr>
          <p:cNvPr id="10" name="Shape 7"/>
          <p:cNvSpPr/>
          <p:nvPr/>
        </p:nvSpPr>
        <p:spPr>
          <a:xfrm>
            <a:off x="713232" y="1417320"/>
            <a:ext cx="1737360" cy="2560320"/>
          </a:xfrm>
          <a:prstGeom prst="roundRect">
            <a:avLst>
              <a:gd name="adj" fmla="val 8421"/>
            </a:avLst>
          </a:prstGeom>
          <a:solidFill>
            <a:srgbClr val="F1F6FF"/>
          </a:solidFill>
          <a:ln w="12700">
            <a:solidFill>
              <a:srgbClr val="B9D2FF"/>
            </a:solidFill>
            <a:prstDash val="solid"/>
          </a:ln>
          <a:effectLst>
            <a:outerShdw blurRad="25400" dist="50800" dir="2700000" algn="bl" rotWithShape="0">
              <a:srgbClr val="C6D7EA">
                <a:alpha val="16000"/>
              </a:srgbClr>
            </a:outerShdw>
          </a:effectLst>
        </p:spPr>
      </p:sp>
      <p:sp>
        <p:nvSpPr>
          <p:cNvPr id="11" name="Text 8"/>
          <p:cNvSpPr/>
          <p:nvPr/>
        </p:nvSpPr>
        <p:spPr>
          <a:xfrm>
            <a:off x="859536" y="1627632"/>
            <a:ext cx="502920" cy="329184"/>
          </a:xfrm>
          <a:prstGeom prst="rect">
            <a:avLst/>
          </a:prstGeom>
          <a:noFill/>
          <a:ln/>
        </p:spPr>
        <p:txBody>
          <a:bodyPr wrap="square" lIns="0" tIns="0" rIns="0" bIns="0" rtlCol="0" anchor="ctr"/>
          <a:lstStyle/>
          <a:p>
            <a:pPr marL="0" indent="0">
              <a:buNone/>
            </a:pPr>
            <a:r>
              <a:rPr lang="en-US" sz="1900" b="1" dirty="0">
                <a:solidFill>
                  <a:srgbClr val="1D6BFF"/>
                </a:solidFill>
              </a:rPr>
              <a:t>01</a:t>
            </a:r>
            <a:endParaRPr lang="en-US" sz="1900" dirty="0"/>
          </a:p>
        </p:txBody>
      </p:sp>
      <p:sp>
        <p:nvSpPr>
          <p:cNvPr id="12" name="Text 9"/>
          <p:cNvSpPr/>
          <p:nvPr/>
        </p:nvSpPr>
        <p:spPr>
          <a:xfrm>
            <a:off x="859536" y="2121408"/>
            <a:ext cx="1417320" cy="292608"/>
          </a:xfrm>
          <a:prstGeom prst="rect">
            <a:avLst/>
          </a:prstGeom>
          <a:noFill/>
          <a:ln/>
        </p:spPr>
        <p:txBody>
          <a:bodyPr wrap="square" lIns="0" tIns="0" rIns="0" bIns="0" rtlCol="0" anchor="ctr">
            <a:normAutofit/>
          </a:bodyPr>
          <a:lstStyle/>
          <a:p>
            <a:pPr marL="0" indent="0">
              <a:buNone/>
            </a:pPr>
            <a:r>
              <a:rPr lang="en-US" sz="1600" b="1" dirty="0">
                <a:solidFill>
                  <a:srgbClr val="0B1F3A"/>
                </a:solidFill>
              </a:rPr>
              <a:t>Mất thời gian</a:t>
            </a:r>
            <a:endParaRPr lang="en-US" sz="1600" dirty="0"/>
          </a:p>
        </p:txBody>
      </p:sp>
      <p:sp>
        <p:nvSpPr>
          <p:cNvPr id="13" name="Text 10"/>
          <p:cNvSpPr/>
          <p:nvPr/>
        </p:nvSpPr>
        <p:spPr>
          <a:xfrm>
            <a:off x="859536" y="2578608"/>
            <a:ext cx="1417320" cy="822960"/>
          </a:xfrm>
          <a:prstGeom prst="rect">
            <a:avLst/>
          </a:prstGeom>
          <a:noFill/>
          <a:ln/>
        </p:spPr>
        <p:txBody>
          <a:bodyPr wrap="square" lIns="0" tIns="0" rIns="0" bIns="0" rtlCol="0" anchor="ctr">
            <a:normAutofit/>
          </a:bodyPr>
          <a:lstStyle/>
          <a:p>
            <a:pPr marL="0" indent="0">
              <a:buNone/>
            </a:pPr>
            <a:r>
              <a:rPr lang="en-US" sz="1200" dirty="0">
                <a:solidFill>
                  <a:srgbClr val="5F6B7A"/>
                </a:solidFill>
              </a:rPr>
              <a:t>Gọi tên hoặc ký giấy thủ công tốn thời gian trong lớp đông.</a:t>
            </a:r>
            <a:endParaRPr lang="en-US" sz="1200" dirty="0"/>
          </a:p>
        </p:txBody>
      </p:sp>
      <p:sp>
        <p:nvSpPr>
          <p:cNvPr id="14" name="Shape 11"/>
          <p:cNvSpPr/>
          <p:nvPr/>
        </p:nvSpPr>
        <p:spPr>
          <a:xfrm>
            <a:off x="2770632" y="1417320"/>
            <a:ext cx="1737360" cy="2560320"/>
          </a:xfrm>
          <a:prstGeom prst="roundRect">
            <a:avLst>
              <a:gd name="adj" fmla="val 8421"/>
            </a:avLst>
          </a:prstGeom>
          <a:solidFill>
            <a:srgbClr val="FFF7E8"/>
          </a:solidFill>
          <a:ln w="12700">
            <a:solidFill>
              <a:srgbClr val="FCD68A"/>
            </a:solidFill>
            <a:prstDash val="solid"/>
          </a:ln>
          <a:effectLst>
            <a:outerShdw blurRad="25400" dist="50800" dir="2700000" algn="bl" rotWithShape="0">
              <a:srgbClr val="C6D7EA">
                <a:alpha val="16000"/>
              </a:srgbClr>
            </a:outerShdw>
          </a:effectLst>
        </p:spPr>
      </p:sp>
      <p:sp>
        <p:nvSpPr>
          <p:cNvPr id="15" name="Text 12"/>
          <p:cNvSpPr/>
          <p:nvPr/>
        </p:nvSpPr>
        <p:spPr>
          <a:xfrm>
            <a:off x="2916936" y="1627632"/>
            <a:ext cx="502920" cy="329184"/>
          </a:xfrm>
          <a:prstGeom prst="rect">
            <a:avLst/>
          </a:prstGeom>
          <a:noFill/>
          <a:ln/>
        </p:spPr>
        <p:txBody>
          <a:bodyPr wrap="square" lIns="0" tIns="0" rIns="0" bIns="0" rtlCol="0" anchor="ctr"/>
          <a:lstStyle/>
          <a:p>
            <a:pPr marL="0" indent="0">
              <a:buNone/>
            </a:pPr>
            <a:r>
              <a:rPr lang="en-US" sz="1900" b="1" dirty="0">
                <a:solidFill>
                  <a:srgbClr val="F59E0B"/>
                </a:solidFill>
              </a:rPr>
              <a:t>02</a:t>
            </a:r>
            <a:endParaRPr lang="en-US" sz="1900" dirty="0"/>
          </a:p>
        </p:txBody>
      </p:sp>
      <p:sp>
        <p:nvSpPr>
          <p:cNvPr id="16" name="Text 13"/>
          <p:cNvSpPr/>
          <p:nvPr/>
        </p:nvSpPr>
        <p:spPr>
          <a:xfrm>
            <a:off x="2916936" y="2121408"/>
            <a:ext cx="1417320" cy="292608"/>
          </a:xfrm>
          <a:prstGeom prst="rect">
            <a:avLst/>
          </a:prstGeom>
          <a:noFill/>
          <a:ln/>
        </p:spPr>
        <p:txBody>
          <a:bodyPr wrap="square" lIns="0" tIns="0" rIns="0" bIns="0" rtlCol="0" anchor="ctr">
            <a:normAutofit/>
          </a:bodyPr>
          <a:lstStyle/>
          <a:p>
            <a:pPr marL="0" indent="0">
              <a:buNone/>
            </a:pPr>
            <a:r>
              <a:rPr lang="en-US" sz="1600" b="1" dirty="0">
                <a:solidFill>
                  <a:srgbClr val="0B1F3A"/>
                </a:solidFill>
              </a:rPr>
              <a:t>Dễ sai sót</a:t>
            </a:r>
            <a:endParaRPr lang="en-US" sz="1600" dirty="0"/>
          </a:p>
        </p:txBody>
      </p:sp>
      <p:sp>
        <p:nvSpPr>
          <p:cNvPr id="17" name="Text 14"/>
          <p:cNvSpPr/>
          <p:nvPr/>
        </p:nvSpPr>
        <p:spPr>
          <a:xfrm>
            <a:off x="2916936" y="2578608"/>
            <a:ext cx="1417320" cy="822960"/>
          </a:xfrm>
          <a:prstGeom prst="rect">
            <a:avLst/>
          </a:prstGeom>
          <a:noFill/>
          <a:ln/>
        </p:spPr>
        <p:txBody>
          <a:bodyPr wrap="square" lIns="0" tIns="0" rIns="0" bIns="0" rtlCol="0" anchor="ctr">
            <a:normAutofit/>
          </a:bodyPr>
          <a:lstStyle/>
          <a:p>
            <a:pPr marL="0" indent="0">
              <a:buNone/>
            </a:pPr>
            <a:r>
              <a:rPr lang="en-US" sz="1200" dirty="0">
                <a:solidFill>
                  <a:srgbClr val="5F6B7A"/>
                </a:solidFill>
              </a:rPr>
              <a:t>Ghi nhầm, bỏ sót hoặc điểm danh hộ khó kiểm soát</a:t>
            </a:r>
            <a:r>
              <a:rPr lang="en-US" sz="980" dirty="0">
                <a:solidFill>
                  <a:srgbClr val="5F6B7A"/>
                </a:solidFill>
              </a:rPr>
              <a:t>.</a:t>
            </a:r>
            <a:endParaRPr lang="en-US" sz="980" dirty="0"/>
          </a:p>
        </p:txBody>
      </p:sp>
      <p:sp>
        <p:nvSpPr>
          <p:cNvPr id="18" name="Shape 15"/>
          <p:cNvSpPr/>
          <p:nvPr/>
        </p:nvSpPr>
        <p:spPr>
          <a:xfrm>
            <a:off x="4828032" y="1417320"/>
            <a:ext cx="1737360" cy="2560320"/>
          </a:xfrm>
          <a:prstGeom prst="roundRect">
            <a:avLst>
              <a:gd name="adj" fmla="val 8421"/>
            </a:avLst>
          </a:prstGeom>
          <a:solidFill>
            <a:srgbClr val="FFF1F1"/>
          </a:solidFill>
          <a:ln w="12700">
            <a:solidFill>
              <a:srgbClr val="FEB9B9"/>
            </a:solidFill>
            <a:prstDash val="solid"/>
          </a:ln>
          <a:effectLst>
            <a:outerShdw blurRad="25400" dist="50800" dir="2700000" algn="bl" rotWithShape="0">
              <a:srgbClr val="C6D7EA">
                <a:alpha val="16000"/>
              </a:srgbClr>
            </a:outerShdw>
          </a:effectLst>
        </p:spPr>
      </p:sp>
      <p:sp>
        <p:nvSpPr>
          <p:cNvPr id="19" name="Text 16"/>
          <p:cNvSpPr/>
          <p:nvPr/>
        </p:nvSpPr>
        <p:spPr>
          <a:xfrm>
            <a:off x="4974336" y="1627632"/>
            <a:ext cx="502920" cy="329184"/>
          </a:xfrm>
          <a:prstGeom prst="rect">
            <a:avLst/>
          </a:prstGeom>
          <a:noFill/>
          <a:ln/>
        </p:spPr>
        <p:txBody>
          <a:bodyPr wrap="square" lIns="0" tIns="0" rIns="0" bIns="0" rtlCol="0" anchor="ctr"/>
          <a:lstStyle/>
          <a:p>
            <a:pPr marL="0" indent="0">
              <a:buNone/>
            </a:pPr>
            <a:r>
              <a:rPr lang="en-US" sz="1900" b="1" dirty="0">
                <a:solidFill>
                  <a:srgbClr val="EF4444"/>
                </a:solidFill>
              </a:rPr>
              <a:t>03</a:t>
            </a:r>
            <a:endParaRPr lang="en-US" sz="1900" dirty="0"/>
          </a:p>
        </p:txBody>
      </p:sp>
      <p:sp>
        <p:nvSpPr>
          <p:cNvPr id="20" name="Text 17"/>
          <p:cNvSpPr/>
          <p:nvPr/>
        </p:nvSpPr>
        <p:spPr>
          <a:xfrm>
            <a:off x="4974336" y="2121408"/>
            <a:ext cx="1417320" cy="292608"/>
          </a:xfrm>
          <a:prstGeom prst="rect">
            <a:avLst/>
          </a:prstGeom>
          <a:noFill/>
          <a:ln/>
        </p:spPr>
        <p:txBody>
          <a:bodyPr wrap="square" lIns="0" tIns="0" rIns="0" bIns="0" rtlCol="0" anchor="ctr">
            <a:normAutofit/>
          </a:bodyPr>
          <a:lstStyle/>
          <a:p>
            <a:pPr marL="0" indent="0">
              <a:buNone/>
            </a:pPr>
            <a:r>
              <a:rPr lang="en-US" sz="1600" b="1" dirty="0">
                <a:solidFill>
                  <a:srgbClr val="0B1F3A"/>
                </a:solidFill>
              </a:rPr>
              <a:t>Khó quản lý</a:t>
            </a:r>
            <a:endParaRPr lang="en-US" sz="1600" dirty="0"/>
          </a:p>
        </p:txBody>
      </p:sp>
      <p:sp>
        <p:nvSpPr>
          <p:cNvPr id="21" name="Text 18"/>
          <p:cNvSpPr/>
          <p:nvPr/>
        </p:nvSpPr>
        <p:spPr>
          <a:xfrm>
            <a:off x="4974336" y="2578608"/>
            <a:ext cx="1417320" cy="822960"/>
          </a:xfrm>
          <a:prstGeom prst="rect">
            <a:avLst/>
          </a:prstGeom>
          <a:noFill/>
          <a:ln/>
        </p:spPr>
        <p:txBody>
          <a:bodyPr wrap="square" lIns="0" tIns="0" rIns="0" bIns="0" rtlCol="0" anchor="ctr">
            <a:normAutofit/>
          </a:bodyPr>
          <a:lstStyle/>
          <a:p>
            <a:pPr marL="0" indent="0">
              <a:buNone/>
            </a:pPr>
            <a:r>
              <a:rPr lang="en-US" sz="1200" dirty="0">
                <a:solidFill>
                  <a:srgbClr val="5F6B7A"/>
                </a:solidFill>
              </a:rPr>
              <a:t>Dữ liệu rời rạc, khó tổng hợp theo ngày, tuần, tháng.</a:t>
            </a:r>
            <a:endParaRPr lang="en-US" sz="1200" dirty="0"/>
          </a:p>
        </p:txBody>
      </p:sp>
      <p:sp>
        <p:nvSpPr>
          <p:cNvPr id="22" name="Shape 19"/>
          <p:cNvSpPr/>
          <p:nvPr/>
        </p:nvSpPr>
        <p:spPr>
          <a:xfrm>
            <a:off x="914400" y="4572000"/>
            <a:ext cx="5394960" cy="1005840"/>
          </a:xfrm>
          <a:prstGeom prst="roundRect">
            <a:avLst>
              <a:gd name="adj" fmla="val 13636"/>
            </a:avLst>
          </a:prstGeom>
          <a:solidFill>
            <a:srgbClr val="FFFFFF"/>
          </a:solidFill>
          <a:ln w="12700">
            <a:solidFill>
              <a:srgbClr val="D7E3F4"/>
            </a:solidFill>
            <a:prstDash val="solid"/>
          </a:ln>
        </p:spPr>
      </p:sp>
      <p:sp>
        <p:nvSpPr>
          <p:cNvPr id="23" name="Text 20"/>
          <p:cNvSpPr/>
          <p:nvPr/>
        </p:nvSpPr>
        <p:spPr>
          <a:xfrm>
            <a:off x="1143000" y="4736592"/>
            <a:ext cx="1645920" cy="182880"/>
          </a:xfrm>
          <a:prstGeom prst="rect">
            <a:avLst/>
          </a:prstGeom>
          <a:noFill/>
          <a:ln/>
        </p:spPr>
        <p:txBody>
          <a:bodyPr wrap="square" lIns="0" tIns="0" rIns="0" bIns="0" rtlCol="0" anchor="ctr"/>
          <a:lstStyle/>
          <a:p>
            <a:pPr marL="0" indent="0">
              <a:buNone/>
            </a:pPr>
            <a:r>
              <a:rPr lang="en-US" sz="1400" b="1" dirty="0">
                <a:solidFill>
                  <a:srgbClr val="1D6BFF"/>
                </a:solidFill>
              </a:rPr>
              <a:t>Giải pháp của nhóm</a:t>
            </a:r>
            <a:endParaRPr lang="en-US" sz="1400" dirty="0"/>
          </a:p>
        </p:txBody>
      </p:sp>
      <p:sp>
        <p:nvSpPr>
          <p:cNvPr id="24" name="Text 21"/>
          <p:cNvSpPr/>
          <p:nvPr/>
        </p:nvSpPr>
        <p:spPr>
          <a:xfrm>
            <a:off x="1143000" y="5047488"/>
            <a:ext cx="4754880" cy="292608"/>
          </a:xfrm>
          <a:prstGeom prst="rect">
            <a:avLst/>
          </a:prstGeom>
          <a:noFill/>
          <a:ln/>
        </p:spPr>
        <p:txBody>
          <a:bodyPr wrap="square" lIns="0" tIns="0" rIns="0" bIns="0" rtlCol="0" anchor="ctr"/>
          <a:lstStyle/>
          <a:p>
            <a:pPr marL="0" indent="0">
              <a:buNone/>
            </a:pPr>
            <a:r>
              <a:rPr lang="en-US" sz="1250" b="1" dirty="0">
                <a:solidFill>
                  <a:srgbClr val="0B1F3A"/>
                </a:solidFill>
              </a:rPr>
              <a:t>Sử dụng webcam và mô hình AI để nhận diện khuôn mặt, tự động ghi điểm danh vào file CSV.</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2. Mục tiêu đề tài</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Từ dữ liệu khuôn mặt đến danh sách điểm danh tự động</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03</a:t>
            </a:r>
            <a:endParaRPr lang="en-US" sz="850" dirty="0"/>
          </a:p>
        </p:txBody>
      </p:sp>
      <p:pic>
        <p:nvPicPr>
          <p:cNvPr id="9" name="Image 0" descr="/mnt/data/crop_goal_wide.jpg"/>
          <p:cNvPicPr>
            <a:picLocks noChangeAspect="1"/>
          </p:cNvPicPr>
          <p:nvPr/>
        </p:nvPicPr>
        <p:blipFill>
          <a:blip r:embed="rId3"/>
          <a:stretch>
            <a:fillRect/>
          </a:stretch>
        </p:blipFill>
        <p:spPr>
          <a:xfrm>
            <a:off x="731520" y="1325880"/>
            <a:ext cx="5074920" cy="4370832"/>
          </a:xfrm>
          <a:prstGeom prst="rect">
            <a:avLst/>
          </a:prstGeom>
        </p:spPr>
      </p:pic>
      <p:sp>
        <p:nvSpPr>
          <p:cNvPr id="10" name="Shape 7"/>
          <p:cNvSpPr/>
          <p:nvPr/>
        </p:nvSpPr>
        <p:spPr>
          <a:xfrm>
            <a:off x="731520" y="1325880"/>
            <a:ext cx="5074920" cy="4370832"/>
          </a:xfrm>
          <a:prstGeom prst="roundRect">
            <a:avLst>
              <a:gd name="adj" fmla="val 3766"/>
            </a:avLst>
          </a:prstGeom>
          <a:solidFill>
            <a:srgbClr val="FFFFFF">
              <a:alpha val="0"/>
            </a:srgbClr>
          </a:solidFill>
          <a:ln w="15240">
            <a:solidFill>
              <a:srgbClr val="CAE2FF"/>
            </a:solidFill>
            <a:prstDash val="solid"/>
          </a:ln>
        </p:spPr>
      </p:sp>
      <p:sp>
        <p:nvSpPr>
          <p:cNvPr id="11" name="Shape 8"/>
          <p:cNvSpPr/>
          <p:nvPr/>
        </p:nvSpPr>
        <p:spPr>
          <a:xfrm>
            <a:off x="6172200" y="1417320"/>
            <a:ext cx="5212080" cy="786384"/>
          </a:xfrm>
          <a:prstGeom prst="roundRect">
            <a:avLst>
              <a:gd name="adj" fmla="val 13953"/>
            </a:avLst>
          </a:prstGeom>
          <a:solidFill>
            <a:srgbClr val="FFFFFF"/>
          </a:solidFill>
          <a:ln w="12700">
            <a:solidFill>
              <a:srgbClr val="D7E3F4"/>
            </a:solidFill>
            <a:prstDash val="solid"/>
          </a:ln>
        </p:spPr>
      </p:sp>
      <p:sp>
        <p:nvSpPr>
          <p:cNvPr id="12" name="Shape 9"/>
          <p:cNvSpPr/>
          <p:nvPr/>
        </p:nvSpPr>
        <p:spPr>
          <a:xfrm>
            <a:off x="6364224" y="1627632"/>
            <a:ext cx="310896" cy="310896"/>
          </a:xfrm>
          <a:prstGeom prst="ellipse">
            <a:avLst/>
          </a:prstGeom>
          <a:solidFill>
            <a:srgbClr val="1D6BFF"/>
          </a:solidFill>
          <a:ln w="12700">
            <a:solidFill>
              <a:srgbClr val="333333">
                <a:alpha val="0"/>
              </a:srgbClr>
            </a:solidFill>
            <a:prstDash val="solid"/>
          </a:ln>
        </p:spPr>
      </p:sp>
      <p:sp>
        <p:nvSpPr>
          <p:cNvPr id="13" name="Text 10"/>
          <p:cNvSpPr/>
          <p:nvPr/>
        </p:nvSpPr>
        <p:spPr>
          <a:xfrm>
            <a:off x="6812280" y="1536192"/>
            <a:ext cx="2103120" cy="201168"/>
          </a:xfrm>
          <a:prstGeom prst="rect">
            <a:avLst/>
          </a:prstGeom>
          <a:noFill/>
          <a:ln/>
        </p:spPr>
        <p:txBody>
          <a:bodyPr wrap="square" lIns="0" tIns="0" rIns="0" bIns="0" rtlCol="0" anchor="ctr"/>
          <a:lstStyle/>
          <a:p>
            <a:pPr marL="0" indent="0">
              <a:buNone/>
            </a:pPr>
            <a:r>
              <a:rPr lang="en-US" b="1" dirty="0">
                <a:solidFill>
                  <a:srgbClr val="0B1F3A"/>
                </a:solidFill>
              </a:rPr>
              <a:t>Thu thập dữ liệu</a:t>
            </a:r>
            <a:endParaRPr lang="en-US" dirty="0"/>
          </a:p>
        </p:txBody>
      </p:sp>
      <p:sp>
        <p:nvSpPr>
          <p:cNvPr id="14" name="Text 11"/>
          <p:cNvSpPr/>
          <p:nvPr/>
        </p:nvSpPr>
        <p:spPr>
          <a:xfrm>
            <a:off x="6812280" y="1828800"/>
            <a:ext cx="4206240" cy="201168"/>
          </a:xfrm>
          <a:prstGeom prst="rect">
            <a:avLst/>
          </a:prstGeom>
          <a:noFill/>
          <a:ln/>
        </p:spPr>
        <p:txBody>
          <a:bodyPr wrap="square" lIns="0" tIns="0" rIns="0" bIns="0" rtlCol="0" anchor="ctr"/>
          <a:lstStyle/>
          <a:p>
            <a:pPr marL="0" indent="0">
              <a:buNone/>
            </a:pPr>
            <a:r>
              <a:rPr lang="en-US" sz="1400" dirty="0">
                <a:solidFill>
                  <a:srgbClr val="5F6B7A"/>
                </a:solidFill>
              </a:rPr>
              <a:t>Chụp nhiều ảnh khuôn mặt sinh viên bằng webcam</a:t>
            </a:r>
            <a:endParaRPr lang="en-US" sz="1400" dirty="0"/>
          </a:p>
        </p:txBody>
      </p:sp>
      <p:sp>
        <p:nvSpPr>
          <p:cNvPr id="15" name="Shape 12"/>
          <p:cNvSpPr/>
          <p:nvPr/>
        </p:nvSpPr>
        <p:spPr>
          <a:xfrm>
            <a:off x="6172200" y="2468880"/>
            <a:ext cx="5212080" cy="786384"/>
          </a:xfrm>
          <a:prstGeom prst="roundRect">
            <a:avLst>
              <a:gd name="adj" fmla="val 13953"/>
            </a:avLst>
          </a:prstGeom>
          <a:solidFill>
            <a:srgbClr val="E9FBFF"/>
          </a:solidFill>
          <a:ln w="12700">
            <a:solidFill>
              <a:srgbClr val="D7E3F4"/>
            </a:solidFill>
            <a:prstDash val="solid"/>
          </a:ln>
        </p:spPr>
      </p:sp>
      <p:sp>
        <p:nvSpPr>
          <p:cNvPr id="16" name="Shape 13"/>
          <p:cNvSpPr/>
          <p:nvPr/>
        </p:nvSpPr>
        <p:spPr>
          <a:xfrm>
            <a:off x="6364224" y="2679192"/>
            <a:ext cx="310896" cy="310896"/>
          </a:xfrm>
          <a:prstGeom prst="ellipse">
            <a:avLst/>
          </a:prstGeom>
          <a:solidFill>
            <a:srgbClr val="35C58A"/>
          </a:solidFill>
          <a:ln w="12700">
            <a:solidFill>
              <a:srgbClr val="333333">
                <a:alpha val="0"/>
              </a:srgbClr>
            </a:solidFill>
            <a:prstDash val="solid"/>
          </a:ln>
        </p:spPr>
      </p:sp>
      <p:sp>
        <p:nvSpPr>
          <p:cNvPr id="17" name="Text 14"/>
          <p:cNvSpPr/>
          <p:nvPr/>
        </p:nvSpPr>
        <p:spPr>
          <a:xfrm>
            <a:off x="6812280" y="2587752"/>
            <a:ext cx="2103120" cy="201168"/>
          </a:xfrm>
          <a:prstGeom prst="rect">
            <a:avLst/>
          </a:prstGeom>
          <a:noFill/>
          <a:ln/>
        </p:spPr>
        <p:txBody>
          <a:bodyPr wrap="square" lIns="0" tIns="0" rIns="0" bIns="0" rtlCol="0" anchor="ctr"/>
          <a:lstStyle/>
          <a:p>
            <a:pPr marL="0" indent="0">
              <a:buNone/>
            </a:pPr>
            <a:r>
              <a:rPr lang="en-US" b="1" dirty="0">
                <a:solidFill>
                  <a:srgbClr val="0B1F3A"/>
                </a:solidFill>
              </a:rPr>
              <a:t>Xây dựng database</a:t>
            </a:r>
            <a:endParaRPr lang="en-US" dirty="0"/>
          </a:p>
        </p:txBody>
      </p:sp>
      <p:sp>
        <p:nvSpPr>
          <p:cNvPr id="18" name="Text 15"/>
          <p:cNvSpPr/>
          <p:nvPr/>
        </p:nvSpPr>
        <p:spPr>
          <a:xfrm>
            <a:off x="6812280" y="2880360"/>
            <a:ext cx="4206240" cy="201168"/>
          </a:xfrm>
          <a:prstGeom prst="rect">
            <a:avLst/>
          </a:prstGeom>
          <a:noFill/>
          <a:ln/>
        </p:spPr>
        <p:txBody>
          <a:bodyPr wrap="square" lIns="0" tIns="0" rIns="0" bIns="0" rtlCol="0" anchor="ctr"/>
          <a:lstStyle/>
          <a:p>
            <a:pPr marL="0" indent="0">
              <a:buNone/>
            </a:pPr>
            <a:r>
              <a:rPr lang="en-US" sz="1400" dirty="0">
                <a:solidFill>
                  <a:srgbClr val="5F6B7A"/>
                </a:solidFill>
              </a:rPr>
              <a:t>Trích xuất vector đặc trưng bằng SFace</a:t>
            </a:r>
            <a:endParaRPr lang="en-US" sz="1400" dirty="0"/>
          </a:p>
        </p:txBody>
      </p:sp>
      <p:sp>
        <p:nvSpPr>
          <p:cNvPr id="19" name="Shape 16"/>
          <p:cNvSpPr/>
          <p:nvPr/>
        </p:nvSpPr>
        <p:spPr>
          <a:xfrm>
            <a:off x="6172200" y="3520440"/>
            <a:ext cx="5212080" cy="786384"/>
          </a:xfrm>
          <a:prstGeom prst="roundRect">
            <a:avLst>
              <a:gd name="adj" fmla="val 13953"/>
            </a:avLst>
          </a:prstGeom>
          <a:solidFill>
            <a:srgbClr val="FFFFFF"/>
          </a:solidFill>
          <a:ln w="12700">
            <a:solidFill>
              <a:srgbClr val="D7E3F4"/>
            </a:solidFill>
            <a:prstDash val="solid"/>
          </a:ln>
        </p:spPr>
      </p:sp>
      <p:sp>
        <p:nvSpPr>
          <p:cNvPr id="20" name="Shape 17"/>
          <p:cNvSpPr/>
          <p:nvPr/>
        </p:nvSpPr>
        <p:spPr>
          <a:xfrm>
            <a:off x="6364224" y="3730752"/>
            <a:ext cx="310896" cy="310896"/>
          </a:xfrm>
          <a:prstGeom prst="ellipse">
            <a:avLst/>
          </a:prstGeom>
          <a:solidFill>
            <a:srgbClr val="F59E0B"/>
          </a:solidFill>
          <a:ln w="12700">
            <a:solidFill>
              <a:srgbClr val="333333">
                <a:alpha val="0"/>
              </a:srgbClr>
            </a:solidFill>
            <a:prstDash val="solid"/>
          </a:ln>
        </p:spPr>
      </p:sp>
      <p:sp>
        <p:nvSpPr>
          <p:cNvPr id="21" name="Text 18"/>
          <p:cNvSpPr/>
          <p:nvPr/>
        </p:nvSpPr>
        <p:spPr>
          <a:xfrm>
            <a:off x="6812279" y="3557017"/>
            <a:ext cx="2824780" cy="347471"/>
          </a:xfrm>
          <a:prstGeom prst="rect">
            <a:avLst/>
          </a:prstGeom>
          <a:noFill/>
          <a:ln/>
        </p:spPr>
        <p:txBody>
          <a:bodyPr wrap="square" lIns="0" tIns="0" rIns="0" bIns="0" rtlCol="0" anchor="ctr"/>
          <a:lstStyle/>
          <a:p>
            <a:pPr marL="0" indent="0">
              <a:buNone/>
            </a:pPr>
            <a:r>
              <a:rPr lang="en-US" b="1" dirty="0">
                <a:solidFill>
                  <a:srgbClr val="0B1F3A"/>
                </a:solidFill>
              </a:rPr>
              <a:t>Nhận diện thời gian thực</a:t>
            </a:r>
            <a:endParaRPr lang="en-US" dirty="0"/>
          </a:p>
        </p:txBody>
      </p:sp>
      <p:sp>
        <p:nvSpPr>
          <p:cNvPr id="22" name="Text 19"/>
          <p:cNvSpPr/>
          <p:nvPr/>
        </p:nvSpPr>
        <p:spPr>
          <a:xfrm>
            <a:off x="6812280" y="3931920"/>
            <a:ext cx="4206240" cy="201168"/>
          </a:xfrm>
          <a:prstGeom prst="rect">
            <a:avLst/>
          </a:prstGeom>
          <a:noFill/>
          <a:ln/>
        </p:spPr>
        <p:txBody>
          <a:bodyPr wrap="square" lIns="0" tIns="0" rIns="0" bIns="0" rtlCol="0" anchor="ctr"/>
          <a:lstStyle/>
          <a:p>
            <a:pPr marL="0" indent="0">
              <a:buNone/>
            </a:pPr>
            <a:r>
              <a:rPr lang="en-US" sz="1400" dirty="0">
                <a:solidFill>
                  <a:srgbClr val="5F6B7A"/>
                </a:solidFill>
              </a:rPr>
              <a:t>So sánh với database khi sinh viên xuất hiện trước camera</a:t>
            </a:r>
            <a:endParaRPr lang="en-US" sz="1400" dirty="0"/>
          </a:p>
        </p:txBody>
      </p:sp>
      <p:sp>
        <p:nvSpPr>
          <p:cNvPr id="23" name="Shape 20"/>
          <p:cNvSpPr/>
          <p:nvPr/>
        </p:nvSpPr>
        <p:spPr>
          <a:xfrm>
            <a:off x="6172200" y="4572000"/>
            <a:ext cx="5212080" cy="786384"/>
          </a:xfrm>
          <a:prstGeom prst="roundRect">
            <a:avLst>
              <a:gd name="adj" fmla="val 13953"/>
            </a:avLst>
          </a:prstGeom>
          <a:solidFill>
            <a:srgbClr val="E9FBFF"/>
          </a:solidFill>
          <a:ln w="12700">
            <a:solidFill>
              <a:srgbClr val="D7E3F4"/>
            </a:solidFill>
            <a:prstDash val="solid"/>
          </a:ln>
        </p:spPr>
      </p:sp>
      <p:sp>
        <p:nvSpPr>
          <p:cNvPr id="24" name="Shape 21"/>
          <p:cNvSpPr/>
          <p:nvPr/>
        </p:nvSpPr>
        <p:spPr>
          <a:xfrm>
            <a:off x="6364224" y="4782312"/>
            <a:ext cx="310896" cy="310896"/>
          </a:xfrm>
          <a:prstGeom prst="ellipse">
            <a:avLst/>
          </a:prstGeom>
          <a:solidFill>
            <a:srgbClr val="20C7E6"/>
          </a:solidFill>
          <a:ln w="12700">
            <a:solidFill>
              <a:srgbClr val="333333">
                <a:alpha val="0"/>
              </a:srgbClr>
            </a:solidFill>
            <a:prstDash val="solid"/>
          </a:ln>
        </p:spPr>
      </p:sp>
      <p:sp>
        <p:nvSpPr>
          <p:cNvPr id="25" name="Text 22"/>
          <p:cNvSpPr/>
          <p:nvPr/>
        </p:nvSpPr>
        <p:spPr>
          <a:xfrm>
            <a:off x="6812280" y="4690872"/>
            <a:ext cx="2103120" cy="201168"/>
          </a:xfrm>
          <a:prstGeom prst="rect">
            <a:avLst/>
          </a:prstGeom>
          <a:noFill/>
          <a:ln/>
        </p:spPr>
        <p:txBody>
          <a:bodyPr wrap="square" lIns="0" tIns="0" rIns="0" bIns="0" rtlCol="0" anchor="ctr"/>
          <a:lstStyle/>
          <a:p>
            <a:pPr marL="0" indent="0">
              <a:buNone/>
            </a:pPr>
            <a:r>
              <a:rPr lang="en-US" b="1" dirty="0">
                <a:solidFill>
                  <a:srgbClr val="0B1F3A"/>
                </a:solidFill>
              </a:rPr>
              <a:t>Lưu điểm danh</a:t>
            </a:r>
            <a:endParaRPr lang="en-US" dirty="0"/>
          </a:p>
        </p:txBody>
      </p:sp>
      <p:sp>
        <p:nvSpPr>
          <p:cNvPr id="26" name="Text 23"/>
          <p:cNvSpPr/>
          <p:nvPr/>
        </p:nvSpPr>
        <p:spPr>
          <a:xfrm>
            <a:off x="6812280" y="4983480"/>
            <a:ext cx="4206240" cy="201168"/>
          </a:xfrm>
          <a:prstGeom prst="rect">
            <a:avLst/>
          </a:prstGeom>
          <a:noFill/>
          <a:ln/>
        </p:spPr>
        <p:txBody>
          <a:bodyPr wrap="square" lIns="0" tIns="0" rIns="0" bIns="0" rtlCol="0" anchor="ctr"/>
          <a:lstStyle/>
          <a:p>
            <a:pPr marL="0" indent="0">
              <a:buNone/>
            </a:pPr>
            <a:r>
              <a:rPr lang="en-US" sz="1400" dirty="0">
                <a:solidFill>
                  <a:srgbClr val="5F6B7A"/>
                </a:solidFill>
              </a:rPr>
              <a:t>Ghi họ tên, ngày, giờ và điểm tin cậy vào CSV</a:t>
            </a:r>
            <a:endParaRPr lang="en-US" sz="1400" dirty="0"/>
          </a:p>
        </p:txBody>
      </p:sp>
      <p:sp>
        <p:nvSpPr>
          <p:cNvPr id="27" name="Text 24"/>
          <p:cNvSpPr/>
          <p:nvPr/>
        </p:nvSpPr>
        <p:spPr>
          <a:xfrm>
            <a:off x="914400" y="5989320"/>
            <a:ext cx="10332720" cy="320040"/>
          </a:xfrm>
          <a:prstGeom prst="rect">
            <a:avLst/>
          </a:prstGeom>
          <a:noFill/>
          <a:ln/>
        </p:spPr>
        <p:txBody>
          <a:bodyPr wrap="square" lIns="0" tIns="0" rIns="0" bIns="0" rtlCol="0" anchor="ctr"/>
          <a:lstStyle/>
          <a:p>
            <a:pPr marL="0" indent="0" algn="ctr">
              <a:buNone/>
            </a:pPr>
            <a:r>
              <a:rPr lang="en-US" sz="1600" b="1" dirty="0">
                <a:solidFill>
                  <a:srgbClr val="0A55C9"/>
                </a:solidFill>
              </a:rPr>
              <a:t>Kết quả mong muốn: một hệ thống demo được trong lớp học, chạy trên máy tính cá nhân có webcam.</a:t>
            </a:r>
            <a:endParaRPr lang="en-US" sz="160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3. Công nghệ sử dụng</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Mỗi công nghệ đảm nhận một vai trò trong pipeline nhận diện</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04</a:t>
            </a:r>
            <a:endParaRPr lang="en-US" sz="850" dirty="0"/>
          </a:p>
        </p:txBody>
      </p:sp>
      <p:sp>
        <p:nvSpPr>
          <p:cNvPr id="9" name="Shape 7"/>
          <p:cNvSpPr/>
          <p:nvPr/>
        </p:nvSpPr>
        <p:spPr>
          <a:xfrm>
            <a:off x="731520" y="1417320"/>
            <a:ext cx="5102352" cy="1051560"/>
          </a:xfrm>
          <a:prstGeom prst="roundRect">
            <a:avLst>
              <a:gd name="adj" fmla="val 12174"/>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10" name="Shape 8"/>
          <p:cNvSpPr/>
          <p:nvPr/>
        </p:nvSpPr>
        <p:spPr>
          <a:xfrm>
            <a:off x="932688" y="1636776"/>
            <a:ext cx="1051560" cy="384048"/>
          </a:xfrm>
          <a:prstGeom prst="roundRect">
            <a:avLst>
              <a:gd name="adj" fmla="val 19048"/>
            </a:avLst>
          </a:prstGeom>
          <a:solidFill>
            <a:srgbClr val="1D6BFF"/>
          </a:solidFill>
          <a:ln w="12700">
            <a:solidFill>
              <a:srgbClr val="333333">
                <a:alpha val="0"/>
              </a:srgbClr>
            </a:solidFill>
            <a:prstDash val="solid"/>
          </a:ln>
        </p:spPr>
      </p:sp>
      <p:sp>
        <p:nvSpPr>
          <p:cNvPr id="11" name="Text 9"/>
          <p:cNvSpPr/>
          <p:nvPr/>
        </p:nvSpPr>
        <p:spPr>
          <a:xfrm>
            <a:off x="978408" y="1728216"/>
            <a:ext cx="960120" cy="155448"/>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Python</a:t>
            </a:r>
            <a:endParaRPr lang="en-US" sz="1600" dirty="0"/>
          </a:p>
        </p:txBody>
      </p:sp>
      <p:sp>
        <p:nvSpPr>
          <p:cNvPr id="12" name="Text 10"/>
          <p:cNvSpPr/>
          <p:nvPr/>
        </p:nvSpPr>
        <p:spPr>
          <a:xfrm>
            <a:off x="2212848" y="1673352"/>
            <a:ext cx="3383280" cy="347472"/>
          </a:xfrm>
          <a:prstGeom prst="rect">
            <a:avLst/>
          </a:prstGeom>
          <a:noFill/>
          <a:ln/>
        </p:spPr>
        <p:txBody>
          <a:bodyPr wrap="square" lIns="0" tIns="0" rIns="0" bIns="0" rtlCol="0" anchor="ctr">
            <a:normAutofit/>
          </a:bodyPr>
          <a:lstStyle/>
          <a:p>
            <a:pPr marL="0" indent="0">
              <a:buNone/>
            </a:pPr>
            <a:r>
              <a:rPr lang="en-US" b="1" dirty="0">
                <a:solidFill>
                  <a:srgbClr val="0B1F3A"/>
                </a:solidFill>
              </a:rPr>
              <a:t>Ngôn ngữ lập trình chính</a:t>
            </a:r>
            <a:endParaRPr lang="en-US" dirty="0"/>
          </a:p>
        </p:txBody>
      </p:sp>
      <p:sp>
        <p:nvSpPr>
          <p:cNvPr id="13" name="Text 11"/>
          <p:cNvSpPr/>
          <p:nvPr/>
        </p:nvSpPr>
        <p:spPr>
          <a:xfrm>
            <a:off x="2212848" y="2075688"/>
            <a:ext cx="3291840" cy="164592"/>
          </a:xfrm>
          <a:prstGeom prst="rect">
            <a:avLst/>
          </a:prstGeom>
          <a:noFill/>
          <a:ln/>
        </p:spPr>
        <p:txBody>
          <a:bodyPr wrap="square" lIns="0" tIns="0" rIns="0" bIns="0" rtlCol="0" anchor="ctr"/>
          <a:lstStyle/>
          <a:p>
            <a:pPr marL="0" indent="0">
              <a:buNone/>
            </a:pPr>
            <a:r>
              <a:rPr lang="en-US" sz="1400" dirty="0">
                <a:solidFill>
                  <a:srgbClr val="5F6B7A"/>
                </a:solidFill>
              </a:rPr>
              <a:t>Lõi ngôn ngữ</a:t>
            </a:r>
            <a:endParaRPr lang="en-US" sz="1400" dirty="0"/>
          </a:p>
        </p:txBody>
      </p:sp>
      <p:sp>
        <p:nvSpPr>
          <p:cNvPr id="14" name="Shape 12"/>
          <p:cNvSpPr/>
          <p:nvPr/>
        </p:nvSpPr>
        <p:spPr>
          <a:xfrm>
            <a:off x="6309360" y="1417320"/>
            <a:ext cx="5102352" cy="1051560"/>
          </a:xfrm>
          <a:prstGeom prst="roundRect">
            <a:avLst>
              <a:gd name="adj" fmla="val 12174"/>
            </a:avLst>
          </a:prstGeom>
          <a:solidFill>
            <a:srgbClr val="E9FBFF"/>
          </a:solidFill>
          <a:ln w="12700">
            <a:solidFill>
              <a:srgbClr val="DDE9F8"/>
            </a:solidFill>
            <a:prstDash val="solid"/>
          </a:ln>
          <a:effectLst>
            <a:outerShdw blurRad="25400" dist="50800" dir="2700000" algn="bl" rotWithShape="0">
              <a:srgbClr val="C6D7EA">
                <a:alpha val="16000"/>
              </a:srgbClr>
            </a:outerShdw>
          </a:effectLst>
        </p:spPr>
      </p:sp>
      <p:sp>
        <p:nvSpPr>
          <p:cNvPr id="15" name="Shape 13"/>
          <p:cNvSpPr/>
          <p:nvPr/>
        </p:nvSpPr>
        <p:spPr>
          <a:xfrm>
            <a:off x="6510528" y="1636776"/>
            <a:ext cx="1051560" cy="384048"/>
          </a:xfrm>
          <a:prstGeom prst="roundRect">
            <a:avLst>
              <a:gd name="adj" fmla="val 19048"/>
            </a:avLst>
          </a:prstGeom>
          <a:solidFill>
            <a:srgbClr val="20C7E6"/>
          </a:solidFill>
          <a:ln w="12700">
            <a:solidFill>
              <a:srgbClr val="333333">
                <a:alpha val="0"/>
              </a:srgbClr>
            </a:solidFill>
            <a:prstDash val="solid"/>
          </a:ln>
        </p:spPr>
      </p:sp>
      <p:sp>
        <p:nvSpPr>
          <p:cNvPr id="16" name="Text 14"/>
          <p:cNvSpPr/>
          <p:nvPr/>
        </p:nvSpPr>
        <p:spPr>
          <a:xfrm>
            <a:off x="6556248" y="1728216"/>
            <a:ext cx="960120" cy="155448"/>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OpenCV</a:t>
            </a:r>
            <a:endParaRPr lang="en-US" sz="1600" dirty="0"/>
          </a:p>
        </p:txBody>
      </p:sp>
      <p:sp>
        <p:nvSpPr>
          <p:cNvPr id="17" name="Text 15"/>
          <p:cNvSpPr/>
          <p:nvPr/>
        </p:nvSpPr>
        <p:spPr>
          <a:xfrm>
            <a:off x="7790688" y="1673352"/>
            <a:ext cx="3383280" cy="347472"/>
          </a:xfrm>
          <a:prstGeom prst="rect">
            <a:avLst/>
          </a:prstGeom>
          <a:noFill/>
          <a:ln/>
        </p:spPr>
        <p:txBody>
          <a:bodyPr wrap="square" lIns="0" tIns="0" rIns="0" bIns="0" rtlCol="0" anchor="ctr">
            <a:noAutofit/>
          </a:bodyPr>
          <a:lstStyle/>
          <a:p>
            <a:pPr marL="0" indent="0">
              <a:buNone/>
            </a:pPr>
            <a:r>
              <a:rPr lang="en-US" b="1" dirty="0">
                <a:solidFill>
                  <a:srgbClr val="0B1F3A"/>
                </a:solidFill>
              </a:rPr>
              <a:t>Mở webcam, xử lý ảnh, tích hợp AI model</a:t>
            </a:r>
            <a:endParaRPr lang="en-US" dirty="0"/>
          </a:p>
        </p:txBody>
      </p:sp>
      <p:sp>
        <p:nvSpPr>
          <p:cNvPr id="18" name="Text 16"/>
          <p:cNvSpPr/>
          <p:nvPr/>
        </p:nvSpPr>
        <p:spPr>
          <a:xfrm>
            <a:off x="7790688" y="2075688"/>
            <a:ext cx="3291840" cy="246888"/>
          </a:xfrm>
          <a:prstGeom prst="rect">
            <a:avLst/>
          </a:prstGeom>
          <a:noFill/>
          <a:ln/>
        </p:spPr>
        <p:txBody>
          <a:bodyPr wrap="square" lIns="0" tIns="0" rIns="0" bIns="0" rtlCol="0" anchor="ctr"/>
          <a:lstStyle/>
          <a:p>
            <a:pPr marL="0" indent="0">
              <a:buNone/>
            </a:pPr>
            <a:r>
              <a:rPr lang="en-US" sz="1400" dirty="0">
                <a:solidFill>
                  <a:srgbClr val="5F6B7A"/>
                </a:solidFill>
              </a:rPr>
              <a:t>Thư viện xử lý ảnh</a:t>
            </a:r>
            <a:endParaRPr lang="en-US" sz="1400" dirty="0"/>
          </a:p>
        </p:txBody>
      </p:sp>
      <p:sp>
        <p:nvSpPr>
          <p:cNvPr id="19" name="Shape 17"/>
          <p:cNvSpPr/>
          <p:nvPr/>
        </p:nvSpPr>
        <p:spPr>
          <a:xfrm>
            <a:off x="731520" y="2834640"/>
            <a:ext cx="5102352" cy="1051560"/>
          </a:xfrm>
          <a:prstGeom prst="roundRect">
            <a:avLst>
              <a:gd name="adj" fmla="val 12174"/>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20" name="Shape 18"/>
          <p:cNvSpPr/>
          <p:nvPr/>
        </p:nvSpPr>
        <p:spPr>
          <a:xfrm>
            <a:off x="932688" y="3054096"/>
            <a:ext cx="1051560" cy="384048"/>
          </a:xfrm>
          <a:prstGeom prst="roundRect">
            <a:avLst>
              <a:gd name="adj" fmla="val 19048"/>
            </a:avLst>
          </a:prstGeom>
          <a:solidFill>
            <a:srgbClr val="35C58A"/>
          </a:solidFill>
          <a:ln w="12700">
            <a:solidFill>
              <a:srgbClr val="333333">
                <a:alpha val="0"/>
              </a:srgbClr>
            </a:solidFill>
            <a:prstDash val="solid"/>
          </a:ln>
        </p:spPr>
      </p:sp>
      <p:sp>
        <p:nvSpPr>
          <p:cNvPr id="21" name="Text 19"/>
          <p:cNvSpPr/>
          <p:nvPr/>
        </p:nvSpPr>
        <p:spPr>
          <a:xfrm>
            <a:off x="978408" y="3145536"/>
            <a:ext cx="960120" cy="192024"/>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YuNet</a:t>
            </a:r>
            <a:endParaRPr lang="en-US" sz="1600" dirty="0"/>
          </a:p>
        </p:txBody>
      </p:sp>
      <p:sp>
        <p:nvSpPr>
          <p:cNvPr id="22" name="Text 20"/>
          <p:cNvSpPr/>
          <p:nvPr/>
        </p:nvSpPr>
        <p:spPr>
          <a:xfrm>
            <a:off x="2212848" y="3090672"/>
            <a:ext cx="3383280" cy="347472"/>
          </a:xfrm>
          <a:prstGeom prst="rect">
            <a:avLst/>
          </a:prstGeom>
          <a:noFill/>
          <a:ln/>
        </p:spPr>
        <p:txBody>
          <a:bodyPr wrap="square" lIns="0" tIns="0" rIns="0" bIns="0" rtlCol="0" anchor="ctr">
            <a:normAutofit/>
          </a:bodyPr>
          <a:lstStyle/>
          <a:p>
            <a:pPr marL="0" indent="0">
              <a:buNone/>
            </a:pPr>
            <a:r>
              <a:rPr lang="en-US" b="1" dirty="0">
                <a:solidFill>
                  <a:srgbClr val="0B1F3A"/>
                </a:solidFill>
              </a:rPr>
              <a:t>Phát hiện vị trí khuôn mặt</a:t>
            </a:r>
            <a:endParaRPr lang="en-US" dirty="0"/>
          </a:p>
        </p:txBody>
      </p:sp>
      <p:sp>
        <p:nvSpPr>
          <p:cNvPr id="23" name="Text 21"/>
          <p:cNvSpPr/>
          <p:nvPr/>
        </p:nvSpPr>
        <p:spPr>
          <a:xfrm>
            <a:off x="2212848" y="3493008"/>
            <a:ext cx="3291840" cy="164592"/>
          </a:xfrm>
          <a:prstGeom prst="rect">
            <a:avLst/>
          </a:prstGeom>
          <a:noFill/>
          <a:ln/>
        </p:spPr>
        <p:txBody>
          <a:bodyPr wrap="square" lIns="0" tIns="0" rIns="0" bIns="0" rtlCol="0" anchor="ctr"/>
          <a:lstStyle/>
          <a:p>
            <a:pPr marL="0" indent="0">
              <a:buNone/>
            </a:pPr>
            <a:r>
              <a:rPr lang="en-US" sz="1400" dirty="0">
                <a:solidFill>
                  <a:srgbClr val="5F6B7A"/>
                </a:solidFill>
              </a:rPr>
              <a:t>Mô hình phát hiện</a:t>
            </a:r>
            <a:endParaRPr lang="en-US" sz="1400" dirty="0"/>
          </a:p>
        </p:txBody>
      </p:sp>
      <p:sp>
        <p:nvSpPr>
          <p:cNvPr id="24" name="Shape 22"/>
          <p:cNvSpPr/>
          <p:nvPr/>
        </p:nvSpPr>
        <p:spPr>
          <a:xfrm>
            <a:off x="6309360" y="2834640"/>
            <a:ext cx="5102352" cy="1051560"/>
          </a:xfrm>
          <a:prstGeom prst="roundRect">
            <a:avLst>
              <a:gd name="adj" fmla="val 12174"/>
            </a:avLst>
          </a:prstGeom>
          <a:solidFill>
            <a:srgbClr val="E9FBFF"/>
          </a:solidFill>
          <a:ln w="12700">
            <a:solidFill>
              <a:srgbClr val="DDE9F8"/>
            </a:solidFill>
            <a:prstDash val="solid"/>
          </a:ln>
          <a:effectLst>
            <a:outerShdw blurRad="25400" dist="50800" dir="2700000" algn="bl" rotWithShape="0">
              <a:srgbClr val="C6D7EA">
                <a:alpha val="16000"/>
              </a:srgbClr>
            </a:outerShdw>
          </a:effectLst>
        </p:spPr>
      </p:sp>
      <p:sp>
        <p:nvSpPr>
          <p:cNvPr id="25" name="Shape 23"/>
          <p:cNvSpPr/>
          <p:nvPr/>
        </p:nvSpPr>
        <p:spPr>
          <a:xfrm>
            <a:off x="6510528" y="3054096"/>
            <a:ext cx="1051560" cy="384048"/>
          </a:xfrm>
          <a:prstGeom prst="roundRect">
            <a:avLst>
              <a:gd name="adj" fmla="val 19048"/>
            </a:avLst>
          </a:prstGeom>
          <a:solidFill>
            <a:srgbClr val="F59E0B"/>
          </a:solidFill>
          <a:ln w="12700">
            <a:solidFill>
              <a:srgbClr val="333333">
                <a:alpha val="0"/>
              </a:srgbClr>
            </a:solidFill>
            <a:prstDash val="solid"/>
          </a:ln>
        </p:spPr>
      </p:sp>
      <p:sp>
        <p:nvSpPr>
          <p:cNvPr id="26" name="Text 24"/>
          <p:cNvSpPr/>
          <p:nvPr/>
        </p:nvSpPr>
        <p:spPr>
          <a:xfrm>
            <a:off x="6556248" y="3145536"/>
            <a:ext cx="960120" cy="192024"/>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SFace</a:t>
            </a:r>
            <a:endParaRPr lang="en-US" sz="1600" dirty="0"/>
          </a:p>
        </p:txBody>
      </p:sp>
      <p:sp>
        <p:nvSpPr>
          <p:cNvPr id="27" name="Text 25"/>
          <p:cNvSpPr/>
          <p:nvPr/>
        </p:nvSpPr>
        <p:spPr>
          <a:xfrm>
            <a:off x="7790688" y="3090672"/>
            <a:ext cx="3383280" cy="347472"/>
          </a:xfrm>
          <a:prstGeom prst="rect">
            <a:avLst/>
          </a:prstGeom>
          <a:noFill/>
          <a:ln/>
        </p:spPr>
        <p:txBody>
          <a:bodyPr wrap="square" lIns="0" tIns="0" rIns="0" bIns="0" rtlCol="0" anchor="ctr">
            <a:noAutofit/>
          </a:bodyPr>
          <a:lstStyle/>
          <a:p>
            <a:pPr marL="0" indent="0">
              <a:buNone/>
            </a:pPr>
            <a:r>
              <a:rPr lang="en-US" b="1" dirty="0">
                <a:solidFill>
                  <a:srgbClr val="0B1F3A"/>
                </a:solidFill>
              </a:rPr>
              <a:t>Căn chỉnh và trích xuất vector đặc trưng</a:t>
            </a:r>
            <a:endParaRPr lang="en-US" dirty="0"/>
          </a:p>
        </p:txBody>
      </p:sp>
      <p:sp>
        <p:nvSpPr>
          <p:cNvPr id="28" name="Text 26"/>
          <p:cNvSpPr/>
          <p:nvPr/>
        </p:nvSpPr>
        <p:spPr>
          <a:xfrm>
            <a:off x="7790688" y="3493008"/>
            <a:ext cx="3291840" cy="310896"/>
          </a:xfrm>
          <a:prstGeom prst="rect">
            <a:avLst/>
          </a:prstGeom>
          <a:noFill/>
          <a:ln/>
        </p:spPr>
        <p:txBody>
          <a:bodyPr wrap="square" lIns="0" tIns="0" rIns="0" bIns="0" rtlCol="0" anchor="ctr"/>
          <a:lstStyle/>
          <a:p>
            <a:pPr marL="0" indent="0">
              <a:buNone/>
            </a:pPr>
            <a:r>
              <a:rPr lang="en-US" sz="1400" dirty="0">
                <a:solidFill>
                  <a:srgbClr val="5F6B7A"/>
                </a:solidFill>
              </a:rPr>
              <a:t>Mô hình nhận diện</a:t>
            </a:r>
            <a:endParaRPr lang="en-US" sz="1400" dirty="0"/>
          </a:p>
        </p:txBody>
      </p:sp>
      <p:sp>
        <p:nvSpPr>
          <p:cNvPr id="29" name="Shape 27"/>
          <p:cNvSpPr/>
          <p:nvPr/>
        </p:nvSpPr>
        <p:spPr>
          <a:xfrm>
            <a:off x="731520" y="4251960"/>
            <a:ext cx="5102352" cy="1051560"/>
          </a:xfrm>
          <a:prstGeom prst="roundRect">
            <a:avLst>
              <a:gd name="adj" fmla="val 12174"/>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30" name="Shape 28"/>
          <p:cNvSpPr/>
          <p:nvPr/>
        </p:nvSpPr>
        <p:spPr>
          <a:xfrm>
            <a:off x="932688" y="4361688"/>
            <a:ext cx="1051560" cy="493776"/>
          </a:xfrm>
          <a:prstGeom prst="roundRect">
            <a:avLst>
              <a:gd name="adj" fmla="val 19048"/>
            </a:avLst>
          </a:prstGeom>
          <a:solidFill>
            <a:srgbClr val="0A55C9"/>
          </a:solidFill>
          <a:ln w="12700">
            <a:solidFill>
              <a:srgbClr val="333333">
                <a:alpha val="0"/>
              </a:srgbClr>
            </a:solidFill>
            <a:prstDash val="solid"/>
          </a:ln>
        </p:spPr>
      </p:sp>
      <p:sp>
        <p:nvSpPr>
          <p:cNvPr id="31" name="Text 29"/>
          <p:cNvSpPr/>
          <p:nvPr/>
        </p:nvSpPr>
        <p:spPr>
          <a:xfrm>
            <a:off x="978408" y="4562856"/>
            <a:ext cx="960120" cy="109728"/>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Cosine Similarity</a:t>
            </a:r>
            <a:endParaRPr lang="en-US" sz="1600" dirty="0"/>
          </a:p>
        </p:txBody>
      </p:sp>
      <p:sp>
        <p:nvSpPr>
          <p:cNvPr id="32" name="Text 30"/>
          <p:cNvSpPr/>
          <p:nvPr/>
        </p:nvSpPr>
        <p:spPr>
          <a:xfrm>
            <a:off x="2212848" y="4507992"/>
            <a:ext cx="3383280" cy="347472"/>
          </a:xfrm>
          <a:prstGeom prst="rect">
            <a:avLst/>
          </a:prstGeom>
          <a:noFill/>
          <a:ln/>
        </p:spPr>
        <p:txBody>
          <a:bodyPr wrap="square" lIns="0" tIns="0" rIns="0" bIns="0" rtlCol="0" anchor="ctr">
            <a:normAutofit/>
          </a:bodyPr>
          <a:lstStyle/>
          <a:p>
            <a:pPr marL="0" indent="0">
              <a:buNone/>
            </a:pPr>
            <a:r>
              <a:rPr lang="en-US" b="1" dirty="0">
                <a:solidFill>
                  <a:srgbClr val="0B1F3A"/>
                </a:solidFill>
              </a:rPr>
              <a:t>So sánh vector khuôn mặt</a:t>
            </a:r>
            <a:endParaRPr lang="en-US" dirty="0"/>
          </a:p>
        </p:txBody>
      </p:sp>
      <p:sp>
        <p:nvSpPr>
          <p:cNvPr id="33" name="Text 31"/>
          <p:cNvSpPr/>
          <p:nvPr/>
        </p:nvSpPr>
        <p:spPr>
          <a:xfrm>
            <a:off x="2212848" y="4910328"/>
            <a:ext cx="3291840" cy="164592"/>
          </a:xfrm>
          <a:prstGeom prst="rect">
            <a:avLst/>
          </a:prstGeom>
          <a:noFill/>
          <a:ln/>
        </p:spPr>
        <p:txBody>
          <a:bodyPr wrap="square" lIns="0" tIns="0" rIns="0" bIns="0" rtlCol="0" anchor="ctr"/>
          <a:lstStyle/>
          <a:p>
            <a:pPr marL="0" indent="0">
              <a:buNone/>
            </a:pPr>
            <a:r>
              <a:rPr lang="en-US" sz="1400" dirty="0">
                <a:solidFill>
                  <a:srgbClr val="5F6B7A"/>
                </a:solidFill>
              </a:rPr>
              <a:t>Thuật toán so khớp</a:t>
            </a:r>
            <a:endParaRPr lang="en-US" sz="1400" dirty="0"/>
          </a:p>
        </p:txBody>
      </p:sp>
      <p:sp>
        <p:nvSpPr>
          <p:cNvPr id="34" name="Shape 32"/>
          <p:cNvSpPr/>
          <p:nvPr/>
        </p:nvSpPr>
        <p:spPr>
          <a:xfrm>
            <a:off x="6309360" y="4251960"/>
            <a:ext cx="5102352" cy="1051560"/>
          </a:xfrm>
          <a:prstGeom prst="roundRect">
            <a:avLst>
              <a:gd name="adj" fmla="val 12174"/>
            </a:avLst>
          </a:prstGeom>
          <a:solidFill>
            <a:srgbClr val="E9FBFF"/>
          </a:solidFill>
          <a:ln w="12700">
            <a:solidFill>
              <a:srgbClr val="DDE9F8"/>
            </a:solidFill>
            <a:prstDash val="solid"/>
          </a:ln>
          <a:effectLst>
            <a:outerShdw blurRad="25400" dist="50800" dir="2700000" algn="bl" rotWithShape="0">
              <a:srgbClr val="C6D7EA">
                <a:alpha val="16000"/>
              </a:srgbClr>
            </a:outerShdw>
          </a:effectLst>
        </p:spPr>
      </p:sp>
      <p:sp>
        <p:nvSpPr>
          <p:cNvPr id="35" name="Shape 33"/>
          <p:cNvSpPr/>
          <p:nvPr/>
        </p:nvSpPr>
        <p:spPr>
          <a:xfrm>
            <a:off x="6510528" y="4471416"/>
            <a:ext cx="1051560" cy="384048"/>
          </a:xfrm>
          <a:prstGeom prst="roundRect">
            <a:avLst>
              <a:gd name="adj" fmla="val 19048"/>
            </a:avLst>
          </a:prstGeom>
          <a:solidFill>
            <a:srgbClr val="EF4444"/>
          </a:solidFill>
          <a:ln w="12700">
            <a:solidFill>
              <a:srgbClr val="333333">
                <a:alpha val="0"/>
              </a:srgbClr>
            </a:solidFill>
            <a:prstDash val="solid"/>
          </a:ln>
        </p:spPr>
      </p:sp>
      <p:sp>
        <p:nvSpPr>
          <p:cNvPr id="36" name="Text 34"/>
          <p:cNvSpPr/>
          <p:nvPr/>
        </p:nvSpPr>
        <p:spPr>
          <a:xfrm>
            <a:off x="6556248" y="4562856"/>
            <a:ext cx="960120" cy="192024"/>
          </a:xfrm>
          <a:prstGeom prst="rect">
            <a:avLst/>
          </a:prstGeom>
          <a:noFill/>
          <a:ln/>
        </p:spPr>
        <p:txBody>
          <a:bodyPr wrap="square" lIns="0" tIns="0" rIns="0" bIns="0" rtlCol="0" anchor="ctr">
            <a:noAutofit/>
          </a:bodyPr>
          <a:lstStyle/>
          <a:p>
            <a:pPr marL="0" indent="0" algn="ctr">
              <a:buNone/>
            </a:pPr>
            <a:r>
              <a:rPr lang="en-US" sz="1600" b="1" dirty="0">
                <a:solidFill>
                  <a:srgbClr val="FFFFFF"/>
                </a:solidFill>
              </a:rPr>
              <a:t>CSV</a:t>
            </a:r>
            <a:endParaRPr lang="en-US" sz="1600" dirty="0"/>
          </a:p>
        </p:txBody>
      </p:sp>
      <p:sp>
        <p:nvSpPr>
          <p:cNvPr id="37" name="Text 35"/>
          <p:cNvSpPr/>
          <p:nvPr/>
        </p:nvSpPr>
        <p:spPr>
          <a:xfrm>
            <a:off x="7790688" y="4507992"/>
            <a:ext cx="3383280" cy="347472"/>
          </a:xfrm>
          <a:prstGeom prst="rect">
            <a:avLst/>
          </a:prstGeom>
          <a:noFill/>
          <a:ln/>
        </p:spPr>
        <p:txBody>
          <a:bodyPr wrap="square" lIns="0" tIns="0" rIns="0" bIns="0" rtlCol="0" anchor="ctr">
            <a:noAutofit/>
          </a:bodyPr>
          <a:lstStyle/>
          <a:p>
            <a:pPr marL="0" indent="0">
              <a:buNone/>
            </a:pPr>
            <a:r>
              <a:rPr lang="en-US" b="1" dirty="0">
                <a:solidFill>
                  <a:srgbClr val="0B1F3A"/>
                </a:solidFill>
              </a:rPr>
              <a:t>Lưu danh sách điểm danh theo ngày</a:t>
            </a:r>
            <a:endParaRPr lang="en-US" dirty="0"/>
          </a:p>
        </p:txBody>
      </p:sp>
      <p:sp>
        <p:nvSpPr>
          <p:cNvPr id="38" name="Text 36"/>
          <p:cNvSpPr/>
          <p:nvPr/>
        </p:nvSpPr>
        <p:spPr>
          <a:xfrm>
            <a:off x="7790688" y="4910328"/>
            <a:ext cx="3291840" cy="310896"/>
          </a:xfrm>
          <a:prstGeom prst="rect">
            <a:avLst/>
          </a:prstGeom>
          <a:noFill/>
          <a:ln/>
        </p:spPr>
        <p:txBody>
          <a:bodyPr wrap="square" lIns="0" tIns="0" rIns="0" bIns="0" rtlCol="0" anchor="ctr"/>
          <a:lstStyle/>
          <a:p>
            <a:pPr marL="0" indent="0">
              <a:buNone/>
            </a:pPr>
            <a:r>
              <a:rPr lang="en-US" sz="1400" dirty="0">
                <a:solidFill>
                  <a:srgbClr val="5F6B7A"/>
                </a:solidFill>
              </a:rPr>
              <a:t>Dữ liệu đầu ra</a:t>
            </a:r>
            <a:endParaRPr lang="en-US" sz="1400" dirty="0"/>
          </a:p>
        </p:txBody>
      </p:sp>
      <p:sp>
        <p:nvSpPr>
          <p:cNvPr id="39" name="Shape 37"/>
          <p:cNvSpPr/>
          <p:nvPr/>
        </p:nvSpPr>
        <p:spPr>
          <a:xfrm>
            <a:off x="1005840" y="6007608"/>
            <a:ext cx="10104120" cy="0"/>
          </a:xfrm>
          <a:prstGeom prst="line">
            <a:avLst/>
          </a:prstGeom>
          <a:noFill/>
          <a:ln w="12700">
            <a:solidFill>
              <a:srgbClr val="D7E3F4"/>
            </a:solidFill>
            <a:prstDash val="solid"/>
          </a:ln>
        </p:spPr>
      </p:sp>
      <p:sp>
        <p:nvSpPr>
          <p:cNvPr id="40" name="Text 38"/>
          <p:cNvSpPr/>
          <p:nvPr/>
        </p:nvSpPr>
        <p:spPr>
          <a:xfrm>
            <a:off x="1005840" y="6172200"/>
            <a:ext cx="10149840" cy="256032"/>
          </a:xfrm>
          <a:prstGeom prst="rect">
            <a:avLst/>
          </a:prstGeom>
          <a:noFill/>
          <a:ln/>
        </p:spPr>
        <p:txBody>
          <a:bodyPr wrap="square" lIns="0" tIns="0" rIns="0" bIns="0" rtlCol="0" anchor="ctr"/>
          <a:lstStyle/>
          <a:p>
            <a:pPr marL="0" indent="0" algn="ctr">
              <a:buNone/>
            </a:pPr>
            <a:r>
              <a:rPr lang="en-US" sz="1600" b="1" dirty="0">
                <a:solidFill>
                  <a:srgbClr val="0A55C9"/>
                </a:solidFill>
              </a:rPr>
              <a:t>Điểm cốt lõi: không so sánh ảnh gốc, hệ thống so sánh vector đặc trưng khuôn mặt.</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vi-VN" sz="2800" b="1" dirty="0">
                <a:solidFill>
                  <a:srgbClr val="0B1F3A"/>
                </a:solidFill>
                <a:latin typeface="Aptos Display" pitchFamily="34" charset="0"/>
                <a:ea typeface="Aptos Display" pitchFamily="34" charset="-122"/>
                <a:cs typeface="Aptos Display" pitchFamily="34" charset="-120"/>
              </a:rPr>
              <a:t>4</a:t>
            </a:r>
            <a:r>
              <a:rPr lang="en-US" sz="2800" b="1" dirty="0">
                <a:solidFill>
                  <a:srgbClr val="0B1F3A"/>
                </a:solidFill>
                <a:latin typeface="Aptos Display" pitchFamily="34" charset="0"/>
                <a:ea typeface="Aptos Display" pitchFamily="34" charset="-122"/>
                <a:cs typeface="Aptos Display" pitchFamily="34" charset="-120"/>
              </a:rPr>
              <a:t>. Cấu trúc chương trình và module chính</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Tách chức năng theo từng file giúp dễ chạy demo và bảo trì</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08</a:t>
            </a:r>
            <a:endParaRPr lang="en-US" sz="850" dirty="0"/>
          </a:p>
        </p:txBody>
      </p:sp>
      <p:sp>
        <p:nvSpPr>
          <p:cNvPr id="9" name="Shape 7"/>
          <p:cNvSpPr/>
          <p:nvPr/>
        </p:nvSpPr>
        <p:spPr>
          <a:xfrm>
            <a:off x="713232" y="1234440"/>
            <a:ext cx="4480560" cy="4709160"/>
          </a:xfrm>
          <a:prstGeom prst="roundRect">
            <a:avLst>
              <a:gd name="adj" fmla="val 3673"/>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10" name="Text 8"/>
          <p:cNvSpPr/>
          <p:nvPr/>
        </p:nvSpPr>
        <p:spPr>
          <a:xfrm>
            <a:off x="1005840" y="1600200"/>
            <a:ext cx="2377440" cy="219456"/>
          </a:xfrm>
          <a:prstGeom prst="rect">
            <a:avLst/>
          </a:prstGeom>
          <a:noFill/>
          <a:ln/>
        </p:spPr>
        <p:txBody>
          <a:bodyPr wrap="square" lIns="0" tIns="0" rIns="0" bIns="0" rtlCol="0" anchor="ctr"/>
          <a:lstStyle/>
          <a:p>
            <a:pPr marL="0" indent="0">
              <a:buNone/>
            </a:pPr>
            <a:r>
              <a:rPr lang="en-US" b="1" dirty="0">
                <a:solidFill>
                  <a:srgbClr val="0A55C9"/>
                </a:solidFill>
              </a:rPr>
              <a:t>Thư mục dữ liệu</a:t>
            </a:r>
            <a:endParaRPr lang="en-US" dirty="0"/>
          </a:p>
        </p:txBody>
      </p:sp>
      <p:sp>
        <p:nvSpPr>
          <p:cNvPr id="11" name="Shape 9"/>
          <p:cNvSpPr/>
          <p:nvPr/>
        </p:nvSpPr>
        <p:spPr>
          <a:xfrm>
            <a:off x="1005840" y="2057400"/>
            <a:ext cx="1234440" cy="347472"/>
          </a:xfrm>
          <a:prstGeom prst="roundRect">
            <a:avLst>
              <a:gd name="adj" fmla="val 15789"/>
            </a:avLst>
          </a:prstGeom>
          <a:solidFill>
            <a:srgbClr val="EAF4FF"/>
          </a:solidFill>
          <a:ln w="12700">
            <a:solidFill>
              <a:srgbClr val="C8DBF8"/>
            </a:solidFill>
            <a:prstDash val="solid"/>
          </a:ln>
        </p:spPr>
      </p:sp>
      <p:sp>
        <p:nvSpPr>
          <p:cNvPr id="12" name="Text 10"/>
          <p:cNvSpPr/>
          <p:nvPr/>
        </p:nvSpPr>
        <p:spPr>
          <a:xfrm>
            <a:off x="1078992" y="2167128"/>
            <a:ext cx="1097280" cy="100584"/>
          </a:xfrm>
          <a:prstGeom prst="rect">
            <a:avLst/>
          </a:prstGeom>
          <a:noFill/>
          <a:ln/>
        </p:spPr>
        <p:txBody>
          <a:bodyPr wrap="square" lIns="0" tIns="0" rIns="0" bIns="0" rtlCol="0" anchor="ctr">
            <a:noAutofit/>
          </a:bodyPr>
          <a:lstStyle/>
          <a:p>
            <a:pPr marL="0" indent="0" algn="ctr">
              <a:buNone/>
            </a:pPr>
            <a:r>
              <a:rPr lang="en-US" sz="1400" b="1" dirty="0">
                <a:solidFill>
                  <a:srgbClr val="1D6BFF"/>
                </a:solidFill>
              </a:rPr>
              <a:t>data/faces/</a:t>
            </a:r>
            <a:endParaRPr lang="en-US" sz="1400" dirty="0"/>
          </a:p>
        </p:txBody>
      </p:sp>
      <p:sp>
        <p:nvSpPr>
          <p:cNvPr id="13" name="Text 11"/>
          <p:cNvSpPr/>
          <p:nvPr/>
        </p:nvSpPr>
        <p:spPr>
          <a:xfrm>
            <a:off x="2487168" y="2121408"/>
            <a:ext cx="2240280" cy="201168"/>
          </a:xfrm>
          <a:prstGeom prst="rect">
            <a:avLst/>
          </a:prstGeom>
          <a:noFill/>
          <a:ln/>
        </p:spPr>
        <p:txBody>
          <a:bodyPr wrap="square" lIns="0" tIns="0" rIns="0" bIns="0" rtlCol="0" anchor="ctr">
            <a:noAutofit/>
          </a:bodyPr>
          <a:lstStyle/>
          <a:p>
            <a:pPr marL="0" indent="0">
              <a:buNone/>
            </a:pPr>
            <a:r>
              <a:rPr lang="en-US" sz="1400" dirty="0">
                <a:solidFill>
                  <a:srgbClr val="182334"/>
                </a:solidFill>
              </a:rPr>
              <a:t>Ảnh khuôn mặt sinh viên</a:t>
            </a:r>
            <a:endParaRPr lang="en-US" sz="1400" dirty="0"/>
          </a:p>
        </p:txBody>
      </p:sp>
      <p:sp>
        <p:nvSpPr>
          <p:cNvPr id="14" name="Shape 12"/>
          <p:cNvSpPr/>
          <p:nvPr/>
        </p:nvSpPr>
        <p:spPr>
          <a:xfrm>
            <a:off x="1005840" y="2770632"/>
            <a:ext cx="1234440" cy="347472"/>
          </a:xfrm>
          <a:prstGeom prst="roundRect">
            <a:avLst>
              <a:gd name="adj" fmla="val 15789"/>
            </a:avLst>
          </a:prstGeom>
          <a:solidFill>
            <a:srgbClr val="EAF4FF"/>
          </a:solidFill>
          <a:ln w="12700">
            <a:solidFill>
              <a:srgbClr val="C8DBF8"/>
            </a:solidFill>
            <a:prstDash val="solid"/>
          </a:ln>
        </p:spPr>
      </p:sp>
      <p:sp>
        <p:nvSpPr>
          <p:cNvPr id="15" name="Text 13"/>
          <p:cNvSpPr/>
          <p:nvPr/>
        </p:nvSpPr>
        <p:spPr>
          <a:xfrm>
            <a:off x="1078992" y="2880360"/>
            <a:ext cx="1097280" cy="100584"/>
          </a:xfrm>
          <a:prstGeom prst="rect">
            <a:avLst/>
          </a:prstGeom>
          <a:noFill/>
          <a:ln/>
        </p:spPr>
        <p:txBody>
          <a:bodyPr wrap="square" lIns="0" tIns="0" rIns="0" bIns="0" rtlCol="0" anchor="ctr">
            <a:noAutofit/>
          </a:bodyPr>
          <a:lstStyle/>
          <a:p>
            <a:pPr marL="0" indent="0" algn="ctr">
              <a:buNone/>
            </a:pPr>
            <a:r>
              <a:rPr lang="en-US" sz="1400" b="1" dirty="0">
                <a:solidFill>
                  <a:srgbClr val="1D6BFF"/>
                </a:solidFill>
              </a:rPr>
              <a:t>models/onnx/</a:t>
            </a:r>
            <a:endParaRPr lang="en-US" sz="1400" dirty="0"/>
          </a:p>
        </p:txBody>
      </p:sp>
      <p:sp>
        <p:nvSpPr>
          <p:cNvPr id="16" name="Text 14"/>
          <p:cNvSpPr/>
          <p:nvPr/>
        </p:nvSpPr>
        <p:spPr>
          <a:xfrm>
            <a:off x="2487168" y="2834640"/>
            <a:ext cx="2240280" cy="201168"/>
          </a:xfrm>
          <a:prstGeom prst="rect">
            <a:avLst/>
          </a:prstGeom>
          <a:noFill/>
          <a:ln/>
        </p:spPr>
        <p:txBody>
          <a:bodyPr wrap="square" lIns="0" tIns="0" rIns="0" bIns="0" rtlCol="0" anchor="ctr">
            <a:noAutofit/>
          </a:bodyPr>
          <a:lstStyle/>
          <a:p>
            <a:pPr marL="0" indent="0">
              <a:buNone/>
            </a:pPr>
            <a:r>
              <a:rPr lang="en-US" sz="1400" dirty="0">
                <a:solidFill>
                  <a:srgbClr val="182334"/>
                </a:solidFill>
              </a:rPr>
              <a:t>Mô hình YuNet, SFace</a:t>
            </a:r>
            <a:endParaRPr lang="en-US" sz="1400" dirty="0"/>
          </a:p>
        </p:txBody>
      </p:sp>
      <p:sp>
        <p:nvSpPr>
          <p:cNvPr id="17" name="Shape 15"/>
          <p:cNvSpPr/>
          <p:nvPr/>
        </p:nvSpPr>
        <p:spPr>
          <a:xfrm>
            <a:off x="1005840" y="3483864"/>
            <a:ext cx="1234440" cy="502920"/>
          </a:xfrm>
          <a:prstGeom prst="roundRect">
            <a:avLst>
              <a:gd name="adj" fmla="val 15789"/>
            </a:avLst>
          </a:prstGeom>
          <a:solidFill>
            <a:srgbClr val="EAF4FF"/>
          </a:solidFill>
          <a:ln w="12700">
            <a:solidFill>
              <a:srgbClr val="C8DBF8"/>
            </a:solidFill>
            <a:prstDash val="solid"/>
          </a:ln>
        </p:spPr>
      </p:sp>
      <p:sp>
        <p:nvSpPr>
          <p:cNvPr id="18" name="Text 16"/>
          <p:cNvSpPr/>
          <p:nvPr/>
        </p:nvSpPr>
        <p:spPr>
          <a:xfrm>
            <a:off x="1078992" y="3593591"/>
            <a:ext cx="1097280" cy="309541"/>
          </a:xfrm>
          <a:prstGeom prst="rect">
            <a:avLst/>
          </a:prstGeom>
          <a:noFill/>
          <a:ln/>
        </p:spPr>
        <p:txBody>
          <a:bodyPr wrap="square" lIns="0" tIns="0" rIns="0" bIns="0" rtlCol="0" anchor="ctr">
            <a:noAutofit/>
          </a:bodyPr>
          <a:lstStyle/>
          <a:p>
            <a:pPr marL="0" indent="0" algn="ctr">
              <a:buNone/>
            </a:pPr>
            <a:r>
              <a:rPr lang="en-US" sz="1400" b="1" dirty="0">
                <a:solidFill>
                  <a:srgbClr val="1D6BFF"/>
                </a:solidFill>
              </a:rPr>
              <a:t>models/database/</a:t>
            </a:r>
            <a:endParaRPr lang="en-US" sz="1400" dirty="0"/>
          </a:p>
        </p:txBody>
      </p:sp>
      <p:sp>
        <p:nvSpPr>
          <p:cNvPr id="19" name="Text 17"/>
          <p:cNvSpPr/>
          <p:nvPr/>
        </p:nvSpPr>
        <p:spPr>
          <a:xfrm>
            <a:off x="2487168" y="3547872"/>
            <a:ext cx="2240280" cy="201168"/>
          </a:xfrm>
          <a:prstGeom prst="rect">
            <a:avLst/>
          </a:prstGeom>
          <a:noFill/>
          <a:ln/>
        </p:spPr>
        <p:txBody>
          <a:bodyPr wrap="square" lIns="0" tIns="0" rIns="0" bIns="0" rtlCol="0" anchor="ctr">
            <a:noAutofit/>
          </a:bodyPr>
          <a:lstStyle/>
          <a:p>
            <a:pPr marL="0" indent="0">
              <a:buNone/>
            </a:pPr>
            <a:r>
              <a:rPr lang="en-US" sz="1400" dirty="0">
                <a:solidFill>
                  <a:srgbClr val="182334"/>
                </a:solidFill>
              </a:rPr>
              <a:t>Database vector khuôn mặt</a:t>
            </a:r>
            <a:endParaRPr lang="en-US" sz="1400" dirty="0"/>
          </a:p>
        </p:txBody>
      </p:sp>
      <p:sp>
        <p:nvSpPr>
          <p:cNvPr id="20" name="Shape 18"/>
          <p:cNvSpPr/>
          <p:nvPr/>
        </p:nvSpPr>
        <p:spPr>
          <a:xfrm>
            <a:off x="1005840" y="4197096"/>
            <a:ext cx="1234440" cy="347472"/>
          </a:xfrm>
          <a:prstGeom prst="roundRect">
            <a:avLst>
              <a:gd name="adj" fmla="val 15789"/>
            </a:avLst>
          </a:prstGeom>
          <a:solidFill>
            <a:srgbClr val="EAF4FF"/>
          </a:solidFill>
          <a:ln w="12700">
            <a:solidFill>
              <a:srgbClr val="C8DBF8"/>
            </a:solidFill>
            <a:prstDash val="solid"/>
          </a:ln>
        </p:spPr>
      </p:sp>
      <p:sp>
        <p:nvSpPr>
          <p:cNvPr id="21" name="Text 19"/>
          <p:cNvSpPr/>
          <p:nvPr/>
        </p:nvSpPr>
        <p:spPr>
          <a:xfrm>
            <a:off x="1078992" y="4306824"/>
            <a:ext cx="1097280" cy="100584"/>
          </a:xfrm>
          <a:prstGeom prst="rect">
            <a:avLst/>
          </a:prstGeom>
          <a:noFill/>
          <a:ln/>
        </p:spPr>
        <p:txBody>
          <a:bodyPr wrap="square" lIns="0" tIns="0" rIns="0" bIns="0" rtlCol="0" anchor="ctr">
            <a:noAutofit/>
          </a:bodyPr>
          <a:lstStyle/>
          <a:p>
            <a:pPr marL="0" indent="0" algn="ctr">
              <a:buNone/>
            </a:pPr>
            <a:r>
              <a:rPr lang="en-US" sz="1400" b="1" dirty="0">
                <a:solidFill>
                  <a:srgbClr val="1D6BFF"/>
                </a:solidFill>
              </a:rPr>
              <a:t>attendance/</a:t>
            </a:r>
            <a:endParaRPr lang="en-US" sz="1400" dirty="0"/>
          </a:p>
        </p:txBody>
      </p:sp>
      <p:sp>
        <p:nvSpPr>
          <p:cNvPr id="22" name="Text 20"/>
          <p:cNvSpPr/>
          <p:nvPr/>
        </p:nvSpPr>
        <p:spPr>
          <a:xfrm>
            <a:off x="2487168" y="4261104"/>
            <a:ext cx="2240280" cy="201168"/>
          </a:xfrm>
          <a:prstGeom prst="rect">
            <a:avLst/>
          </a:prstGeom>
          <a:noFill/>
          <a:ln/>
        </p:spPr>
        <p:txBody>
          <a:bodyPr wrap="square" lIns="0" tIns="0" rIns="0" bIns="0" rtlCol="0" anchor="ctr">
            <a:noAutofit/>
          </a:bodyPr>
          <a:lstStyle/>
          <a:p>
            <a:pPr marL="0" indent="0">
              <a:buNone/>
            </a:pPr>
            <a:r>
              <a:rPr lang="en-US" sz="1400" dirty="0">
                <a:solidFill>
                  <a:srgbClr val="182334"/>
                </a:solidFill>
              </a:rPr>
              <a:t>File điểm danh CSV</a:t>
            </a:r>
            <a:endParaRPr lang="en-US" sz="1400" dirty="0"/>
          </a:p>
        </p:txBody>
      </p:sp>
      <p:sp>
        <p:nvSpPr>
          <p:cNvPr id="23" name="Shape 21"/>
          <p:cNvSpPr/>
          <p:nvPr/>
        </p:nvSpPr>
        <p:spPr>
          <a:xfrm>
            <a:off x="5486400" y="1234440"/>
            <a:ext cx="5989320" cy="4709160"/>
          </a:xfrm>
          <a:prstGeom prst="roundRect">
            <a:avLst>
              <a:gd name="adj" fmla="val 3495"/>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24" name="Text 22"/>
          <p:cNvSpPr/>
          <p:nvPr/>
        </p:nvSpPr>
        <p:spPr>
          <a:xfrm>
            <a:off x="5806440" y="1600200"/>
            <a:ext cx="3017520" cy="219456"/>
          </a:xfrm>
          <a:prstGeom prst="rect">
            <a:avLst/>
          </a:prstGeom>
          <a:noFill/>
          <a:ln/>
        </p:spPr>
        <p:txBody>
          <a:bodyPr wrap="square" lIns="0" tIns="0" rIns="0" bIns="0" rtlCol="0" anchor="ctr"/>
          <a:lstStyle/>
          <a:p>
            <a:pPr marL="0" indent="0">
              <a:buNone/>
            </a:pPr>
            <a:r>
              <a:rPr lang="en-US" b="1" dirty="0">
                <a:solidFill>
                  <a:srgbClr val="0A55C9"/>
                </a:solidFill>
              </a:rPr>
              <a:t>Các file xử lý chính</a:t>
            </a:r>
            <a:endParaRPr lang="en-US" dirty="0"/>
          </a:p>
        </p:txBody>
      </p:sp>
      <p:sp>
        <p:nvSpPr>
          <p:cNvPr id="25" name="Shape 23"/>
          <p:cNvSpPr/>
          <p:nvPr/>
        </p:nvSpPr>
        <p:spPr>
          <a:xfrm>
            <a:off x="5806440" y="2103120"/>
            <a:ext cx="155448" cy="155448"/>
          </a:xfrm>
          <a:prstGeom prst="ellipse">
            <a:avLst/>
          </a:prstGeom>
          <a:solidFill>
            <a:srgbClr val="35C58A"/>
          </a:solidFill>
          <a:ln w="12700">
            <a:solidFill>
              <a:srgbClr val="333333">
                <a:alpha val="0"/>
              </a:srgbClr>
            </a:solidFill>
            <a:prstDash val="solid"/>
          </a:ln>
        </p:spPr>
      </p:sp>
      <p:sp>
        <p:nvSpPr>
          <p:cNvPr id="26" name="Text 24"/>
          <p:cNvSpPr/>
          <p:nvPr/>
        </p:nvSpPr>
        <p:spPr>
          <a:xfrm>
            <a:off x="6053328" y="2011680"/>
            <a:ext cx="2011680" cy="338328"/>
          </a:xfrm>
          <a:prstGeom prst="rect">
            <a:avLst/>
          </a:prstGeom>
          <a:noFill/>
          <a:ln/>
        </p:spPr>
        <p:txBody>
          <a:bodyPr wrap="square" lIns="0" tIns="0" rIns="0" bIns="0" rtlCol="0" anchor="ctr">
            <a:noAutofit/>
          </a:bodyPr>
          <a:lstStyle/>
          <a:p>
            <a:pPr marL="0" indent="0">
              <a:buNone/>
            </a:pPr>
            <a:r>
              <a:rPr lang="en-US" sz="1400" b="1" dirty="0">
                <a:solidFill>
                  <a:srgbClr val="0B1F3A"/>
                </a:solidFill>
              </a:rPr>
              <a:t>capture_faces.py</a:t>
            </a:r>
            <a:endParaRPr lang="en-US" sz="1400" dirty="0"/>
          </a:p>
        </p:txBody>
      </p:sp>
      <p:sp>
        <p:nvSpPr>
          <p:cNvPr id="27" name="Text 25"/>
          <p:cNvSpPr/>
          <p:nvPr/>
        </p:nvSpPr>
        <p:spPr>
          <a:xfrm>
            <a:off x="8366760" y="2011680"/>
            <a:ext cx="2606040" cy="310896"/>
          </a:xfrm>
          <a:prstGeom prst="rect">
            <a:avLst/>
          </a:prstGeom>
          <a:noFill/>
          <a:ln/>
        </p:spPr>
        <p:txBody>
          <a:bodyPr wrap="square" lIns="0" tIns="0" rIns="0" bIns="0" rtlCol="0" anchor="ctr">
            <a:noAutofit/>
          </a:bodyPr>
          <a:lstStyle/>
          <a:p>
            <a:pPr marL="0" indent="0">
              <a:buNone/>
            </a:pPr>
            <a:r>
              <a:rPr lang="en-US" sz="1400" dirty="0">
                <a:solidFill>
                  <a:srgbClr val="5F6B7A"/>
                </a:solidFill>
              </a:rPr>
              <a:t>Thu thập ảnh khuôn mặt</a:t>
            </a:r>
            <a:endParaRPr lang="en-US" sz="1400" dirty="0"/>
          </a:p>
        </p:txBody>
      </p:sp>
      <p:sp>
        <p:nvSpPr>
          <p:cNvPr id="28" name="Shape 26"/>
          <p:cNvSpPr/>
          <p:nvPr/>
        </p:nvSpPr>
        <p:spPr>
          <a:xfrm>
            <a:off x="5806440" y="2761488"/>
            <a:ext cx="155448" cy="155448"/>
          </a:xfrm>
          <a:prstGeom prst="ellipse">
            <a:avLst/>
          </a:prstGeom>
          <a:solidFill>
            <a:srgbClr val="35C58A"/>
          </a:solidFill>
          <a:ln w="12700">
            <a:solidFill>
              <a:srgbClr val="333333">
                <a:alpha val="0"/>
              </a:srgbClr>
            </a:solidFill>
            <a:prstDash val="solid"/>
          </a:ln>
        </p:spPr>
      </p:sp>
      <p:sp>
        <p:nvSpPr>
          <p:cNvPr id="29" name="Text 27"/>
          <p:cNvSpPr/>
          <p:nvPr/>
        </p:nvSpPr>
        <p:spPr>
          <a:xfrm>
            <a:off x="6053328" y="2670048"/>
            <a:ext cx="2011680" cy="365760"/>
          </a:xfrm>
          <a:prstGeom prst="rect">
            <a:avLst/>
          </a:prstGeom>
          <a:noFill/>
          <a:ln/>
        </p:spPr>
        <p:txBody>
          <a:bodyPr wrap="square" lIns="0" tIns="0" rIns="0" bIns="0" rtlCol="0" anchor="ctr">
            <a:noAutofit/>
          </a:bodyPr>
          <a:lstStyle/>
          <a:p>
            <a:pPr marL="0" indent="0">
              <a:buNone/>
            </a:pPr>
            <a:r>
              <a:rPr lang="en-US" sz="1400" b="1" dirty="0">
                <a:solidFill>
                  <a:srgbClr val="0B1F3A"/>
                </a:solidFill>
              </a:rPr>
              <a:t>build_database.py</a:t>
            </a:r>
            <a:endParaRPr lang="en-US" sz="1400" dirty="0"/>
          </a:p>
        </p:txBody>
      </p:sp>
      <p:sp>
        <p:nvSpPr>
          <p:cNvPr id="30" name="Text 28"/>
          <p:cNvSpPr/>
          <p:nvPr/>
        </p:nvSpPr>
        <p:spPr>
          <a:xfrm>
            <a:off x="8366760" y="2670048"/>
            <a:ext cx="2606040" cy="310896"/>
          </a:xfrm>
          <a:prstGeom prst="rect">
            <a:avLst/>
          </a:prstGeom>
          <a:noFill/>
          <a:ln/>
        </p:spPr>
        <p:txBody>
          <a:bodyPr wrap="square" lIns="0" tIns="0" rIns="0" bIns="0" rtlCol="0" anchor="ctr">
            <a:noAutofit/>
          </a:bodyPr>
          <a:lstStyle/>
          <a:p>
            <a:pPr marL="0" indent="0">
              <a:buNone/>
            </a:pPr>
            <a:r>
              <a:rPr lang="en-US" sz="1400" dirty="0">
                <a:solidFill>
                  <a:srgbClr val="5F6B7A"/>
                </a:solidFill>
              </a:rPr>
              <a:t>Tạo database vector</a:t>
            </a:r>
            <a:endParaRPr lang="en-US" sz="1400" dirty="0"/>
          </a:p>
        </p:txBody>
      </p:sp>
      <p:sp>
        <p:nvSpPr>
          <p:cNvPr id="31" name="Shape 29"/>
          <p:cNvSpPr/>
          <p:nvPr/>
        </p:nvSpPr>
        <p:spPr>
          <a:xfrm>
            <a:off x="5806440" y="3419856"/>
            <a:ext cx="155448" cy="155448"/>
          </a:xfrm>
          <a:prstGeom prst="ellipse">
            <a:avLst/>
          </a:prstGeom>
          <a:solidFill>
            <a:srgbClr val="35C58A"/>
          </a:solidFill>
          <a:ln w="12700">
            <a:solidFill>
              <a:srgbClr val="333333">
                <a:alpha val="0"/>
              </a:srgbClr>
            </a:solidFill>
            <a:prstDash val="solid"/>
          </a:ln>
        </p:spPr>
      </p:sp>
      <p:sp>
        <p:nvSpPr>
          <p:cNvPr id="32" name="Text 30"/>
          <p:cNvSpPr/>
          <p:nvPr/>
        </p:nvSpPr>
        <p:spPr>
          <a:xfrm>
            <a:off x="6053328" y="3328416"/>
            <a:ext cx="2011680" cy="347472"/>
          </a:xfrm>
          <a:prstGeom prst="rect">
            <a:avLst/>
          </a:prstGeom>
          <a:noFill/>
          <a:ln/>
        </p:spPr>
        <p:txBody>
          <a:bodyPr wrap="square" lIns="0" tIns="0" rIns="0" bIns="0" rtlCol="0" anchor="ctr">
            <a:noAutofit/>
          </a:bodyPr>
          <a:lstStyle/>
          <a:p>
            <a:pPr marL="0" indent="0">
              <a:buNone/>
            </a:pPr>
            <a:r>
              <a:rPr lang="en-US" sz="1400" b="1" dirty="0">
                <a:solidFill>
                  <a:srgbClr val="0B1F3A"/>
                </a:solidFill>
              </a:rPr>
              <a:t>evaluate_database.py</a:t>
            </a:r>
            <a:endParaRPr lang="en-US" sz="1400" dirty="0"/>
          </a:p>
        </p:txBody>
      </p:sp>
      <p:sp>
        <p:nvSpPr>
          <p:cNvPr id="33" name="Text 31"/>
          <p:cNvSpPr/>
          <p:nvPr/>
        </p:nvSpPr>
        <p:spPr>
          <a:xfrm>
            <a:off x="8366760" y="3328416"/>
            <a:ext cx="2606040" cy="338328"/>
          </a:xfrm>
          <a:prstGeom prst="rect">
            <a:avLst/>
          </a:prstGeom>
          <a:noFill/>
          <a:ln/>
        </p:spPr>
        <p:txBody>
          <a:bodyPr wrap="square" lIns="0" tIns="0" rIns="0" bIns="0" rtlCol="0" anchor="ctr">
            <a:noAutofit/>
          </a:bodyPr>
          <a:lstStyle/>
          <a:p>
            <a:pPr marL="0" indent="0">
              <a:buNone/>
            </a:pPr>
            <a:r>
              <a:rPr lang="en-US" sz="1400" dirty="0">
                <a:solidFill>
                  <a:srgbClr val="5F6B7A"/>
                </a:solidFill>
              </a:rPr>
              <a:t>Đánh giá nhanh database</a:t>
            </a:r>
            <a:endParaRPr lang="en-US" sz="1400" dirty="0"/>
          </a:p>
        </p:txBody>
      </p:sp>
      <p:sp>
        <p:nvSpPr>
          <p:cNvPr id="34" name="Shape 32"/>
          <p:cNvSpPr/>
          <p:nvPr/>
        </p:nvSpPr>
        <p:spPr>
          <a:xfrm>
            <a:off x="5806440" y="4078224"/>
            <a:ext cx="155448" cy="155448"/>
          </a:xfrm>
          <a:prstGeom prst="ellipse">
            <a:avLst/>
          </a:prstGeom>
          <a:solidFill>
            <a:srgbClr val="35C58A"/>
          </a:solidFill>
          <a:ln w="12700">
            <a:solidFill>
              <a:srgbClr val="333333">
                <a:alpha val="0"/>
              </a:srgbClr>
            </a:solidFill>
            <a:prstDash val="solid"/>
          </a:ln>
        </p:spPr>
      </p:sp>
      <p:sp>
        <p:nvSpPr>
          <p:cNvPr id="35" name="Text 33"/>
          <p:cNvSpPr/>
          <p:nvPr/>
        </p:nvSpPr>
        <p:spPr>
          <a:xfrm>
            <a:off x="6053328" y="3986784"/>
            <a:ext cx="2011680" cy="347472"/>
          </a:xfrm>
          <a:prstGeom prst="rect">
            <a:avLst/>
          </a:prstGeom>
          <a:noFill/>
          <a:ln/>
        </p:spPr>
        <p:txBody>
          <a:bodyPr wrap="square" lIns="0" tIns="0" rIns="0" bIns="0" rtlCol="0" anchor="ctr">
            <a:noAutofit/>
          </a:bodyPr>
          <a:lstStyle/>
          <a:p>
            <a:pPr marL="0" indent="0">
              <a:buNone/>
            </a:pPr>
            <a:r>
              <a:rPr lang="en-US" sz="1400" b="1" dirty="0">
                <a:solidFill>
                  <a:srgbClr val="0B1F3A"/>
                </a:solidFill>
              </a:rPr>
              <a:t>recognize_attendance.py</a:t>
            </a:r>
            <a:endParaRPr lang="en-US" sz="1400" dirty="0"/>
          </a:p>
        </p:txBody>
      </p:sp>
      <p:sp>
        <p:nvSpPr>
          <p:cNvPr id="36" name="Text 34"/>
          <p:cNvSpPr/>
          <p:nvPr/>
        </p:nvSpPr>
        <p:spPr>
          <a:xfrm>
            <a:off x="8366760" y="3986784"/>
            <a:ext cx="2606040" cy="329184"/>
          </a:xfrm>
          <a:prstGeom prst="rect">
            <a:avLst/>
          </a:prstGeom>
          <a:noFill/>
          <a:ln/>
        </p:spPr>
        <p:txBody>
          <a:bodyPr wrap="square" lIns="0" tIns="0" rIns="0" bIns="0" rtlCol="0" anchor="ctr">
            <a:noAutofit/>
          </a:bodyPr>
          <a:lstStyle/>
          <a:p>
            <a:pPr marL="0" indent="0">
              <a:buNone/>
            </a:pPr>
            <a:r>
              <a:rPr lang="en-US" sz="1400" dirty="0">
                <a:solidFill>
                  <a:srgbClr val="5F6B7A"/>
                </a:solidFill>
              </a:rPr>
              <a:t>Nhận diện và ghi </a:t>
            </a:r>
            <a:r>
              <a:rPr lang="en-US" sz="1400" dirty="0" err="1">
                <a:solidFill>
                  <a:srgbClr val="5F6B7A"/>
                </a:solidFill>
              </a:rPr>
              <a:t>điểm</a:t>
            </a:r>
            <a:r>
              <a:rPr lang="en-US" sz="1400" dirty="0">
                <a:solidFill>
                  <a:srgbClr val="5F6B7A"/>
                </a:solidFill>
              </a:rPr>
              <a:t> </a:t>
            </a:r>
            <a:r>
              <a:rPr lang="en-US" sz="1400" dirty="0" err="1">
                <a:solidFill>
                  <a:srgbClr val="5F6B7A"/>
                </a:solidFill>
              </a:rPr>
              <a:t>danh</a:t>
            </a:r>
            <a:endParaRPr lang="en-US" sz="1400" dirty="0"/>
          </a:p>
        </p:txBody>
      </p:sp>
      <p:sp>
        <p:nvSpPr>
          <p:cNvPr id="37" name="Shape 35"/>
          <p:cNvSpPr/>
          <p:nvPr/>
        </p:nvSpPr>
        <p:spPr>
          <a:xfrm>
            <a:off x="5806440" y="4736592"/>
            <a:ext cx="155448" cy="155448"/>
          </a:xfrm>
          <a:prstGeom prst="ellipse">
            <a:avLst/>
          </a:prstGeom>
          <a:solidFill>
            <a:srgbClr val="35C58A"/>
          </a:solidFill>
          <a:ln w="12700">
            <a:solidFill>
              <a:srgbClr val="333333">
                <a:alpha val="0"/>
              </a:srgbClr>
            </a:solidFill>
            <a:prstDash val="solid"/>
          </a:ln>
        </p:spPr>
      </p:sp>
      <p:sp>
        <p:nvSpPr>
          <p:cNvPr id="38" name="Text 36"/>
          <p:cNvSpPr/>
          <p:nvPr/>
        </p:nvSpPr>
        <p:spPr>
          <a:xfrm>
            <a:off x="6053328" y="4645152"/>
            <a:ext cx="2011680" cy="347472"/>
          </a:xfrm>
          <a:prstGeom prst="rect">
            <a:avLst/>
          </a:prstGeom>
          <a:noFill/>
          <a:ln/>
        </p:spPr>
        <p:txBody>
          <a:bodyPr wrap="square" lIns="0" tIns="0" rIns="0" bIns="0" rtlCol="0" anchor="ctr">
            <a:noAutofit/>
          </a:bodyPr>
          <a:lstStyle/>
          <a:p>
            <a:pPr marL="0" indent="0">
              <a:buNone/>
            </a:pPr>
            <a:r>
              <a:rPr lang="en-US" sz="1400" b="1" dirty="0">
                <a:solidFill>
                  <a:srgbClr val="0B1F3A"/>
                </a:solidFill>
              </a:rPr>
              <a:t>common.py</a:t>
            </a:r>
            <a:endParaRPr lang="en-US" sz="1400" dirty="0"/>
          </a:p>
        </p:txBody>
      </p:sp>
      <p:sp>
        <p:nvSpPr>
          <p:cNvPr id="39" name="Text 37"/>
          <p:cNvSpPr/>
          <p:nvPr/>
        </p:nvSpPr>
        <p:spPr>
          <a:xfrm>
            <a:off x="8366760" y="4645152"/>
            <a:ext cx="2606040" cy="347472"/>
          </a:xfrm>
          <a:prstGeom prst="rect">
            <a:avLst/>
          </a:prstGeom>
          <a:noFill/>
          <a:ln/>
        </p:spPr>
        <p:txBody>
          <a:bodyPr wrap="square" lIns="0" tIns="0" rIns="0" bIns="0" rtlCol="0" anchor="ctr">
            <a:normAutofit fontScale="92500"/>
          </a:bodyPr>
          <a:lstStyle/>
          <a:p>
            <a:pPr marL="0" indent="0">
              <a:buNone/>
            </a:pPr>
            <a:r>
              <a:rPr lang="en-US" sz="1400" dirty="0">
                <a:solidFill>
                  <a:srgbClr val="5F6B7A"/>
                </a:solidFill>
              </a:rPr>
              <a:t>Hàm dùng chung cho toàn hệ thống</a:t>
            </a:r>
            <a:endParaRPr lang="en-US" sz="1400" dirty="0"/>
          </a:p>
        </p:txBody>
      </p:sp>
      <p:sp>
        <p:nvSpPr>
          <p:cNvPr id="40" name="Text 38"/>
          <p:cNvSpPr/>
          <p:nvPr/>
        </p:nvSpPr>
        <p:spPr>
          <a:xfrm>
            <a:off x="5806440" y="5532120"/>
            <a:ext cx="5212080" cy="237744"/>
          </a:xfrm>
          <a:prstGeom prst="rect">
            <a:avLst/>
          </a:prstGeom>
          <a:noFill/>
          <a:ln/>
        </p:spPr>
        <p:txBody>
          <a:bodyPr wrap="square" lIns="0" tIns="0" rIns="0" bIns="0" rtlCol="0" anchor="ctr"/>
          <a:lstStyle/>
          <a:p>
            <a:pPr marL="0" indent="0" algn="ctr">
              <a:buNone/>
            </a:pPr>
            <a:r>
              <a:rPr lang="en-US" sz="1400" b="1" dirty="0">
                <a:solidFill>
                  <a:srgbClr val="F59E0B"/>
                </a:solidFill>
              </a:rPr>
              <a:t>File chạy chính khi demo: recognize_attendance.py</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BFF"/>
        </a:solidFill>
        <a:effectLst/>
      </p:bgPr>
    </p:bg>
    <p:spTree>
      <p:nvGrpSpPr>
        <p:cNvPr id="1" name=""/>
        <p:cNvGrpSpPr/>
        <p:nvPr/>
      </p:nvGrpSpPr>
      <p:grpSpPr>
        <a:xfrm>
          <a:off x="0" y="0"/>
          <a:ext cx="0" cy="0"/>
          <a:chOff x="0" y="0"/>
          <a:chExt cx="0" cy="0"/>
        </a:xfrm>
      </p:grpSpPr>
      <p:sp>
        <p:nvSpPr>
          <p:cNvPr id="9" name="Shape 0">
            <a:extLst>
              <a:ext uri="{FF2B5EF4-FFF2-40B4-BE49-F238E27FC236}">
                <a16:creationId xmlns:a16="http://schemas.microsoft.com/office/drawing/2014/main" id="{B82A3D2B-E9A3-F845-8E9C-B66B9A3EDE42}"/>
              </a:ext>
            </a:extLst>
          </p:cNvPr>
          <p:cNvSpPr/>
          <p:nvPr/>
        </p:nvSpPr>
        <p:spPr>
          <a:xfrm>
            <a:off x="152" y="54864"/>
            <a:ext cx="12191695" cy="164592"/>
          </a:xfrm>
          <a:prstGeom prst="rect">
            <a:avLst/>
          </a:prstGeom>
          <a:solidFill>
            <a:srgbClr val="1D6BFF"/>
          </a:solidFill>
          <a:ln w="12700">
            <a:solidFill>
              <a:srgbClr val="1D6BFF">
                <a:alpha val="0"/>
              </a:srgbClr>
            </a:solidFill>
            <a:prstDash val="solid"/>
          </a:ln>
        </p:spPr>
        <p:txBody>
          <a:bodyPr/>
          <a:lstStyle/>
          <a:p>
            <a:endParaRPr lang="en-US"/>
          </a:p>
        </p:txBody>
      </p:sp>
      <p:sp>
        <p:nvSpPr>
          <p:cNvPr id="10" name="Shape 1">
            <a:extLst>
              <a:ext uri="{FF2B5EF4-FFF2-40B4-BE49-F238E27FC236}">
                <a16:creationId xmlns:a16="http://schemas.microsoft.com/office/drawing/2014/main" id="{25FEDD6B-2330-6348-7CB4-6692C65E2637}"/>
              </a:ext>
            </a:extLst>
          </p:cNvPr>
          <p:cNvSpPr/>
          <p:nvPr/>
        </p:nvSpPr>
        <p:spPr>
          <a:xfrm>
            <a:off x="482532" y="6528816"/>
            <a:ext cx="11201400" cy="0"/>
          </a:xfrm>
          <a:prstGeom prst="line">
            <a:avLst/>
          </a:prstGeom>
          <a:noFill/>
          <a:ln w="7620">
            <a:solidFill>
              <a:srgbClr val="D7E3F4"/>
            </a:solidFill>
            <a:prstDash val="solid"/>
          </a:ln>
        </p:spPr>
        <p:txBody>
          <a:bodyPr/>
          <a:lstStyle/>
          <a:p>
            <a:endParaRPr lang="en-US"/>
          </a:p>
        </p:txBody>
      </p:sp>
      <p:sp>
        <p:nvSpPr>
          <p:cNvPr id="11" name="Shape 2">
            <a:extLst>
              <a:ext uri="{FF2B5EF4-FFF2-40B4-BE49-F238E27FC236}">
                <a16:creationId xmlns:a16="http://schemas.microsoft.com/office/drawing/2014/main" id="{7357BD4D-7B7F-0FD3-12D8-B177344DCAC0}"/>
              </a:ext>
            </a:extLst>
          </p:cNvPr>
          <p:cNvSpPr/>
          <p:nvPr/>
        </p:nvSpPr>
        <p:spPr>
          <a:xfrm>
            <a:off x="503072" y="566928"/>
            <a:ext cx="109728" cy="566928"/>
          </a:xfrm>
          <a:prstGeom prst="roundRect">
            <a:avLst>
              <a:gd name="adj" fmla="val 33333"/>
            </a:avLst>
          </a:prstGeom>
          <a:solidFill>
            <a:srgbClr val="1D6BFF"/>
          </a:solidFill>
          <a:ln w="12700">
            <a:solidFill>
              <a:srgbClr val="1D6BFF">
                <a:alpha val="0"/>
              </a:srgbClr>
            </a:solidFill>
            <a:prstDash val="solid"/>
          </a:ln>
        </p:spPr>
        <p:txBody>
          <a:bodyPr/>
          <a:lstStyle/>
          <a:p>
            <a:endParaRPr lang="en-US"/>
          </a:p>
        </p:txBody>
      </p:sp>
      <p:sp>
        <p:nvSpPr>
          <p:cNvPr id="12" name="Text 3">
            <a:extLst>
              <a:ext uri="{FF2B5EF4-FFF2-40B4-BE49-F238E27FC236}">
                <a16:creationId xmlns:a16="http://schemas.microsoft.com/office/drawing/2014/main" id="{FCB37B7B-0204-D9E0-EA12-E9C1A0F82DBE}"/>
              </a:ext>
            </a:extLst>
          </p:cNvPr>
          <p:cNvSpPr/>
          <p:nvPr/>
        </p:nvSpPr>
        <p:spPr>
          <a:xfrm>
            <a:off x="749960" y="493776"/>
            <a:ext cx="10332720" cy="38404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vi-VN" sz="2800" b="1" dirty="0">
                <a:solidFill>
                  <a:srgbClr val="0B1F3A"/>
                </a:solidFill>
                <a:latin typeface="Aptos Display" pitchFamily="34" charset="0"/>
                <a:ea typeface="Aptos Display" pitchFamily="34" charset="-122"/>
                <a:cs typeface="Aptos Display" pitchFamily="34" charset="-120"/>
              </a:rPr>
              <a:t>5</a:t>
            </a:r>
            <a:r>
              <a:rPr lang="en-US" sz="2800" b="1" dirty="0">
                <a:solidFill>
                  <a:srgbClr val="0B1F3A"/>
                </a:solidFill>
                <a:latin typeface="Aptos Display" pitchFamily="34" charset="0"/>
                <a:ea typeface="Aptos Display" pitchFamily="34" charset="-122"/>
                <a:cs typeface="Aptos Display" pitchFamily="34" charset="-120"/>
              </a:rPr>
              <a:t>. Cách thức hoạt động của hệ thống</a:t>
            </a:r>
            <a:endParaRPr lang="en-US" sz="2800" dirty="0"/>
          </a:p>
        </p:txBody>
      </p:sp>
      <p:sp>
        <p:nvSpPr>
          <p:cNvPr id="13" name="Text 4">
            <a:extLst>
              <a:ext uri="{FF2B5EF4-FFF2-40B4-BE49-F238E27FC236}">
                <a16:creationId xmlns:a16="http://schemas.microsoft.com/office/drawing/2014/main" id="{C312CFFE-CF01-E3B9-E350-55E761E48B59}"/>
              </a:ext>
            </a:extLst>
          </p:cNvPr>
          <p:cNvSpPr/>
          <p:nvPr/>
        </p:nvSpPr>
        <p:spPr>
          <a:xfrm>
            <a:off x="768248" y="950976"/>
            <a:ext cx="1024128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5F6B7A"/>
                </a:solidFill>
                <a:latin typeface="Aptos" pitchFamily="34" charset="0"/>
                <a:ea typeface="Aptos" pitchFamily="34" charset="-122"/>
                <a:cs typeface="Aptos" pitchFamily="34" charset="-120"/>
              </a:rPr>
              <a:t>Luồng xử lý từ camera đến file điểm danh</a:t>
            </a:r>
            <a:endParaRPr lang="en-US" sz="1600" dirty="0"/>
          </a:p>
        </p:txBody>
      </p:sp>
      <p:sp>
        <p:nvSpPr>
          <p:cNvPr id="14" name="Text 5">
            <a:extLst>
              <a:ext uri="{FF2B5EF4-FFF2-40B4-BE49-F238E27FC236}">
                <a16:creationId xmlns:a16="http://schemas.microsoft.com/office/drawing/2014/main" id="{EC6E470C-C5BC-5450-6BEF-1751B563E852}"/>
              </a:ext>
            </a:extLst>
          </p:cNvPr>
          <p:cNvSpPr/>
          <p:nvPr/>
        </p:nvSpPr>
        <p:spPr>
          <a:xfrm>
            <a:off x="503072" y="6620256"/>
            <a:ext cx="868680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15" name="Text 6">
            <a:extLst>
              <a:ext uri="{FF2B5EF4-FFF2-40B4-BE49-F238E27FC236}">
                <a16:creationId xmlns:a16="http://schemas.microsoft.com/office/drawing/2014/main" id="{A6B41B1D-2B17-C401-27C7-217242B2191D}"/>
              </a:ext>
            </a:extLst>
          </p:cNvPr>
          <p:cNvSpPr/>
          <p:nvPr/>
        </p:nvSpPr>
        <p:spPr>
          <a:xfrm>
            <a:off x="11384432" y="6565392"/>
            <a:ext cx="41148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sz="700">
                <a:solidFill>
                  <a:srgbClr val="1E65FF"/>
                </a:solidFill>
              </a:rPr>
              <a:t>05/14</a:t>
            </a:r>
          </a:p>
        </p:txBody>
      </p:sp>
      <p:cxnSp>
        <p:nvCxnSpPr>
          <p:cNvPr id="16" name="Connector 8">
            <a:extLst>
              <a:ext uri="{FF2B5EF4-FFF2-40B4-BE49-F238E27FC236}">
                <a16:creationId xmlns:a16="http://schemas.microsoft.com/office/drawing/2014/main" id="{1860DE52-953F-530E-BC4C-A9E8057C4F45}"/>
              </a:ext>
            </a:extLst>
          </p:cNvPr>
          <p:cNvCxnSpPr/>
          <p:nvPr/>
        </p:nvCxnSpPr>
        <p:spPr>
          <a:xfrm>
            <a:off x="2469032" y="2706624"/>
            <a:ext cx="310896" cy="0"/>
          </a:xfrm>
          <a:prstGeom prst="line">
            <a:avLst/>
          </a:prstGeom>
          <a:ln w="25400">
            <a:solidFill>
              <a:srgbClr val="1E65FF"/>
            </a:solidFill>
          </a:ln>
        </p:spPr>
        <p:style>
          <a:lnRef idx="2">
            <a:schemeClr val="accent1"/>
          </a:lnRef>
          <a:fillRef idx="0">
            <a:schemeClr val="accent1"/>
          </a:fillRef>
          <a:effectRef idx="1">
            <a:schemeClr val="accent1"/>
          </a:effectRef>
          <a:fontRef idx="minor">
            <a:schemeClr val="tx1"/>
          </a:fontRef>
        </p:style>
      </p:cxnSp>
      <p:cxnSp>
        <p:nvCxnSpPr>
          <p:cNvPr id="17" name="Connector 9">
            <a:extLst>
              <a:ext uri="{FF2B5EF4-FFF2-40B4-BE49-F238E27FC236}">
                <a16:creationId xmlns:a16="http://schemas.microsoft.com/office/drawing/2014/main" id="{17F3615C-1315-5517-9FC5-E4CD9A48AC99}"/>
              </a:ext>
            </a:extLst>
          </p:cNvPr>
          <p:cNvCxnSpPr/>
          <p:nvPr/>
        </p:nvCxnSpPr>
        <p:spPr>
          <a:xfrm>
            <a:off x="4535576" y="2706624"/>
            <a:ext cx="310896" cy="0"/>
          </a:xfrm>
          <a:prstGeom prst="line">
            <a:avLst/>
          </a:prstGeom>
          <a:ln w="25400">
            <a:solidFill>
              <a:srgbClr val="1E65FF"/>
            </a:solidFill>
          </a:ln>
        </p:spPr>
        <p:style>
          <a:lnRef idx="2">
            <a:schemeClr val="accent1"/>
          </a:lnRef>
          <a:fillRef idx="0">
            <a:schemeClr val="accent1"/>
          </a:fillRef>
          <a:effectRef idx="1">
            <a:schemeClr val="accent1"/>
          </a:effectRef>
          <a:fontRef idx="minor">
            <a:schemeClr val="tx1"/>
          </a:fontRef>
        </p:style>
      </p:cxnSp>
      <p:cxnSp>
        <p:nvCxnSpPr>
          <p:cNvPr id="18" name="Connector 10">
            <a:extLst>
              <a:ext uri="{FF2B5EF4-FFF2-40B4-BE49-F238E27FC236}">
                <a16:creationId xmlns:a16="http://schemas.microsoft.com/office/drawing/2014/main" id="{EF65EB90-773E-A5B8-0F1F-B96E61AC4B5D}"/>
              </a:ext>
            </a:extLst>
          </p:cNvPr>
          <p:cNvCxnSpPr/>
          <p:nvPr/>
        </p:nvCxnSpPr>
        <p:spPr>
          <a:xfrm>
            <a:off x="6602120" y="2706624"/>
            <a:ext cx="310896" cy="0"/>
          </a:xfrm>
          <a:prstGeom prst="line">
            <a:avLst/>
          </a:prstGeom>
          <a:ln w="25400">
            <a:solidFill>
              <a:srgbClr val="1E65FF"/>
            </a:solidFill>
          </a:ln>
        </p:spPr>
        <p:style>
          <a:lnRef idx="2">
            <a:schemeClr val="accent1"/>
          </a:lnRef>
          <a:fillRef idx="0">
            <a:schemeClr val="accent1"/>
          </a:fillRef>
          <a:effectRef idx="1">
            <a:schemeClr val="accent1"/>
          </a:effectRef>
          <a:fontRef idx="minor">
            <a:schemeClr val="tx1"/>
          </a:fontRef>
        </p:style>
      </p:cxnSp>
      <p:cxnSp>
        <p:nvCxnSpPr>
          <p:cNvPr id="19" name="Connector 11">
            <a:extLst>
              <a:ext uri="{FF2B5EF4-FFF2-40B4-BE49-F238E27FC236}">
                <a16:creationId xmlns:a16="http://schemas.microsoft.com/office/drawing/2014/main" id="{F5BD1907-ABA3-9441-3545-DD9F15B4F511}"/>
              </a:ext>
            </a:extLst>
          </p:cNvPr>
          <p:cNvCxnSpPr/>
          <p:nvPr/>
        </p:nvCxnSpPr>
        <p:spPr>
          <a:xfrm>
            <a:off x="8668664" y="2706624"/>
            <a:ext cx="310896" cy="0"/>
          </a:xfrm>
          <a:prstGeom prst="line">
            <a:avLst/>
          </a:prstGeom>
          <a:ln w="25400">
            <a:solidFill>
              <a:srgbClr val="1E65FF"/>
            </a:solidFill>
          </a:ln>
        </p:spPr>
        <p:style>
          <a:lnRef idx="2">
            <a:schemeClr val="accent1"/>
          </a:lnRef>
          <a:fillRef idx="0">
            <a:schemeClr val="accent1"/>
          </a:fillRef>
          <a:effectRef idx="1">
            <a:schemeClr val="accent1"/>
          </a:effectRef>
          <a:fontRef idx="minor">
            <a:schemeClr val="tx1"/>
          </a:fontRef>
        </p:style>
      </p:cxnSp>
      <p:sp>
        <p:nvSpPr>
          <p:cNvPr id="20" name="Rounded Rectangle 12">
            <a:extLst>
              <a:ext uri="{FF2B5EF4-FFF2-40B4-BE49-F238E27FC236}">
                <a16:creationId xmlns:a16="http://schemas.microsoft.com/office/drawing/2014/main" id="{93580480-A93B-0A98-5D4A-D7FCB1386412}"/>
              </a:ext>
            </a:extLst>
          </p:cNvPr>
          <p:cNvSpPr/>
          <p:nvPr/>
        </p:nvSpPr>
        <p:spPr>
          <a:xfrm>
            <a:off x="713384" y="2002536"/>
            <a:ext cx="1755648" cy="932688"/>
          </a:xfrm>
          <a:prstGeom prst="roundRect">
            <a:avLst/>
          </a:prstGeom>
          <a:solidFill>
            <a:srgbClr val="E8F4FF"/>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46304" tIns="128016" rIns="146304" bIns="9144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1E65FF"/>
                </a:solidFill>
                <a:latin typeface="Aptos"/>
              </a:rPr>
              <a:t>Camera</a:t>
            </a:r>
          </a:p>
          <a:p>
            <a:pPr algn="ctr"/>
            <a:r>
              <a:rPr dirty="0">
                <a:solidFill>
                  <a:srgbClr val="505F70"/>
                </a:solidFill>
                <a:latin typeface="Aptos"/>
              </a:rPr>
              <a:t>Thu </a:t>
            </a:r>
            <a:r>
              <a:rPr dirty="0" err="1">
                <a:solidFill>
                  <a:srgbClr val="505F70"/>
                </a:solidFill>
                <a:latin typeface="Aptos"/>
              </a:rPr>
              <a:t>hình</a:t>
            </a:r>
            <a:r>
              <a:rPr dirty="0">
                <a:solidFill>
                  <a:srgbClr val="505F70"/>
                </a:solidFill>
                <a:latin typeface="Aptos"/>
              </a:rPr>
              <a:t> </a:t>
            </a:r>
            <a:r>
              <a:rPr dirty="0" err="1">
                <a:solidFill>
                  <a:srgbClr val="505F70"/>
                </a:solidFill>
                <a:latin typeface="Aptos"/>
              </a:rPr>
              <a:t>ảnh</a:t>
            </a:r>
            <a:r>
              <a:rPr dirty="0">
                <a:solidFill>
                  <a:srgbClr val="505F70"/>
                </a:solidFill>
                <a:latin typeface="Aptos"/>
              </a:rPr>
              <a:t>
</a:t>
            </a:r>
            <a:r>
              <a:rPr dirty="0" err="1">
                <a:solidFill>
                  <a:srgbClr val="505F70"/>
                </a:solidFill>
                <a:latin typeface="Aptos"/>
              </a:rPr>
              <a:t>sinh</a:t>
            </a:r>
            <a:r>
              <a:rPr dirty="0">
                <a:solidFill>
                  <a:srgbClr val="505F70"/>
                </a:solidFill>
                <a:latin typeface="Aptos"/>
              </a:rPr>
              <a:t> </a:t>
            </a:r>
            <a:r>
              <a:rPr dirty="0" err="1">
                <a:solidFill>
                  <a:srgbClr val="505F70"/>
                </a:solidFill>
                <a:latin typeface="Aptos"/>
              </a:rPr>
              <a:t>viên</a:t>
            </a:r>
            <a:endParaRPr dirty="0">
              <a:solidFill>
                <a:srgbClr val="505F70"/>
              </a:solidFill>
              <a:latin typeface="Aptos"/>
            </a:endParaRPr>
          </a:p>
        </p:txBody>
      </p:sp>
      <p:sp>
        <p:nvSpPr>
          <p:cNvPr id="21" name="Oval 20">
            <a:extLst>
              <a:ext uri="{FF2B5EF4-FFF2-40B4-BE49-F238E27FC236}">
                <a16:creationId xmlns:a16="http://schemas.microsoft.com/office/drawing/2014/main" id="{56B9102F-615C-CD81-37ED-C5BE69FC909E}"/>
              </a:ext>
            </a:extLst>
          </p:cNvPr>
          <p:cNvSpPr/>
          <p:nvPr/>
        </p:nvSpPr>
        <p:spPr>
          <a:xfrm>
            <a:off x="712637" y="1915391"/>
            <a:ext cx="292608" cy="292608"/>
          </a:xfrm>
          <a:prstGeom prst="ellipse">
            <a:avLst/>
          </a:prstGeom>
          <a:solidFill>
            <a:srgbClr val="1E65FF"/>
          </a:solidFill>
          <a:ln>
            <a:solidFill>
              <a:srgbClr val="1E65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FFFFFF"/>
                </a:solidFill>
                <a:latin typeface="Aptos"/>
              </a:rPr>
              <a:t>1</a:t>
            </a:r>
          </a:p>
        </p:txBody>
      </p:sp>
      <p:sp>
        <p:nvSpPr>
          <p:cNvPr id="22" name="Rounded Rectangle 14">
            <a:extLst>
              <a:ext uri="{FF2B5EF4-FFF2-40B4-BE49-F238E27FC236}">
                <a16:creationId xmlns:a16="http://schemas.microsoft.com/office/drawing/2014/main" id="{BA97DAA9-8FB3-E45A-613D-5140BCADBCA8}"/>
              </a:ext>
            </a:extLst>
          </p:cNvPr>
          <p:cNvSpPr/>
          <p:nvPr/>
        </p:nvSpPr>
        <p:spPr>
          <a:xfrm>
            <a:off x="2779928" y="2002536"/>
            <a:ext cx="1755648" cy="932688"/>
          </a:xfrm>
          <a:prstGeom prst="roundRect">
            <a:avLst/>
          </a:prstGeom>
          <a:solidFill>
            <a:srgbClr val="E6F8F0"/>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46304" tIns="128016" rIns="146304" bIns="9144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err="1">
                <a:solidFill>
                  <a:srgbClr val="1AAD6A"/>
                </a:solidFill>
                <a:latin typeface="Aptos"/>
              </a:rPr>
              <a:t>YuNet</a:t>
            </a:r>
            <a:endParaRPr b="1" dirty="0">
              <a:solidFill>
                <a:srgbClr val="1AAD6A"/>
              </a:solidFill>
              <a:latin typeface="Aptos"/>
            </a:endParaRPr>
          </a:p>
          <a:p>
            <a:pPr algn="ctr"/>
            <a:r>
              <a:rPr dirty="0" err="1">
                <a:solidFill>
                  <a:srgbClr val="505F70"/>
                </a:solidFill>
                <a:latin typeface="Aptos"/>
              </a:rPr>
              <a:t>Phát</a:t>
            </a:r>
            <a:r>
              <a:rPr dirty="0">
                <a:solidFill>
                  <a:srgbClr val="505F70"/>
                </a:solidFill>
                <a:latin typeface="Aptos"/>
              </a:rPr>
              <a:t> </a:t>
            </a:r>
            <a:r>
              <a:rPr dirty="0" err="1">
                <a:solidFill>
                  <a:srgbClr val="505F70"/>
                </a:solidFill>
                <a:latin typeface="Aptos"/>
              </a:rPr>
              <a:t>hiện</a:t>
            </a:r>
            <a:r>
              <a:rPr dirty="0">
                <a:solidFill>
                  <a:srgbClr val="505F70"/>
                </a:solidFill>
                <a:latin typeface="Aptos"/>
              </a:rPr>
              <a:t>
</a:t>
            </a:r>
            <a:r>
              <a:rPr dirty="0" err="1">
                <a:solidFill>
                  <a:srgbClr val="505F70"/>
                </a:solidFill>
                <a:latin typeface="Aptos"/>
              </a:rPr>
              <a:t>khuôn</a:t>
            </a:r>
            <a:r>
              <a:rPr dirty="0">
                <a:solidFill>
                  <a:srgbClr val="505F70"/>
                </a:solidFill>
                <a:latin typeface="Aptos"/>
              </a:rPr>
              <a:t> </a:t>
            </a:r>
            <a:r>
              <a:rPr dirty="0" err="1">
                <a:solidFill>
                  <a:srgbClr val="505F70"/>
                </a:solidFill>
                <a:latin typeface="Aptos"/>
              </a:rPr>
              <a:t>mặt</a:t>
            </a:r>
            <a:endParaRPr dirty="0">
              <a:solidFill>
                <a:srgbClr val="505F70"/>
              </a:solidFill>
              <a:latin typeface="Aptos"/>
            </a:endParaRPr>
          </a:p>
        </p:txBody>
      </p:sp>
      <p:sp>
        <p:nvSpPr>
          <p:cNvPr id="23" name="Oval 22">
            <a:extLst>
              <a:ext uri="{FF2B5EF4-FFF2-40B4-BE49-F238E27FC236}">
                <a16:creationId xmlns:a16="http://schemas.microsoft.com/office/drawing/2014/main" id="{CA964F37-E67D-0658-130A-E69EA7C6CB9E}"/>
              </a:ext>
            </a:extLst>
          </p:cNvPr>
          <p:cNvSpPr/>
          <p:nvPr/>
        </p:nvSpPr>
        <p:spPr>
          <a:xfrm>
            <a:off x="2787283" y="1929383"/>
            <a:ext cx="292608" cy="292608"/>
          </a:xfrm>
          <a:prstGeom prst="ellipse">
            <a:avLst/>
          </a:prstGeom>
          <a:solidFill>
            <a:srgbClr val="1AAD6A"/>
          </a:solidFill>
          <a:ln>
            <a:solidFill>
              <a:srgbClr val="1AAD6A"/>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FFFFFF"/>
                </a:solidFill>
                <a:latin typeface="Aptos"/>
              </a:rPr>
              <a:t>2</a:t>
            </a:r>
          </a:p>
        </p:txBody>
      </p:sp>
      <p:sp>
        <p:nvSpPr>
          <p:cNvPr id="24" name="Rounded Rectangle 16">
            <a:extLst>
              <a:ext uri="{FF2B5EF4-FFF2-40B4-BE49-F238E27FC236}">
                <a16:creationId xmlns:a16="http://schemas.microsoft.com/office/drawing/2014/main" id="{E878E51C-BF46-37BF-D10D-FF28ED405901}"/>
              </a:ext>
            </a:extLst>
          </p:cNvPr>
          <p:cNvSpPr/>
          <p:nvPr/>
        </p:nvSpPr>
        <p:spPr>
          <a:xfrm>
            <a:off x="4846472" y="2002536"/>
            <a:ext cx="1755648" cy="932688"/>
          </a:xfrm>
          <a:prstGeom prst="roundRect">
            <a:avLst/>
          </a:prstGeom>
          <a:solidFill>
            <a:srgbClr val="FFF6E6"/>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46304" tIns="128016" rIns="146304" bIns="9144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err="1">
                <a:solidFill>
                  <a:srgbClr val="F59E0B"/>
                </a:solidFill>
                <a:latin typeface="Aptos"/>
              </a:rPr>
              <a:t>SFace</a:t>
            </a:r>
            <a:endParaRPr b="1" dirty="0">
              <a:solidFill>
                <a:srgbClr val="F59E0B"/>
              </a:solidFill>
              <a:latin typeface="Aptos"/>
            </a:endParaRPr>
          </a:p>
          <a:p>
            <a:pPr algn="ctr"/>
            <a:r>
              <a:rPr dirty="0" err="1">
                <a:solidFill>
                  <a:srgbClr val="505F70"/>
                </a:solidFill>
                <a:latin typeface="Aptos"/>
              </a:rPr>
              <a:t>Trích</a:t>
            </a:r>
            <a:r>
              <a:rPr dirty="0">
                <a:solidFill>
                  <a:srgbClr val="505F70"/>
                </a:solidFill>
                <a:latin typeface="Aptos"/>
              </a:rPr>
              <a:t> </a:t>
            </a:r>
            <a:r>
              <a:rPr dirty="0" err="1">
                <a:solidFill>
                  <a:srgbClr val="505F70"/>
                </a:solidFill>
                <a:latin typeface="Aptos"/>
              </a:rPr>
              <a:t>xuất</a:t>
            </a:r>
            <a:r>
              <a:rPr dirty="0">
                <a:solidFill>
                  <a:srgbClr val="505F70"/>
                </a:solidFill>
                <a:latin typeface="Aptos"/>
              </a:rPr>
              <a:t>
vector</a:t>
            </a:r>
          </a:p>
        </p:txBody>
      </p:sp>
      <p:sp>
        <p:nvSpPr>
          <p:cNvPr id="25" name="Oval 24">
            <a:extLst>
              <a:ext uri="{FF2B5EF4-FFF2-40B4-BE49-F238E27FC236}">
                <a16:creationId xmlns:a16="http://schemas.microsoft.com/office/drawing/2014/main" id="{7477B887-E5CC-E094-CB94-A2B04954F178}"/>
              </a:ext>
            </a:extLst>
          </p:cNvPr>
          <p:cNvSpPr/>
          <p:nvPr/>
        </p:nvSpPr>
        <p:spPr>
          <a:xfrm>
            <a:off x="4861929" y="1906524"/>
            <a:ext cx="292608" cy="29260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FFFFFF"/>
                </a:solidFill>
                <a:latin typeface="Aptos"/>
              </a:rPr>
              <a:t>3</a:t>
            </a:r>
          </a:p>
        </p:txBody>
      </p:sp>
      <p:sp>
        <p:nvSpPr>
          <p:cNvPr id="26" name="Rounded Rectangle 18">
            <a:extLst>
              <a:ext uri="{FF2B5EF4-FFF2-40B4-BE49-F238E27FC236}">
                <a16:creationId xmlns:a16="http://schemas.microsoft.com/office/drawing/2014/main" id="{45DC9F49-2859-48AE-359D-1B46D7584A5B}"/>
              </a:ext>
            </a:extLst>
          </p:cNvPr>
          <p:cNvSpPr/>
          <p:nvPr/>
        </p:nvSpPr>
        <p:spPr>
          <a:xfrm>
            <a:off x="6913016" y="2002536"/>
            <a:ext cx="1755648" cy="932688"/>
          </a:xfrm>
          <a:prstGeom prst="roundRect">
            <a:avLst/>
          </a:prstGeom>
          <a:solidFill>
            <a:srgbClr val="E8F4FF"/>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46304" tIns="128016" rIns="146304" bIns="9144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1E65FF"/>
                </a:solidFill>
                <a:latin typeface="Aptos"/>
              </a:rPr>
              <a:t>Database</a:t>
            </a:r>
          </a:p>
          <a:p>
            <a:pPr algn="ctr"/>
            <a:r>
              <a:rPr dirty="0">
                <a:solidFill>
                  <a:srgbClr val="505F70"/>
                </a:solidFill>
                <a:latin typeface="Aptos"/>
              </a:rPr>
              <a:t>So </a:t>
            </a:r>
            <a:r>
              <a:rPr dirty="0" err="1">
                <a:solidFill>
                  <a:srgbClr val="505F70"/>
                </a:solidFill>
                <a:latin typeface="Aptos"/>
              </a:rPr>
              <a:t>khớp</a:t>
            </a:r>
            <a:r>
              <a:rPr dirty="0">
                <a:solidFill>
                  <a:srgbClr val="505F70"/>
                </a:solidFill>
                <a:latin typeface="Aptos"/>
              </a:rPr>
              <a:t>
</a:t>
            </a:r>
            <a:r>
              <a:rPr dirty="0" err="1">
                <a:solidFill>
                  <a:srgbClr val="505F70"/>
                </a:solidFill>
                <a:latin typeface="Aptos"/>
              </a:rPr>
              <a:t>đặc</a:t>
            </a:r>
            <a:r>
              <a:rPr dirty="0">
                <a:solidFill>
                  <a:srgbClr val="505F70"/>
                </a:solidFill>
                <a:latin typeface="Aptos"/>
              </a:rPr>
              <a:t> </a:t>
            </a:r>
            <a:r>
              <a:rPr dirty="0" err="1">
                <a:solidFill>
                  <a:srgbClr val="505F70"/>
                </a:solidFill>
                <a:latin typeface="Aptos"/>
              </a:rPr>
              <a:t>trưng</a:t>
            </a:r>
            <a:endParaRPr dirty="0">
              <a:solidFill>
                <a:srgbClr val="505F70"/>
              </a:solidFill>
              <a:latin typeface="Aptos"/>
            </a:endParaRPr>
          </a:p>
        </p:txBody>
      </p:sp>
      <p:sp>
        <p:nvSpPr>
          <p:cNvPr id="27" name="Oval 26">
            <a:extLst>
              <a:ext uri="{FF2B5EF4-FFF2-40B4-BE49-F238E27FC236}">
                <a16:creationId xmlns:a16="http://schemas.microsoft.com/office/drawing/2014/main" id="{E7E6C2C9-8D79-801A-41A5-2756549674CA}"/>
              </a:ext>
            </a:extLst>
          </p:cNvPr>
          <p:cNvSpPr/>
          <p:nvPr/>
        </p:nvSpPr>
        <p:spPr>
          <a:xfrm>
            <a:off x="6910229" y="1965961"/>
            <a:ext cx="292608" cy="292608"/>
          </a:xfrm>
          <a:prstGeom prst="ellipse">
            <a:avLst/>
          </a:prstGeom>
          <a:solidFill>
            <a:srgbClr val="1E65FF"/>
          </a:solidFill>
          <a:ln>
            <a:solidFill>
              <a:srgbClr val="1E65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FFFFFF"/>
                </a:solidFill>
                <a:latin typeface="Aptos"/>
              </a:rPr>
              <a:t>4</a:t>
            </a:r>
          </a:p>
        </p:txBody>
      </p:sp>
      <p:sp>
        <p:nvSpPr>
          <p:cNvPr id="28" name="Rounded Rectangle 20">
            <a:extLst>
              <a:ext uri="{FF2B5EF4-FFF2-40B4-BE49-F238E27FC236}">
                <a16:creationId xmlns:a16="http://schemas.microsoft.com/office/drawing/2014/main" id="{1942D0FE-B5BE-3C4D-8459-4C0229F3A8AC}"/>
              </a:ext>
            </a:extLst>
          </p:cNvPr>
          <p:cNvSpPr/>
          <p:nvPr/>
        </p:nvSpPr>
        <p:spPr>
          <a:xfrm>
            <a:off x="8979560" y="2002536"/>
            <a:ext cx="1755648" cy="932688"/>
          </a:xfrm>
          <a:prstGeom prst="roundRect">
            <a:avLst/>
          </a:prstGeom>
          <a:solidFill>
            <a:srgbClr val="FFF0F0"/>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46304" tIns="128016" rIns="146304" bIns="9144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1700" b="1" dirty="0">
                <a:solidFill>
                  <a:srgbClr val="EF4444"/>
                </a:solidFill>
                <a:latin typeface="Aptos"/>
              </a:rPr>
              <a:t>CSV</a:t>
            </a:r>
          </a:p>
          <a:p>
            <a:pPr algn="ctr"/>
            <a:r>
              <a:rPr sz="1700" dirty="0" err="1">
                <a:solidFill>
                  <a:srgbClr val="505F70"/>
                </a:solidFill>
                <a:latin typeface="Aptos"/>
              </a:rPr>
              <a:t>Ghi</a:t>
            </a:r>
            <a:r>
              <a:rPr sz="1700" dirty="0">
                <a:solidFill>
                  <a:srgbClr val="505F70"/>
                </a:solidFill>
                <a:latin typeface="Aptos"/>
              </a:rPr>
              <a:t> </a:t>
            </a:r>
            <a:r>
              <a:rPr sz="1700" dirty="0" err="1">
                <a:solidFill>
                  <a:srgbClr val="505F70"/>
                </a:solidFill>
                <a:latin typeface="Aptos"/>
              </a:rPr>
              <a:t>điểm</a:t>
            </a:r>
            <a:r>
              <a:rPr sz="1700" dirty="0">
                <a:solidFill>
                  <a:srgbClr val="505F70"/>
                </a:solidFill>
                <a:latin typeface="Aptos"/>
              </a:rPr>
              <a:t> </a:t>
            </a:r>
            <a:r>
              <a:rPr sz="1700" dirty="0" err="1">
                <a:solidFill>
                  <a:srgbClr val="505F70"/>
                </a:solidFill>
                <a:latin typeface="Aptos"/>
              </a:rPr>
              <a:t>danh</a:t>
            </a:r>
            <a:r>
              <a:rPr sz="1700" dirty="0">
                <a:solidFill>
                  <a:srgbClr val="505F70"/>
                </a:solidFill>
                <a:latin typeface="Aptos"/>
              </a:rPr>
              <a:t>
</a:t>
            </a:r>
            <a:r>
              <a:rPr sz="1700" dirty="0" err="1">
                <a:solidFill>
                  <a:srgbClr val="505F70"/>
                </a:solidFill>
                <a:latin typeface="Aptos"/>
              </a:rPr>
              <a:t>tự</a:t>
            </a:r>
            <a:r>
              <a:rPr sz="1700" dirty="0">
                <a:solidFill>
                  <a:srgbClr val="505F70"/>
                </a:solidFill>
                <a:latin typeface="Aptos"/>
              </a:rPr>
              <a:t> </a:t>
            </a:r>
            <a:r>
              <a:rPr sz="1700" dirty="0" err="1">
                <a:solidFill>
                  <a:srgbClr val="505F70"/>
                </a:solidFill>
                <a:latin typeface="Aptos"/>
              </a:rPr>
              <a:t>động</a:t>
            </a:r>
            <a:endParaRPr sz="1700" dirty="0">
              <a:solidFill>
                <a:srgbClr val="505F70"/>
              </a:solidFill>
              <a:latin typeface="Aptos"/>
            </a:endParaRPr>
          </a:p>
        </p:txBody>
      </p:sp>
      <p:sp>
        <p:nvSpPr>
          <p:cNvPr id="29" name="Oval 28">
            <a:extLst>
              <a:ext uri="{FF2B5EF4-FFF2-40B4-BE49-F238E27FC236}">
                <a16:creationId xmlns:a16="http://schemas.microsoft.com/office/drawing/2014/main" id="{AB5FAFAE-4A7F-7C77-11E6-835D90A43ABC}"/>
              </a:ext>
            </a:extLst>
          </p:cNvPr>
          <p:cNvSpPr/>
          <p:nvPr/>
        </p:nvSpPr>
        <p:spPr>
          <a:xfrm>
            <a:off x="8976692" y="1925228"/>
            <a:ext cx="292608" cy="29260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b="1" dirty="0">
                <a:solidFill>
                  <a:srgbClr val="FFFFFF"/>
                </a:solidFill>
                <a:latin typeface="Aptos"/>
              </a:rPr>
              <a:t>5</a:t>
            </a:r>
          </a:p>
        </p:txBody>
      </p:sp>
      <p:sp>
        <p:nvSpPr>
          <p:cNvPr id="30" name="Rounded Rectangle 22">
            <a:extLst>
              <a:ext uri="{FF2B5EF4-FFF2-40B4-BE49-F238E27FC236}">
                <a16:creationId xmlns:a16="http://schemas.microsoft.com/office/drawing/2014/main" id="{61B1F051-ECA0-D9E8-53EB-CE731873BCF4}"/>
              </a:ext>
            </a:extLst>
          </p:cNvPr>
          <p:cNvSpPr/>
          <p:nvPr/>
        </p:nvSpPr>
        <p:spPr>
          <a:xfrm>
            <a:off x="390640" y="3639311"/>
            <a:ext cx="4793285" cy="1559329"/>
          </a:xfrm>
          <a:prstGeom prst="roundRect">
            <a:avLst/>
          </a:prstGeom>
          <a:solidFill>
            <a:srgbClr val="F8FCFF"/>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500" b="1" dirty="0">
                <a:solidFill>
                  <a:srgbClr val="1E65FF"/>
                </a:solidFill>
                <a:latin typeface="Aptos"/>
              </a:rPr>
              <a:t>Quy </a:t>
            </a:r>
            <a:r>
              <a:rPr sz="1500" b="1" dirty="0" err="1">
                <a:solidFill>
                  <a:srgbClr val="1E65FF"/>
                </a:solidFill>
                <a:latin typeface="Aptos"/>
              </a:rPr>
              <a:t>trình</a:t>
            </a:r>
            <a:r>
              <a:rPr sz="1500" b="1" dirty="0">
                <a:solidFill>
                  <a:srgbClr val="1E65FF"/>
                </a:solidFill>
                <a:latin typeface="Aptos"/>
              </a:rPr>
              <a:t> </a:t>
            </a:r>
            <a:r>
              <a:rPr sz="1500" b="1" dirty="0" err="1">
                <a:solidFill>
                  <a:srgbClr val="1E65FF"/>
                </a:solidFill>
                <a:latin typeface="Aptos"/>
              </a:rPr>
              <a:t>xử</a:t>
            </a:r>
            <a:r>
              <a:rPr sz="1500" b="1" dirty="0">
                <a:solidFill>
                  <a:srgbClr val="1E65FF"/>
                </a:solidFill>
                <a:latin typeface="Aptos"/>
              </a:rPr>
              <a:t> </a:t>
            </a:r>
            <a:r>
              <a:rPr sz="1500" b="1" dirty="0" err="1">
                <a:solidFill>
                  <a:srgbClr val="1E65FF"/>
                </a:solidFill>
                <a:latin typeface="Aptos"/>
              </a:rPr>
              <a:t>lý</a:t>
            </a:r>
            <a:r>
              <a:rPr sz="1500" b="1" dirty="0">
                <a:solidFill>
                  <a:srgbClr val="1E65FF"/>
                </a:solidFill>
                <a:latin typeface="Aptos"/>
              </a:rPr>
              <a:t> </a:t>
            </a:r>
            <a:r>
              <a:rPr sz="1500" b="1" dirty="0" err="1">
                <a:solidFill>
                  <a:srgbClr val="1E65FF"/>
                </a:solidFill>
                <a:latin typeface="Aptos"/>
              </a:rPr>
              <a:t>chính</a:t>
            </a:r>
            <a:endParaRPr sz="1500" b="1" dirty="0">
              <a:solidFill>
                <a:srgbClr val="1E65FF"/>
              </a:solidFill>
              <a:latin typeface="Aptos"/>
            </a:endParaRPr>
          </a:p>
          <a:p>
            <a:r>
              <a:rPr sz="1500" dirty="0">
                <a:solidFill>
                  <a:srgbClr val="111827"/>
                </a:solidFill>
                <a:latin typeface="Aptos"/>
              </a:rPr>
              <a:t>• </a:t>
            </a:r>
            <a:r>
              <a:rPr sz="1500" dirty="0" err="1">
                <a:solidFill>
                  <a:srgbClr val="111827"/>
                </a:solidFill>
                <a:latin typeface="Aptos"/>
              </a:rPr>
              <a:t>Ảnh</a:t>
            </a:r>
            <a:r>
              <a:rPr sz="1500" dirty="0">
                <a:solidFill>
                  <a:srgbClr val="111827"/>
                </a:solidFill>
                <a:latin typeface="Aptos"/>
              </a:rPr>
              <a:t> </a:t>
            </a:r>
            <a:r>
              <a:rPr sz="1500" dirty="0" err="1">
                <a:solidFill>
                  <a:srgbClr val="111827"/>
                </a:solidFill>
                <a:latin typeface="Aptos"/>
              </a:rPr>
              <a:t>từ</a:t>
            </a:r>
            <a:r>
              <a:rPr sz="1500" dirty="0">
                <a:solidFill>
                  <a:srgbClr val="111827"/>
                </a:solidFill>
                <a:latin typeface="Aptos"/>
              </a:rPr>
              <a:t> webcam </a:t>
            </a:r>
            <a:r>
              <a:rPr sz="1500" dirty="0" err="1">
                <a:solidFill>
                  <a:srgbClr val="111827"/>
                </a:solidFill>
                <a:latin typeface="Aptos"/>
              </a:rPr>
              <a:t>được</a:t>
            </a:r>
            <a:r>
              <a:rPr sz="1500" dirty="0">
                <a:solidFill>
                  <a:srgbClr val="111827"/>
                </a:solidFill>
                <a:latin typeface="Aptos"/>
              </a:rPr>
              <a:t> </a:t>
            </a:r>
            <a:r>
              <a:rPr sz="1500" dirty="0" err="1">
                <a:solidFill>
                  <a:srgbClr val="111827"/>
                </a:solidFill>
                <a:latin typeface="Aptos"/>
              </a:rPr>
              <a:t>phát</a:t>
            </a:r>
            <a:r>
              <a:rPr sz="1500" dirty="0">
                <a:solidFill>
                  <a:srgbClr val="111827"/>
                </a:solidFill>
                <a:latin typeface="Aptos"/>
              </a:rPr>
              <a:t> </a:t>
            </a:r>
            <a:r>
              <a:rPr sz="1500" dirty="0" err="1">
                <a:solidFill>
                  <a:srgbClr val="111827"/>
                </a:solidFill>
                <a:latin typeface="Aptos"/>
              </a:rPr>
              <a:t>hiện</a:t>
            </a:r>
            <a:r>
              <a:rPr sz="1500" dirty="0">
                <a:solidFill>
                  <a:srgbClr val="111827"/>
                </a:solidFill>
                <a:latin typeface="Aptos"/>
              </a:rPr>
              <a:t> </a:t>
            </a:r>
            <a:r>
              <a:rPr sz="1500" dirty="0" err="1">
                <a:solidFill>
                  <a:srgbClr val="111827"/>
                </a:solidFill>
                <a:latin typeface="Aptos"/>
              </a:rPr>
              <a:t>khuôn</a:t>
            </a:r>
            <a:r>
              <a:rPr sz="1500" dirty="0">
                <a:solidFill>
                  <a:srgbClr val="111827"/>
                </a:solidFill>
                <a:latin typeface="Aptos"/>
              </a:rPr>
              <a:t> </a:t>
            </a:r>
            <a:r>
              <a:rPr sz="1500" dirty="0" err="1">
                <a:solidFill>
                  <a:srgbClr val="111827"/>
                </a:solidFill>
                <a:latin typeface="Aptos"/>
              </a:rPr>
              <a:t>mặt</a:t>
            </a:r>
            <a:r>
              <a:rPr sz="1500" dirty="0">
                <a:solidFill>
                  <a:srgbClr val="111827"/>
                </a:solidFill>
                <a:latin typeface="Aptos"/>
              </a:rPr>
              <a:t> </a:t>
            </a:r>
            <a:r>
              <a:rPr sz="1500" dirty="0" err="1">
                <a:solidFill>
                  <a:srgbClr val="111827"/>
                </a:solidFill>
                <a:latin typeface="Aptos"/>
              </a:rPr>
              <a:t>bằng</a:t>
            </a:r>
            <a:r>
              <a:rPr sz="1500" dirty="0">
                <a:solidFill>
                  <a:srgbClr val="111827"/>
                </a:solidFill>
                <a:latin typeface="Aptos"/>
              </a:rPr>
              <a:t> </a:t>
            </a:r>
            <a:r>
              <a:rPr sz="1500" dirty="0" err="1">
                <a:solidFill>
                  <a:srgbClr val="111827"/>
                </a:solidFill>
                <a:latin typeface="Aptos"/>
              </a:rPr>
              <a:t>YuNet</a:t>
            </a:r>
            <a:r>
              <a:rPr sz="1500" dirty="0">
                <a:solidFill>
                  <a:srgbClr val="111827"/>
                </a:solidFill>
                <a:latin typeface="Aptos"/>
              </a:rPr>
              <a:t>.</a:t>
            </a:r>
          </a:p>
          <a:p>
            <a:r>
              <a:rPr sz="1500" dirty="0">
                <a:solidFill>
                  <a:srgbClr val="111827"/>
                </a:solidFill>
                <a:latin typeface="Aptos"/>
              </a:rPr>
              <a:t>• </a:t>
            </a:r>
            <a:r>
              <a:rPr sz="1500" dirty="0" err="1">
                <a:solidFill>
                  <a:srgbClr val="111827"/>
                </a:solidFill>
                <a:latin typeface="Aptos"/>
              </a:rPr>
              <a:t>SFace</a:t>
            </a:r>
            <a:r>
              <a:rPr sz="1500" dirty="0">
                <a:solidFill>
                  <a:srgbClr val="111827"/>
                </a:solidFill>
                <a:latin typeface="Aptos"/>
              </a:rPr>
              <a:t> </a:t>
            </a:r>
            <a:r>
              <a:rPr sz="1500" dirty="0" err="1">
                <a:solidFill>
                  <a:srgbClr val="111827"/>
                </a:solidFill>
                <a:latin typeface="Aptos"/>
              </a:rPr>
              <a:t>chuyển</a:t>
            </a:r>
            <a:r>
              <a:rPr sz="1500" dirty="0">
                <a:solidFill>
                  <a:srgbClr val="111827"/>
                </a:solidFill>
                <a:latin typeface="Aptos"/>
              </a:rPr>
              <a:t> </a:t>
            </a:r>
            <a:r>
              <a:rPr sz="1500" dirty="0" err="1">
                <a:solidFill>
                  <a:srgbClr val="111827"/>
                </a:solidFill>
                <a:latin typeface="Aptos"/>
              </a:rPr>
              <a:t>khuôn</a:t>
            </a:r>
            <a:r>
              <a:rPr sz="1500" dirty="0">
                <a:solidFill>
                  <a:srgbClr val="111827"/>
                </a:solidFill>
                <a:latin typeface="Aptos"/>
              </a:rPr>
              <a:t> </a:t>
            </a:r>
            <a:r>
              <a:rPr sz="1500" dirty="0" err="1">
                <a:solidFill>
                  <a:srgbClr val="111827"/>
                </a:solidFill>
                <a:latin typeface="Aptos"/>
              </a:rPr>
              <a:t>mặt</a:t>
            </a:r>
            <a:r>
              <a:rPr sz="1500" dirty="0">
                <a:solidFill>
                  <a:srgbClr val="111827"/>
                </a:solidFill>
                <a:latin typeface="Aptos"/>
              </a:rPr>
              <a:t> </a:t>
            </a:r>
            <a:r>
              <a:rPr sz="1500" dirty="0" err="1">
                <a:solidFill>
                  <a:srgbClr val="111827"/>
                </a:solidFill>
                <a:latin typeface="Aptos"/>
              </a:rPr>
              <a:t>thành</a:t>
            </a:r>
            <a:r>
              <a:rPr sz="1500" dirty="0">
                <a:solidFill>
                  <a:srgbClr val="111827"/>
                </a:solidFill>
                <a:latin typeface="Aptos"/>
              </a:rPr>
              <a:t> vector </a:t>
            </a:r>
            <a:r>
              <a:rPr sz="1500" dirty="0" err="1">
                <a:solidFill>
                  <a:srgbClr val="111827"/>
                </a:solidFill>
                <a:latin typeface="Aptos"/>
              </a:rPr>
              <a:t>đặc</a:t>
            </a:r>
            <a:r>
              <a:rPr sz="1500" dirty="0">
                <a:solidFill>
                  <a:srgbClr val="111827"/>
                </a:solidFill>
                <a:latin typeface="Aptos"/>
              </a:rPr>
              <a:t> </a:t>
            </a:r>
            <a:r>
              <a:rPr sz="1500" dirty="0" err="1">
                <a:solidFill>
                  <a:srgbClr val="111827"/>
                </a:solidFill>
                <a:latin typeface="Aptos"/>
              </a:rPr>
              <a:t>trưng</a:t>
            </a:r>
            <a:r>
              <a:rPr sz="1500" dirty="0">
                <a:solidFill>
                  <a:srgbClr val="111827"/>
                </a:solidFill>
                <a:latin typeface="Aptos"/>
              </a:rPr>
              <a:t>.</a:t>
            </a:r>
          </a:p>
          <a:p>
            <a:r>
              <a:rPr sz="1500" dirty="0">
                <a:solidFill>
                  <a:srgbClr val="111827"/>
                </a:solidFill>
                <a:latin typeface="Aptos"/>
              </a:rPr>
              <a:t>• Vector </a:t>
            </a:r>
            <a:r>
              <a:rPr sz="1500" dirty="0" err="1">
                <a:solidFill>
                  <a:srgbClr val="111827"/>
                </a:solidFill>
                <a:latin typeface="Aptos"/>
              </a:rPr>
              <a:t>mới</a:t>
            </a:r>
            <a:r>
              <a:rPr sz="1500" dirty="0">
                <a:solidFill>
                  <a:srgbClr val="111827"/>
                </a:solidFill>
                <a:latin typeface="Aptos"/>
              </a:rPr>
              <a:t> </a:t>
            </a:r>
            <a:r>
              <a:rPr sz="1500" dirty="0" err="1">
                <a:solidFill>
                  <a:srgbClr val="111827"/>
                </a:solidFill>
                <a:latin typeface="Aptos"/>
              </a:rPr>
              <a:t>được</a:t>
            </a:r>
            <a:r>
              <a:rPr sz="1500" dirty="0">
                <a:solidFill>
                  <a:srgbClr val="111827"/>
                </a:solidFill>
                <a:latin typeface="Aptos"/>
              </a:rPr>
              <a:t> so </a:t>
            </a:r>
            <a:r>
              <a:rPr sz="1500" dirty="0" err="1">
                <a:solidFill>
                  <a:srgbClr val="111827"/>
                </a:solidFill>
                <a:latin typeface="Aptos"/>
              </a:rPr>
              <a:t>khớp</a:t>
            </a:r>
            <a:r>
              <a:rPr sz="1500" dirty="0">
                <a:solidFill>
                  <a:srgbClr val="111827"/>
                </a:solidFill>
                <a:latin typeface="Aptos"/>
              </a:rPr>
              <a:t> </a:t>
            </a:r>
            <a:r>
              <a:rPr sz="1500" dirty="0" err="1">
                <a:solidFill>
                  <a:srgbClr val="111827"/>
                </a:solidFill>
                <a:latin typeface="Aptos"/>
              </a:rPr>
              <a:t>với</a:t>
            </a:r>
            <a:r>
              <a:rPr sz="1500" dirty="0">
                <a:solidFill>
                  <a:srgbClr val="111827"/>
                </a:solidFill>
                <a:latin typeface="Aptos"/>
              </a:rPr>
              <a:t> database </a:t>
            </a:r>
            <a:r>
              <a:rPr sz="1500" dirty="0" err="1">
                <a:solidFill>
                  <a:srgbClr val="111827"/>
                </a:solidFill>
                <a:latin typeface="Aptos"/>
              </a:rPr>
              <a:t>để</a:t>
            </a:r>
            <a:r>
              <a:rPr sz="1500" dirty="0">
                <a:solidFill>
                  <a:srgbClr val="111827"/>
                </a:solidFill>
                <a:latin typeface="Aptos"/>
              </a:rPr>
              <a:t> </a:t>
            </a:r>
            <a:r>
              <a:rPr sz="1500" dirty="0" err="1">
                <a:solidFill>
                  <a:srgbClr val="111827"/>
                </a:solidFill>
                <a:latin typeface="Aptos"/>
              </a:rPr>
              <a:t>xác</a:t>
            </a:r>
            <a:r>
              <a:rPr sz="1500" dirty="0">
                <a:solidFill>
                  <a:srgbClr val="111827"/>
                </a:solidFill>
                <a:latin typeface="Aptos"/>
              </a:rPr>
              <a:t> </a:t>
            </a:r>
            <a:r>
              <a:rPr sz="1500" dirty="0" err="1">
                <a:solidFill>
                  <a:srgbClr val="111827"/>
                </a:solidFill>
                <a:latin typeface="Aptos"/>
              </a:rPr>
              <a:t>định</a:t>
            </a:r>
            <a:r>
              <a:rPr sz="1500" dirty="0">
                <a:solidFill>
                  <a:srgbClr val="111827"/>
                </a:solidFill>
                <a:latin typeface="Aptos"/>
              </a:rPr>
              <a:t> </a:t>
            </a:r>
            <a:r>
              <a:rPr sz="1500" dirty="0" err="1">
                <a:solidFill>
                  <a:srgbClr val="111827"/>
                </a:solidFill>
                <a:latin typeface="Aptos"/>
              </a:rPr>
              <a:t>sinh</a:t>
            </a:r>
            <a:r>
              <a:rPr sz="1500" dirty="0">
                <a:solidFill>
                  <a:srgbClr val="111827"/>
                </a:solidFill>
                <a:latin typeface="Aptos"/>
              </a:rPr>
              <a:t> </a:t>
            </a:r>
            <a:r>
              <a:rPr sz="1500" dirty="0" err="1">
                <a:solidFill>
                  <a:srgbClr val="111827"/>
                </a:solidFill>
                <a:latin typeface="Aptos"/>
              </a:rPr>
              <a:t>viên</a:t>
            </a:r>
            <a:r>
              <a:rPr sz="1100" dirty="0">
                <a:solidFill>
                  <a:srgbClr val="111827"/>
                </a:solidFill>
                <a:latin typeface="Aptos"/>
              </a:rPr>
              <a:t>.</a:t>
            </a:r>
          </a:p>
        </p:txBody>
      </p:sp>
      <p:sp>
        <p:nvSpPr>
          <p:cNvPr id="31" name="Rounded Rectangle 23">
            <a:extLst>
              <a:ext uri="{FF2B5EF4-FFF2-40B4-BE49-F238E27FC236}">
                <a16:creationId xmlns:a16="http://schemas.microsoft.com/office/drawing/2014/main" id="{126573DA-0369-279A-A8A3-018F9B437902}"/>
              </a:ext>
            </a:extLst>
          </p:cNvPr>
          <p:cNvSpPr/>
          <p:nvPr/>
        </p:nvSpPr>
        <p:spPr>
          <a:xfrm>
            <a:off x="5941923" y="3557849"/>
            <a:ext cx="5065776" cy="1623336"/>
          </a:xfrm>
          <a:prstGeom prst="roundRect">
            <a:avLst/>
          </a:prstGeom>
          <a:solidFill>
            <a:srgbClr val="F7FAFF"/>
          </a:solidFill>
          <a:ln w="12700">
            <a:solidFill>
              <a:srgbClr val="C3D8EB"/>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500" b="1" dirty="0" err="1">
                <a:solidFill>
                  <a:srgbClr val="1E65FF"/>
                </a:solidFill>
                <a:latin typeface="Aptos"/>
              </a:rPr>
              <a:t>Điều</a:t>
            </a:r>
            <a:r>
              <a:rPr sz="1500" b="1" dirty="0">
                <a:solidFill>
                  <a:srgbClr val="1E65FF"/>
                </a:solidFill>
                <a:latin typeface="Aptos"/>
              </a:rPr>
              <a:t> </a:t>
            </a:r>
            <a:r>
              <a:rPr sz="1500" b="1" dirty="0" err="1">
                <a:solidFill>
                  <a:srgbClr val="1E65FF"/>
                </a:solidFill>
                <a:latin typeface="Aptos"/>
              </a:rPr>
              <a:t>kiện</a:t>
            </a:r>
            <a:r>
              <a:rPr sz="1500" b="1" dirty="0">
                <a:solidFill>
                  <a:srgbClr val="1E65FF"/>
                </a:solidFill>
                <a:latin typeface="Aptos"/>
              </a:rPr>
              <a:t> </a:t>
            </a:r>
            <a:r>
              <a:rPr sz="1500" b="1" dirty="0" err="1">
                <a:solidFill>
                  <a:srgbClr val="1E65FF"/>
                </a:solidFill>
                <a:latin typeface="Aptos"/>
              </a:rPr>
              <a:t>nhận</a:t>
            </a:r>
            <a:r>
              <a:rPr sz="1500" b="1" dirty="0">
                <a:solidFill>
                  <a:srgbClr val="1E65FF"/>
                </a:solidFill>
                <a:latin typeface="Aptos"/>
              </a:rPr>
              <a:t> </a:t>
            </a:r>
            <a:r>
              <a:rPr sz="1500" b="1" dirty="0" err="1">
                <a:solidFill>
                  <a:srgbClr val="1E65FF"/>
                </a:solidFill>
                <a:latin typeface="Aptos"/>
              </a:rPr>
              <a:t>diện</a:t>
            </a:r>
            <a:endParaRPr sz="1500" b="1" dirty="0">
              <a:solidFill>
                <a:srgbClr val="1E65FF"/>
              </a:solidFill>
              <a:latin typeface="Aptos"/>
            </a:endParaRPr>
          </a:p>
          <a:p>
            <a:r>
              <a:rPr sz="1500" b="1" dirty="0">
                <a:solidFill>
                  <a:srgbClr val="111827"/>
                </a:solidFill>
                <a:latin typeface="Aptos"/>
              </a:rPr>
              <a:t>score ≥ threshold </a:t>
            </a:r>
            <a:r>
              <a:rPr sz="1500" b="1" dirty="0" err="1">
                <a:solidFill>
                  <a:srgbClr val="111827"/>
                </a:solidFill>
                <a:latin typeface="Aptos"/>
              </a:rPr>
              <a:t>và</a:t>
            </a:r>
            <a:r>
              <a:rPr sz="1500" b="1" dirty="0">
                <a:solidFill>
                  <a:srgbClr val="111827"/>
                </a:solidFill>
                <a:latin typeface="Aptos"/>
              </a:rPr>
              <a:t> margin </a:t>
            </a:r>
            <a:r>
              <a:rPr sz="1500" b="1" dirty="0" err="1">
                <a:solidFill>
                  <a:srgbClr val="111827"/>
                </a:solidFill>
                <a:latin typeface="Aptos"/>
              </a:rPr>
              <a:t>đủ</a:t>
            </a:r>
            <a:r>
              <a:rPr sz="1500" b="1" dirty="0">
                <a:solidFill>
                  <a:srgbClr val="111827"/>
                </a:solidFill>
                <a:latin typeface="Aptos"/>
              </a:rPr>
              <a:t> </a:t>
            </a:r>
            <a:r>
              <a:rPr sz="1500" b="1" dirty="0" err="1">
                <a:solidFill>
                  <a:srgbClr val="111827"/>
                </a:solidFill>
                <a:latin typeface="Aptos"/>
              </a:rPr>
              <a:t>lớn</a:t>
            </a:r>
            <a:r>
              <a:rPr sz="1500" b="1" dirty="0">
                <a:solidFill>
                  <a:srgbClr val="111827"/>
                </a:solidFill>
                <a:latin typeface="Aptos"/>
              </a:rPr>
              <a:t>  →  </a:t>
            </a:r>
            <a:r>
              <a:rPr sz="1500" b="1" dirty="0" err="1">
                <a:solidFill>
                  <a:srgbClr val="111827"/>
                </a:solidFill>
                <a:latin typeface="Aptos"/>
              </a:rPr>
              <a:t>nhận</a:t>
            </a:r>
            <a:r>
              <a:rPr sz="1500" b="1" dirty="0">
                <a:solidFill>
                  <a:srgbClr val="111827"/>
                </a:solidFill>
                <a:latin typeface="Aptos"/>
              </a:rPr>
              <a:t> </a:t>
            </a:r>
            <a:r>
              <a:rPr sz="1500" b="1" dirty="0" err="1">
                <a:solidFill>
                  <a:srgbClr val="111827"/>
                </a:solidFill>
                <a:latin typeface="Aptos"/>
              </a:rPr>
              <a:t>diện</a:t>
            </a:r>
            <a:r>
              <a:rPr sz="1500" b="1" dirty="0">
                <a:solidFill>
                  <a:srgbClr val="111827"/>
                </a:solidFill>
                <a:latin typeface="Aptos"/>
              </a:rPr>
              <a:t> </a:t>
            </a:r>
            <a:r>
              <a:rPr sz="1500" b="1" dirty="0" err="1">
                <a:solidFill>
                  <a:srgbClr val="111827"/>
                </a:solidFill>
                <a:latin typeface="Aptos"/>
              </a:rPr>
              <a:t>thành</a:t>
            </a:r>
            <a:r>
              <a:rPr sz="1500" b="1" dirty="0">
                <a:solidFill>
                  <a:srgbClr val="111827"/>
                </a:solidFill>
                <a:latin typeface="Aptos"/>
              </a:rPr>
              <a:t> </a:t>
            </a:r>
            <a:r>
              <a:rPr sz="1500" b="1" dirty="0" err="1">
                <a:solidFill>
                  <a:srgbClr val="111827"/>
                </a:solidFill>
                <a:latin typeface="Aptos"/>
              </a:rPr>
              <a:t>công</a:t>
            </a:r>
            <a:endParaRPr sz="1500" b="1" dirty="0">
              <a:solidFill>
                <a:srgbClr val="111827"/>
              </a:solidFill>
              <a:latin typeface="Aptos"/>
            </a:endParaRPr>
          </a:p>
          <a:p>
            <a:r>
              <a:rPr sz="1500" dirty="0" err="1">
                <a:solidFill>
                  <a:srgbClr val="505F70"/>
                </a:solidFill>
                <a:latin typeface="Aptos"/>
              </a:rPr>
              <a:t>Ngược</a:t>
            </a:r>
            <a:r>
              <a:rPr sz="1500" dirty="0">
                <a:solidFill>
                  <a:srgbClr val="505F70"/>
                </a:solidFill>
                <a:latin typeface="Aptos"/>
              </a:rPr>
              <a:t> </a:t>
            </a:r>
            <a:r>
              <a:rPr sz="1500" dirty="0" err="1">
                <a:solidFill>
                  <a:srgbClr val="505F70"/>
                </a:solidFill>
                <a:latin typeface="Aptos"/>
              </a:rPr>
              <a:t>lại</a:t>
            </a:r>
            <a:r>
              <a:rPr sz="1500" dirty="0">
                <a:solidFill>
                  <a:srgbClr val="505F70"/>
                </a:solidFill>
                <a:latin typeface="Aptos"/>
              </a:rPr>
              <a:t>, </a:t>
            </a:r>
            <a:r>
              <a:rPr sz="1500" dirty="0" err="1">
                <a:solidFill>
                  <a:srgbClr val="505F70"/>
                </a:solidFill>
                <a:latin typeface="Aptos"/>
              </a:rPr>
              <a:t>hệ</a:t>
            </a:r>
            <a:r>
              <a:rPr sz="1500" dirty="0">
                <a:solidFill>
                  <a:srgbClr val="505F70"/>
                </a:solidFill>
                <a:latin typeface="Aptos"/>
              </a:rPr>
              <a:t> </a:t>
            </a:r>
            <a:r>
              <a:rPr sz="1500" dirty="0" err="1">
                <a:solidFill>
                  <a:srgbClr val="505F70"/>
                </a:solidFill>
                <a:latin typeface="Aptos"/>
              </a:rPr>
              <a:t>thống</a:t>
            </a:r>
            <a:r>
              <a:rPr sz="1500" dirty="0">
                <a:solidFill>
                  <a:srgbClr val="505F70"/>
                </a:solidFill>
                <a:latin typeface="Aptos"/>
              </a:rPr>
              <a:t> </a:t>
            </a:r>
            <a:r>
              <a:rPr sz="1500" dirty="0" err="1">
                <a:solidFill>
                  <a:srgbClr val="505F70"/>
                </a:solidFill>
                <a:latin typeface="Aptos"/>
              </a:rPr>
              <a:t>hiển</a:t>
            </a:r>
            <a:r>
              <a:rPr sz="1500" dirty="0">
                <a:solidFill>
                  <a:srgbClr val="505F70"/>
                </a:solidFill>
                <a:latin typeface="Aptos"/>
              </a:rPr>
              <a:t> </a:t>
            </a:r>
            <a:r>
              <a:rPr sz="1500" dirty="0" err="1">
                <a:solidFill>
                  <a:srgbClr val="505F70"/>
                </a:solidFill>
                <a:latin typeface="Aptos"/>
              </a:rPr>
              <a:t>thị</a:t>
            </a:r>
            <a:r>
              <a:rPr sz="1500" dirty="0">
                <a:solidFill>
                  <a:srgbClr val="505F70"/>
                </a:solidFill>
                <a:latin typeface="Aptos"/>
              </a:rPr>
              <a:t> Unknown </a:t>
            </a:r>
            <a:r>
              <a:rPr sz="1500" dirty="0" err="1">
                <a:solidFill>
                  <a:srgbClr val="505F70"/>
                </a:solidFill>
                <a:latin typeface="Aptos"/>
              </a:rPr>
              <a:t>để</a:t>
            </a:r>
            <a:r>
              <a:rPr sz="1500" dirty="0">
                <a:solidFill>
                  <a:srgbClr val="505F70"/>
                </a:solidFill>
                <a:latin typeface="Aptos"/>
              </a:rPr>
              <a:t> </a:t>
            </a:r>
            <a:r>
              <a:rPr sz="1500" dirty="0" err="1">
                <a:solidFill>
                  <a:srgbClr val="505F70"/>
                </a:solidFill>
                <a:latin typeface="Aptos"/>
              </a:rPr>
              <a:t>hạn</a:t>
            </a:r>
            <a:r>
              <a:rPr sz="1500" dirty="0">
                <a:solidFill>
                  <a:srgbClr val="505F70"/>
                </a:solidFill>
                <a:latin typeface="Aptos"/>
              </a:rPr>
              <a:t> </a:t>
            </a:r>
            <a:r>
              <a:rPr sz="1500" dirty="0" err="1">
                <a:solidFill>
                  <a:srgbClr val="505F70"/>
                </a:solidFill>
                <a:latin typeface="Aptos"/>
              </a:rPr>
              <a:t>chế</a:t>
            </a:r>
            <a:r>
              <a:rPr sz="1500" dirty="0">
                <a:solidFill>
                  <a:srgbClr val="505F70"/>
                </a:solidFill>
                <a:latin typeface="Aptos"/>
              </a:rPr>
              <a:t> </a:t>
            </a:r>
            <a:r>
              <a:rPr sz="1500" dirty="0" err="1">
                <a:solidFill>
                  <a:srgbClr val="505F70"/>
                </a:solidFill>
                <a:latin typeface="Aptos"/>
              </a:rPr>
              <a:t>nhận</a:t>
            </a:r>
            <a:r>
              <a:rPr sz="1500" dirty="0">
                <a:solidFill>
                  <a:srgbClr val="505F70"/>
                </a:solidFill>
                <a:latin typeface="Aptos"/>
              </a:rPr>
              <a:t> </a:t>
            </a:r>
            <a:r>
              <a:rPr sz="1500" dirty="0" err="1">
                <a:solidFill>
                  <a:srgbClr val="505F70"/>
                </a:solidFill>
                <a:latin typeface="Aptos"/>
              </a:rPr>
              <a:t>diện</a:t>
            </a:r>
            <a:r>
              <a:rPr sz="1500" dirty="0">
                <a:solidFill>
                  <a:srgbClr val="505F70"/>
                </a:solidFill>
                <a:latin typeface="Aptos"/>
              </a:rPr>
              <a:t> </a:t>
            </a:r>
            <a:r>
              <a:rPr sz="1500" dirty="0" err="1">
                <a:solidFill>
                  <a:srgbClr val="505F70"/>
                </a:solidFill>
                <a:latin typeface="Aptos"/>
              </a:rPr>
              <a:t>nhầm</a:t>
            </a:r>
            <a:r>
              <a:rPr sz="1500" dirty="0">
                <a:solidFill>
                  <a:srgbClr val="505F70"/>
                </a:solidFill>
                <a:latin typeface="Aptos"/>
              </a:rPr>
              <a:t>.</a:t>
            </a:r>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vi-VN" sz="2800" b="1" dirty="0">
                <a:solidFill>
                  <a:srgbClr val="0B1F3A"/>
                </a:solidFill>
                <a:latin typeface="Aptos Display" pitchFamily="34" charset="0"/>
                <a:ea typeface="Aptos Display" pitchFamily="34" charset="-122"/>
                <a:cs typeface="Aptos Display" pitchFamily="34" charset="-120"/>
              </a:rPr>
              <a:t>6</a:t>
            </a:r>
            <a:r>
              <a:rPr lang="en-US" sz="2800" b="1" dirty="0">
                <a:solidFill>
                  <a:srgbClr val="0B1F3A"/>
                </a:solidFill>
                <a:latin typeface="Aptos Display" pitchFamily="34" charset="0"/>
                <a:ea typeface="Aptos Display" pitchFamily="34" charset="-122"/>
                <a:cs typeface="Aptos Display" pitchFamily="34" charset="-120"/>
              </a:rPr>
              <a:t>. Thu thập dữ liệu và kiểm soát chất lượng ảnh</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Dữ liệu đầu vào sạch giúp hệ thống nhận diện ổn định hơn</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06</a:t>
            </a:r>
            <a:endParaRPr lang="en-US" sz="850" dirty="0"/>
          </a:p>
        </p:txBody>
      </p:sp>
      <p:pic>
        <p:nvPicPr>
          <p:cNvPr id="9" name="Image 0" descr="/mnt/data/report_media/word/media/image4.png"/>
          <p:cNvPicPr>
            <a:picLocks noChangeAspect="1"/>
          </p:cNvPicPr>
          <p:nvPr/>
        </p:nvPicPr>
        <p:blipFill>
          <a:blip r:embed="rId3"/>
          <a:srcRect l="1785" r="1785"/>
          <a:stretch/>
        </p:blipFill>
        <p:spPr>
          <a:xfrm>
            <a:off x="713232" y="1261872"/>
            <a:ext cx="5806440" cy="3154680"/>
          </a:xfrm>
          <a:prstGeom prst="rect">
            <a:avLst/>
          </a:prstGeom>
        </p:spPr>
      </p:pic>
      <p:sp>
        <p:nvSpPr>
          <p:cNvPr id="10" name="Shape 7"/>
          <p:cNvSpPr/>
          <p:nvPr/>
        </p:nvSpPr>
        <p:spPr>
          <a:xfrm>
            <a:off x="713232" y="1261872"/>
            <a:ext cx="5806440" cy="3154680"/>
          </a:xfrm>
          <a:prstGeom prst="roundRect">
            <a:avLst>
              <a:gd name="adj" fmla="val 5217"/>
            </a:avLst>
          </a:prstGeom>
          <a:solidFill>
            <a:srgbClr val="FFFFFF">
              <a:alpha val="0"/>
            </a:srgbClr>
          </a:solidFill>
          <a:ln w="12700">
            <a:solidFill>
              <a:srgbClr val="C9D9EC"/>
            </a:solidFill>
            <a:prstDash val="solid"/>
          </a:ln>
        </p:spPr>
      </p:sp>
      <p:sp>
        <p:nvSpPr>
          <p:cNvPr id="11" name="Text 8"/>
          <p:cNvSpPr/>
          <p:nvPr/>
        </p:nvSpPr>
        <p:spPr>
          <a:xfrm>
            <a:off x="868680" y="4645152"/>
            <a:ext cx="2286000" cy="228600"/>
          </a:xfrm>
          <a:prstGeom prst="rect">
            <a:avLst/>
          </a:prstGeom>
          <a:noFill/>
          <a:ln/>
        </p:spPr>
        <p:txBody>
          <a:bodyPr wrap="square" lIns="0" tIns="0" rIns="0" bIns="0" rtlCol="0" anchor="ctr"/>
          <a:lstStyle/>
          <a:p>
            <a:pPr marL="0" indent="0">
              <a:buNone/>
            </a:pPr>
            <a:r>
              <a:rPr lang="en-US" sz="2400" b="1" dirty="0">
                <a:solidFill>
                  <a:srgbClr val="0B1F3A"/>
                </a:solidFill>
              </a:rPr>
              <a:t>Đa dạng góc nhìn</a:t>
            </a:r>
            <a:endParaRPr lang="en-US" sz="2400" dirty="0"/>
          </a:p>
        </p:txBody>
      </p:sp>
      <p:sp>
        <p:nvSpPr>
          <p:cNvPr id="12" name="Shape 9"/>
          <p:cNvSpPr/>
          <p:nvPr/>
        </p:nvSpPr>
        <p:spPr>
          <a:xfrm>
            <a:off x="868680" y="5120640"/>
            <a:ext cx="73152" cy="73152"/>
          </a:xfrm>
          <a:prstGeom prst="ellipse">
            <a:avLst/>
          </a:prstGeom>
          <a:solidFill>
            <a:srgbClr val="1D6BFF"/>
          </a:solidFill>
          <a:ln w="12700">
            <a:solidFill>
              <a:srgbClr val="1D6BFF">
                <a:alpha val="0"/>
              </a:srgbClr>
            </a:solidFill>
            <a:prstDash val="solid"/>
          </a:ln>
        </p:spPr>
      </p:sp>
      <p:sp>
        <p:nvSpPr>
          <p:cNvPr id="13" name="Text 10"/>
          <p:cNvSpPr/>
          <p:nvPr/>
        </p:nvSpPr>
        <p:spPr>
          <a:xfrm>
            <a:off x="1033272" y="5047488"/>
            <a:ext cx="502920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Nhìn thẳng, nghiêng trái/phải</a:t>
            </a:r>
            <a:endParaRPr lang="en-US" sz="1400" dirty="0"/>
          </a:p>
        </p:txBody>
      </p:sp>
      <p:sp>
        <p:nvSpPr>
          <p:cNvPr id="14" name="Shape 11"/>
          <p:cNvSpPr/>
          <p:nvPr/>
        </p:nvSpPr>
        <p:spPr>
          <a:xfrm>
            <a:off x="868680" y="5431536"/>
            <a:ext cx="73152" cy="73152"/>
          </a:xfrm>
          <a:prstGeom prst="ellipse">
            <a:avLst/>
          </a:prstGeom>
          <a:solidFill>
            <a:srgbClr val="1D6BFF"/>
          </a:solidFill>
          <a:ln w="12700">
            <a:solidFill>
              <a:srgbClr val="1D6BFF">
                <a:alpha val="0"/>
              </a:srgbClr>
            </a:solidFill>
            <a:prstDash val="solid"/>
          </a:ln>
        </p:spPr>
      </p:sp>
      <p:sp>
        <p:nvSpPr>
          <p:cNvPr id="15" name="Text 12"/>
          <p:cNvSpPr/>
          <p:nvPr/>
        </p:nvSpPr>
        <p:spPr>
          <a:xfrm>
            <a:off x="1033272" y="5358384"/>
            <a:ext cx="502920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Thay đổi biểu cảm và khoảng cách</a:t>
            </a:r>
            <a:endParaRPr lang="en-US" sz="1400" dirty="0"/>
          </a:p>
        </p:txBody>
      </p:sp>
      <p:sp>
        <p:nvSpPr>
          <p:cNvPr id="16" name="Shape 13"/>
          <p:cNvSpPr/>
          <p:nvPr/>
        </p:nvSpPr>
        <p:spPr>
          <a:xfrm>
            <a:off x="868680" y="5742432"/>
            <a:ext cx="73152" cy="73152"/>
          </a:xfrm>
          <a:prstGeom prst="ellipse">
            <a:avLst/>
          </a:prstGeom>
          <a:solidFill>
            <a:srgbClr val="1D6BFF"/>
          </a:solidFill>
          <a:ln w="12700">
            <a:solidFill>
              <a:srgbClr val="1D6BFF">
                <a:alpha val="0"/>
              </a:srgbClr>
            </a:solidFill>
            <a:prstDash val="solid"/>
          </a:ln>
        </p:spPr>
      </p:sp>
      <p:sp>
        <p:nvSpPr>
          <p:cNvPr id="17" name="Text 14"/>
          <p:cNvSpPr/>
          <p:nvPr/>
        </p:nvSpPr>
        <p:spPr>
          <a:xfrm>
            <a:off x="1033272" y="5669280"/>
            <a:ext cx="502920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Mỗi sinh viên lưu vào một thư mục riêng</a:t>
            </a:r>
            <a:endParaRPr lang="en-US" sz="1400" dirty="0"/>
          </a:p>
        </p:txBody>
      </p:sp>
      <p:sp>
        <p:nvSpPr>
          <p:cNvPr id="18" name="Shape 15"/>
          <p:cNvSpPr/>
          <p:nvPr/>
        </p:nvSpPr>
        <p:spPr>
          <a:xfrm>
            <a:off x="6842760" y="1261872"/>
            <a:ext cx="4480560" cy="4480560"/>
          </a:xfrm>
          <a:prstGeom prst="roundRect">
            <a:avLst>
              <a:gd name="adj" fmla="val 3673"/>
            </a:avLst>
          </a:prstGeom>
          <a:solidFill>
            <a:srgbClr val="FFFFFF"/>
          </a:solidFill>
          <a:ln w="12700">
            <a:solidFill>
              <a:srgbClr val="DCEAF9"/>
            </a:solidFill>
            <a:prstDash val="solid"/>
          </a:ln>
          <a:effectLst>
            <a:outerShdw blurRad="25400" dist="50800" dir="2700000" algn="bl" rotWithShape="0">
              <a:srgbClr val="C6D7EA">
                <a:alpha val="16000"/>
              </a:srgbClr>
            </a:outerShdw>
          </a:effectLst>
        </p:spPr>
      </p:sp>
      <p:sp>
        <p:nvSpPr>
          <p:cNvPr id="19" name="Text 16"/>
          <p:cNvSpPr/>
          <p:nvPr/>
        </p:nvSpPr>
        <p:spPr>
          <a:xfrm>
            <a:off x="7114032" y="1627632"/>
            <a:ext cx="3840480" cy="256032"/>
          </a:xfrm>
          <a:prstGeom prst="rect">
            <a:avLst/>
          </a:prstGeom>
          <a:noFill/>
          <a:ln/>
        </p:spPr>
        <p:txBody>
          <a:bodyPr wrap="square" lIns="0" tIns="0" rIns="0" bIns="0" rtlCol="0" anchor="ctr"/>
          <a:lstStyle/>
          <a:p>
            <a:pPr marL="0" indent="0">
              <a:buNone/>
            </a:pPr>
            <a:r>
              <a:rPr lang="en-US" sz="2000" b="1" dirty="0">
                <a:solidFill>
                  <a:srgbClr val="0A55C9"/>
                </a:solidFill>
              </a:rPr>
              <a:t>Bộ lọc chất lượng trước khi lưu</a:t>
            </a:r>
            <a:endParaRPr lang="en-US" sz="2000" dirty="0"/>
          </a:p>
        </p:txBody>
      </p:sp>
      <p:sp>
        <p:nvSpPr>
          <p:cNvPr id="20" name="Shape 17"/>
          <p:cNvSpPr/>
          <p:nvPr/>
        </p:nvSpPr>
        <p:spPr>
          <a:xfrm>
            <a:off x="7178040" y="2148840"/>
            <a:ext cx="347472" cy="347472"/>
          </a:xfrm>
          <a:prstGeom prst="roundRect">
            <a:avLst>
              <a:gd name="adj" fmla="val 18421"/>
            </a:avLst>
          </a:prstGeom>
          <a:solidFill>
            <a:srgbClr val="1D6BFF"/>
          </a:solidFill>
          <a:ln w="12700">
            <a:solidFill>
              <a:srgbClr val="333333">
                <a:alpha val="0"/>
              </a:srgbClr>
            </a:solidFill>
            <a:prstDash val="solid"/>
          </a:ln>
        </p:spPr>
      </p:sp>
      <p:sp>
        <p:nvSpPr>
          <p:cNvPr id="21" name="Text 18"/>
          <p:cNvSpPr/>
          <p:nvPr/>
        </p:nvSpPr>
        <p:spPr>
          <a:xfrm>
            <a:off x="7662672" y="2130552"/>
            <a:ext cx="1920240" cy="201168"/>
          </a:xfrm>
          <a:prstGeom prst="rect">
            <a:avLst/>
          </a:prstGeom>
          <a:noFill/>
          <a:ln/>
        </p:spPr>
        <p:txBody>
          <a:bodyPr wrap="square" lIns="0" tIns="0" rIns="0" bIns="0" rtlCol="0" anchor="ctr"/>
          <a:lstStyle/>
          <a:p>
            <a:pPr marL="0" indent="0">
              <a:buNone/>
            </a:pPr>
            <a:r>
              <a:rPr lang="en-US" b="1" dirty="0">
                <a:solidFill>
                  <a:srgbClr val="0B1F3A"/>
                </a:solidFill>
              </a:rPr>
              <a:t>Kích thước mặt</a:t>
            </a:r>
            <a:endParaRPr lang="en-US" dirty="0"/>
          </a:p>
        </p:txBody>
      </p:sp>
      <p:sp>
        <p:nvSpPr>
          <p:cNvPr id="22" name="Text 19"/>
          <p:cNvSpPr/>
          <p:nvPr/>
        </p:nvSpPr>
        <p:spPr>
          <a:xfrm>
            <a:off x="7662672" y="2395728"/>
            <a:ext cx="2926080" cy="201168"/>
          </a:xfrm>
          <a:prstGeom prst="rect">
            <a:avLst/>
          </a:prstGeom>
          <a:noFill/>
          <a:ln/>
        </p:spPr>
        <p:txBody>
          <a:bodyPr wrap="square" lIns="0" tIns="0" rIns="0" bIns="0" rtlCol="0" anchor="ctr"/>
          <a:lstStyle/>
          <a:p>
            <a:pPr marL="0" indent="0">
              <a:buNone/>
            </a:pPr>
            <a:r>
              <a:rPr lang="en-US" sz="1400" dirty="0">
                <a:solidFill>
                  <a:srgbClr val="5F6B7A"/>
                </a:solidFill>
              </a:rPr>
              <a:t>đủ lớn trong khung hình</a:t>
            </a:r>
            <a:endParaRPr lang="en-US" sz="1400" dirty="0"/>
          </a:p>
        </p:txBody>
      </p:sp>
      <p:sp>
        <p:nvSpPr>
          <p:cNvPr id="23" name="Shape 20"/>
          <p:cNvSpPr/>
          <p:nvPr/>
        </p:nvSpPr>
        <p:spPr>
          <a:xfrm>
            <a:off x="7178040" y="2862072"/>
            <a:ext cx="347472" cy="347472"/>
          </a:xfrm>
          <a:prstGeom prst="roundRect">
            <a:avLst>
              <a:gd name="adj" fmla="val 18421"/>
            </a:avLst>
          </a:prstGeom>
          <a:solidFill>
            <a:srgbClr val="20C7E6"/>
          </a:solidFill>
          <a:ln w="12700">
            <a:solidFill>
              <a:srgbClr val="333333">
                <a:alpha val="0"/>
              </a:srgbClr>
            </a:solidFill>
            <a:prstDash val="solid"/>
          </a:ln>
        </p:spPr>
      </p:sp>
      <p:sp>
        <p:nvSpPr>
          <p:cNvPr id="24" name="Text 21"/>
          <p:cNvSpPr/>
          <p:nvPr/>
        </p:nvSpPr>
        <p:spPr>
          <a:xfrm>
            <a:off x="7662672" y="2843784"/>
            <a:ext cx="1920240" cy="201168"/>
          </a:xfrm>
          <a:prstGeom prst="rect">
            <a:avLst/>
          </a:prstGeom>
          <a:noFill/>
          <a:ln/>
        </p:spPr>
        <p:txBody>
          <a:bodyPr wrap="square" lIns="0" tIns="0" rIns="0" bIns="0" rtlCol="0" anchor="ctr"/>
          <a:lstStyle/>
          <a:p>
            <a:pPr marL="0" indent="0">
              <a:buNone/>
            </a:pPr>
            <a:r>
              <a:rPr lang="en-US" b="1" dirty="0">
                <a:solidFill>
                  <a:srgbClr val="0B1F3A"/>
                </a:solidFill>
              </a:rPr>
              <a:t>Độ nét ảnh</a:t>
            </a:r>
            <a:endParaRPr lang="en-US" dirty="0"/>
          </a:p>
        </p:txBody>
      </p:sp>
      <p:sp>
        <p:nvSpPr>
          <p:cNvPr id="25" name="Text 22"/>
          <p:cNvSpPr/>
          <p:nvPr/>
        </p:nvSpPr>
        <p:spPr>
          <a:xfrm>
            <a:off x="7662672" y="3108960"/>
            <a:ext cx="2926080" cy="201168"/>
          </a:xfrm>
          <a:prstGeom prst="rect">
            <a:avLst/>
          </a:prstGeom>
          <a:noFill/>
          <a:ln/>
        </p:spPr>
        <p:txBody>
          <a:bodyPr wrap="square" lIns="0" tIns="0" rIns="0" bIns="0" rtlCol="0" anchor="ctr"/>
          <a:lstStyle/>
          <a:p>
            <a:pPr marL="0" indent="0">
              <a:buNone/>
            </a:pPr>
            <a:r>
              <a:rPr lang="en-US" sz="1400" dirty="0">
                <a:solidFill>
                  <a:srgbClr val="5F6B7A"/>
                </a:solidFill>
              </a:rPr>
              <a:t>loại ảnh mờ, rung</a:t>
            </a:r>
            <a:endParaRPr lang="en-US" sz="1400" dirty="0"/>
          </a:p>
        </p:txBody>
      </p:sp>
      <p:sp>
        <p:nvSpPr>
          <p:cNvPr id="26" name="Shape 23"/>
          <p:cNvSpPr/>
          <p:nvPr/>
        </p:nvSpPr>
        <p:spPr>
          <a:xfrm>
            <a:off x="7178040" y="3575304"/>
            <a:ext cx="347472" cy="347472"/>
          </a:xfrm>
          <a:prstGeom prst="roundRect">
            <a:avLst>
              <a:gd name="adj" fmla="val 18421"/>
            </a:avLst>
          </a:prstGeom>
          <a:solidFill>
            <a:srgbClr val="35C58A"/>
          </a:solidFill>
          <a:ln w="12700">
            <a:solidFill>
              <a:srgbClr val="333333">
                <a:alpha val="0"/>
              </a:srgbClr>
            </a:solidFill>
            <a:prstDash val="solid"/>
          </a:ln>
        </p:spPr>
      </p:sp>
      <p:sp>
        <p:nvSpPr>
          <p:cNvPr id="27" name="Text 24"/>
          <p:cNvSpPr/>
          <p:nvPr/>
        </p:nvSpPr>
        <p:spPr>
          <a:xfrm>
            <a:off x="7662672" y="3557016"/>
            <a:ext cx="1920240" cy="201168"/>
          </a:xfrm>
          <a:prstGeom prst="rect">
            <a:avLst/>
          </a:prstGeom>
          <a:noFill/>
          <a:ln/>
        </p:spPr>
        <p:txBody>
          <a:bodyPr wrap="square" lIns="0" tIns="0" rIns="0" bIns="0" rtlCol="0" anchor="ctr"/>
          <a:lstStyle/>
          <a:p>
            <a:pPr marL="0" indent="0">
              <a:buNone/>
            </a:pPr>
            <a:r>
              <a:rPr lang="en-US" b="1" dirty="0">
                <a:solidFill>
                  <a:srgbClr val="0B1F3A"/>
                </a:solidFill>
              </a:rPr>
              <a:t>Ánh sáng</a:t>
            </a:r>
            <a:endParaRPr lang="en-US" dirty="0"/>
          </a:p>
        </p:txBody>
      </p:sp>
      <p:sp>
        <p:nvSpPr>
          <p:cNvPr id="28" name="Text 25"/>
          <p:cNvSpPr/>
          <p:nvPr/>
        </p:nvSpPr>
        <p:spPr>
          <a:xfrm>
            <a:off x="7662672" y="3822192"/>
            <a:ext cx="2926080" cy="201168"/>
          </a:xfrm>
          <a:prstGeom prst="rect">
            <a:avLst/>
          </a:prstGeom>
          <a:noFill/>
          <a:ln/>
        </p:spPr>
        <p:txBody>
          <a:bodyPr wrap="square" lIns="0" tIns="0" rIns="0" bIns="0" rtlCol="0" anchor="ctr"/>
          <a:lstStyle/>
          <a:p>
            <a:pPr marL="0" indent="0">
              <a:buNone/>
            </a:pPr>
            <a:r>
              <a:rPr lang="en-US" sz="1400" dirty="0">
                <a:solidFill>
                  <a:srgbClr val="5F6B7A"/>
                </a:solidFill>
              </a:rPr>
              <a:t>không quá tối hoặc cháy sáng</a:t>
            </a:r>
            <a:endParaRPr lang="en-US" sz="1400" dirty="0"/>
          </a:p>
        </p:txBody>
      </p:sp>
      <p:sp>
        <p:nvSpPr>
          <p:cNvPr id="29" name="Shape 26"/>
          <p:cNvSpPr/>
          <p:nvPr/>
        </p:nvSpPr>
        <p:spPr>
          <a:xfrm>
            <a:off x="7178040" y="4288536"/>
            <a:ext cx="347472" cy="347472"/>
          </a:xfrm>
          <a:prstGeom prst="roundRect">
            <a:avLst>
              <a:gd name="adj" fmla="val 18421"/>
            </a:avLst>
          </a:prstGeom>
          <a:solidFill>
            <a:srgbClr val="F59E0B"/>
          </a:solidFill>
          <a:ln w="12700">
            <a:solidFill>
              <a:srgbClr val="333333">
                <a:alpha val="0"/>
              </a:srgbClr>
            </a:solidFill>
            <a:prstDash val="solid"/>
          </a:ln>
        </p:spPr>
      </p:sp>
      <p:sp>
        <p:nvSpPr>
          <p:cNvPr id="30" name="Text 27"/>
          <p:cNvSpPr/>
          <p:nvPr/>
        </p:nvSpPr>
        <p:spPr>
          <a:xfrm>
            <a:off x="7662672" y="4270248"/>
            <a:ext cx="1920240" cy="201168"/>
          </a:xfrm>
          <a:prstGeom prst="rect">
            <a:avLst/>
          </a:prstGeom>
          <a:noFill/>
          <a:ln/>
        </p:spPr>
        <p:txBody>
          <a:bodyPr wrap="square" lIns="0" tIns="0" rIns="0" bIns="0" rtlCol="0" anchor="ctr"/>
          <a:lstStyle/>
          <a:p>
            <a:pPr marL="0" indent="0">
              <a:buNone/>
            </a:pPr>
            <a:r>
              <a:rPr lang="en-US" b="1" dirty="0">
                <a:solidFill>
                  <a:srgbClr val="0B1F3A"/>
                </a:solidFill>
              </a:rPr>
              <a:t>Che khuất</a:t>
            </a:r>
            <a:endParaRPr lang="en-US" dirty="0"/>
          </a:p>
        </p:txBody>
      </p:sp>
      <p:sp>
        <p:nvSpPr>
          <p:cNvPr id="31" name="Text 28"/>
          <p:cNvSpPr/>
          <p:nvPr/>
        </p:nvSpPr>
        <p:spPr>
          <a:xfrm>
            <a:off x="7662672" y="4535424"/>
            <a:ext cx="2926080" cy="201168"/>
          </a:xfrm>
          <a:prstGeom prst="rect">
            <a:avLst/>
          </a:prstGeom>
          <a:noFill/>
          <a:ln/>
        </p:spPr>
        <p:txBody>
          <a:bodyPr wrap="square" lIns="0" tIns="0" rIns="0" bIns="0" rtlCol="0" anchor="ctr"/>
          <a:lstStyle/>
          <a:p>
            <a:pPr marL="0" indent="0">
              <a:buNone/>
            </a:pPr>
            <a:r>
              <a:rPr lang="en-US" sz="1400" dirty="0">
                <a:solidFill>
                  <a:srgbClr val="5F6B7A"/>
                </a:solidFill>
              </a:rPr>
              <a:t>mặt không bị che nhiều</a:t>
            </a:r>
            <a:endParaRPr lang="en-US" sz="1400" dirty="0"/>
          </a:p>
        </p:txBody>
      </p:sp>
      <p:sp>
        <p:nvSpPr>
          <p:cNvPr id="32" name="Text 29"/>
          <p:cNvSpPr/>
          <p:nvPr/>
        </p:nvSpPr>
        <p:spPr>
          <a:xfrm>
            <a:off x="7150608" y="5015484"/>
            <a:ext cx="3931920" cy="347472"/>
          </a:xfrm>
          <a:prstGeom prst="rect">
            <a:avLst/>
          </a:prstGeom>
          <a:noFill/>
          <a:ln/>
        </p:spPr>
        <p:txBody>
          <a:bodyPr wrap="square" lIns="0" tIns="0" rIns="0" bIns="0" rtlCol="0" anchor="ctr"/>
          <a:lstStyle/>
          <a:p>
            <a:pPr marL="0" indent="0">
              <a:buNone/>
            </a:pPr>
            <a:r>
              <a:rPr lang="en-US" sz="1400" b="1" dirty="0">
                <a:solidFill>
                  <a:srgbClr val="0B1F3A"/>
                </a:solidFill>
              </a:rPr>
              <a:t>Mục đích: giảm nhiễu trong database, tăng khả năng nhận diện khi chạy thực tế.</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vi-VN" sz="2800" b="1" dirty="0">
                <a:solidFill>
                  <a:srgbClr val="0B1F3A"/>
                </a:solidFill>
                <a:latin typeface="Aptos Display" pitchFamily="34" charset="0"/>
                <a:ea typeface="Aptos Display" pitchFamily="34" charset="-122"/>
                <a:cs typeface="Aptos Display" pitchFamily="34" charset="-120"/>
              </a:rPr>
              <a:t>7</a:t>
            </a:r>
            <a:r>
              <a:rPr lang="en-US" sz="2800" b="1" dirty="0">
                <a:solidFill>
                  <a:srgbClr val="0B1F3A"/>
                </a:solidFill>
                <a:latin typeface="Aptos Display" pitchFamily="34" charset="0"/>
                <a:ea typeface="Aptos Display" pitchFamily="34" charset="-122"/>
                <a:cs typeface="Aptos Display" pitchFamily="34" charset="-120"/>
              </a:rPr>
              <a:t>. Xây dựng cơ sở dữ liệu khuôn mặt</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Mỗi khuôn mặt được biểu diễn bằng vector đặc trưng</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07</a:t>
            </a:r>
            <a:endParaRPr lang="en-US" sz="850" dirty="0"/>
          </a:p>
        </p:txBody>
      </p:sp>
      <p:pic>
        <p:nvPicPr>
          <p:cNvPr id="9" name="Image 0" descr="/mnt/data/report_media/word/media/image2.png"/>
          <p:cNvPicPr>
            <a:picLocks noChangeAspect="1"/>
          </p:cNvPicPr>
          <p:nvPr/>
        </p:nvPicPr>
        <p:blipFill>
          <a:blip r:embed="rId3"/>
          <a:srcRect l="2552" r="2552"/>
          <a:stretch/>
        </p:blipFill>
        <p:spPr>
          <a:xfrm>
            <a:off x="713232" y="1234440"/>
            <a:ext cx="5120640" cy="2944368"/>
          </a:xfrm>
          <a:prstGeom prst="rect">
            <a:avLst/>
          </a:prstGeom>
        </p:spPr>
      </p:pic>
      <p:sp>
        <p:nvSpPr>
          <p:cNvPr id="10" name="Shape 7"/>
          <p:cNvSpPr/>
          <p:nvPr/>
        </p:nvSpPr>
        <p:spPr>
          <a:xfrm>
            <a:off x="713232" y="1234440"/>
            <a:ext cx="5120640" cy="2944368"/>
          </a:xfrm>
          <a:prstGeom prst="roundRect">
            <a:avLst>
              <a:gd name="adj" fmla="val 5590"/>
            </a:avLst>
          </a:prstGeom>
          <a:solidFill>
            <a:srgbClr val="FFFFFF">
              <a:alpha val="0"/>
            </a:srgbClr>
          </a:solidFill>
          <a:ln w="12700">
            <a:solidFill>
              <a:srgbClr val="C9D9EC"/>
            </a:solidFill>
            <a:prstDash val="solid"/>
          </a:ln>
        </p:spPr>
      </p:sp>
      <p:sp>
        <p:nvSpPr>
          <p:cNvPr id="11" name="Shape 8"/>
          <p:cNvSpPr/>
          <p:nvPr/>
        </p:nvSpPr>
        <p:spPr>
          <a:xfrm>
            <a:off x="822960" y="4663440"/>
            <a:ext cx="1965960" cy="777240"/>
          </a:xfrm>
          <a:prstGeom prst="roundRect">
            <a:avLst>
              <a:gd name="adj" fmla="val 16471"/>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12" name="Text 9"/>
          <p:cNvSpPr/>
          <p:nvPr/>
        </p:nvSpPr>
        <p:spPr>
          <a:xfrm>
            <a:off x="960120" y="4809744"/>
            <a:ext cx="1691640" cy="182880"/>
          </a:xfrm>
          <a:prstGeom prst="rect">
            <a:avLst/>
          </a:prstGeom>
          <a:noFill/>
          <a:ln/>
        </p:spPr>
        <p:txBody>
          <a:bodyPr wrap="square" lIns="0" tIns="0" rIns="0" bIns="0" rtlCol="0" anchor="ctr">
            <a:noAutofit/>
          </a:bodyPr>
          <a:lstStyle/>
          <a:p>
            <a:pPr marL="0" indent="0" algn="ctr">
              <a:buNone/>
            </a:pPr>
            <a:r>
              <a:rPr lang="en-US" sz="1600" b="1" dirty="0">
                <a:solidFill>
                  <a:srgbClr val="0B1F3A"/>
                </a:solidFill>
              </a:rPr>
              <a:t>Ảnh đã thu thập</a:t>
            </a:r>
            <a:endParaRPr lang="en-US" sz="1600" dirty="0"/>
          </a:p>
        </p:txBody>
      </p:sp>
      <p:sp>
        <p:nvSpPr>
          <p:cNvPr id="13" name="Text 10"/>
          <p:cNvSpPr/>
          <p:nvPr/>
        </p:nvSpPr>
        <p:spPr>
          <a:xfrm>
            <a:off x="960120" y="5102352"/>
            <a:ext cx="1691640" cy="182880"/>
          </a:xfrm>
          <a:prstGeom prst="rect">
            <a:avLst/>
          </a:prstGeom>
          <a:noFill/>
          <a:ln/>
        </p:spPr>
        <p:txBody>
          <a:bodyPr wrap="square" lIns="0" tIns="0" rIns="0" bIns="0" rtlCol="0" anchor="ctr">
            <a:noAutofit/>
          </a:bodyPr>
          <a:lstStyle/>
          <a:p>
            <a:pPr marL="0" indent="0" algn="ctr">
              <a:buNone/>
            </a:pPr>
            <a:r>
              <a:rPr lang="en-US" sz="1400" dirty="0">
                <a:solidFill>
                  <a:srgbClr val="5F6B7A"/>
                </a:solidFill>
              </a:rPr>
              <a:t>data/faces/</a:t>
            </a:r>
            <a:endParaRPr lang="en-US" sz="1400" dirty="0"/>
          </a:p>
        </p:txBody>
      </p:sp>
      <p:sp>
        <p:nvSpPr>
          <p:cNvPr id="14" name="Shape 11"/>
          <p:cNvSpPr/>
          <p:nvPr/>
        </p:nvSpPr>
        <p:spPr>
          <a:xfrm>
            <a:off x="2971800" y="4910328"/>
            <a:ext cx="320040" cy="292608"/>
          </a:xfrm>
          <a:prstGeom prst="chevron">
            <a:avLst/>
          </a:prstGeom>
          <a:solidFill>
            <a:srgbClr val="20C7E6"/>
          </a:solidFill>
          <a:ln w="12700">
            <a:solidFill>
              <a:srgbClr val="333333">
                <a:alpha val="0"/>
              </a:srgbClr>
            </a:solidFill>
            <a:prstDash val="solid"/>
          </a:ln>
        </p:spPr>
      </p:sp>
      <p:sp>
        <p:nvSpPr>
          <p:cNvPr id="15" name="Shape 12"/>
          <p:cNvSpPr/>
          <p:nvPr/>
        </p:nvSpPr>
        <p:spPr>
          <a:xfrm>
            <a:off x="3611880" y="4663440"/>
            <a:ext cx="1965960" cy="777240"/>
          </a:xfrm>
          <a:prstGeom prst="roundRect">
            <a:avLst>
              <a:gd name="adj" fmla="val 16471"/>
            </a:avLst>
          </a:prstGeom>
          <a:solidFill>
            <a:srgbClr val="E9FBFF"/>
          </a:solidFill>
          <a:ln w="12700">
            <a:solidFill>
              <a:srgbClr val="DDE9F8"/>
            </a:solidFill>
            <a:prstDash val="solid"/>
          </a:ln>
          <a:effectLst>
            <a:outerShdw blurRad="25400" dist="50800" dir="2700000" algn="bl" rotWithShape="0">
              <a:srgbClr val="C6D7EA">
                <a:alpha val="16000"/>
              </a:srgbClr>
            </a:outerShdw>
          </a:effectLst>
        </p:spPr>
      </p:sp>
      <p:sp>
        <p:nvSpPr>
          <p:cNvPr id="16" name="Text 13"/>
          <p:cNvSpPr/>
          <p:nvPr/>
        </p:nvSpPr>
        <p:spPr>
          <a:xfrm>
            <a:off x="3749040" y="4809744"/>
            <a:ext cx="1691640" cy="182880"/>
          </a:xfrm>
          <a:prstGeom prst="rect">
            <a:avLst/>
          </a:prstGeom>
          <a:noFill/>
          <a:ln/>
        </p:spPr>
        <p:txBody>
          <a:bodyPr wrap="square" lIns="0" tIns="0" rIns="0" bIns="0" rtlCol="0" anchor="ctr">
            <a:noAutofit/>
          </a:bodyPr>
          <a:lstStyle/>
          <a:p>
            <a:pPr marL="0" indent="0" algn="ctr">
              <a:buNone/>
            </a:pPr>
            <a:r>
              <a:rPr lang="en-US" sz="1600" b="1" dirty="0">
                <a:solidFill>
                  <a:srgbClr val="0B1F3A"/>
                </a:solidFill>
              </a:rPr>
              <a:t>SFace</a:t>
            </a:r>
            <a:endParaRPr lang="en-US" sz="1600" dirty="0"/>
          </a:p>
        </p:txBody>
      </p:sp>
      <p:sp>
        <p:nvSpPr>
          <p:cNvPr id="17" name="Text 14"/>
          <p:cNvSpPr/>
          <p:nvPr/>
        </p:nvSpPr>
        <p:spPr>
          <a:xfrm>
            <a:off x="3749040" y="5102352"/>
            <a:ext cx="1691640" cy="182880"/>
          </a:xfrm>
          <a:prstGeom prst="rect">
            <a:avLst/>
          </a:prstGeom>
          <a:noFill/>
          <a:ln/>
        </p:spPr>
        <p:txBody>
          <a:bodyPr wrap="square" lIns="0" tIns="0" rIns="0" bIns="0" rtlCol="0" anchor="ctr">
            <a:noAutofit/>
          </a:bodyPr>
          <a:lstStyle/>
          <a:p>
            <a:pPr marL="0" indent="0" algn="ctr">
              <a:buNone/>
            </a:pPr>
            <a:r>
              <a:rPr lang="en-US" sz="1400" dirty="0">
                <a:solidFill>
                  <a:srgbClr val="5F6B7A"/>
                </a:solidFill>
              </a:rPr>
              <a:t>trích xuất đặc trưng</a:t>
            </a:r>
            <a:endParaRPr lang="en-US" sz="1400" dirty="0"/>
          </a:p>
        </p:txBody>
      </p:sp>
      <p:sp>
        <p:nvSpPr>
          <p:cNvPr id="18" name="Shape 15"/>
          <p:cNvSpPr/>
          <p:nvPr/>
        </p:nvSpPr>
        <p:spPr>
          <a:xfrm>
            <a:off x="5760720" y="4910328"/>
            <a:ext cx="320040" cy="292608"/>
          </a:xfrm>
          <a:prstGeom prst="chevron">
            <a:avLst/>
          </a:prstGeom>
          <a:solidFill>
            <a:srgbClr val="20C7E6"/>
          </a:solidFill>
          <a:ln w="12700">
            <a:solidFill>
              <a:srgbClr val="333333">
                <a:alpha val="0"/>
              </a:srgbClr>
            </a:solidFill>
            <a:prstDash val="solid"/>
          </a:ln>
        </p:spPr>
      </p:sp>
      <p:sp>
        <p:nvSpPr>
          <p:cNvPr id="19" name="Shape 16"/>
          <p:cNvSpPr/>
          <p:nvPr/>
        </p:nvSpPr>
        <p:spPr>
          <a:xfrm>
            <a:off x="6400800" y="4663440"/>
            <a:ext cx="1965960" cy="777240"/>
          </a:xfrm>
          <a:prstGeom prst="roundRect">
            <a:avLst>
              <a:gd name="adj" fmla="val 16471"/>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20" name="Text 17"/>
          <p:cNvSpPr/>
          <p:nvPr/>
        </p:nvSpPr>
        <p:spPr>
          <a:xfrm>
            <a:off x="6537960" y="4809744"/>
            <a:ext cx="1691640" cy="182880"/>
          </a:xfrm>
          <a:prstGeom prst="rect">
            <a:avLst/>
          </a:prstGeom>
          <a:noFill/>
          <a:ln/>
        </p:spPr>
        <p:txBody>
          <a:bodyPr wrap="square" lIns="0" tIns="0" rIns="0" bIns="0" rtlCol="0" anchor="ctr">
            <a:noAutofit/>
          </a:bodyPr>
          <a:lstStyle/>
          <a:p>
            <a:pPr marL="0" indent="0" algn="ctr">
              <a:buNone/>
            </a:pPr>
            <a:r>
              <a:rPr lang="en-US" sz="1600" b="1" dirty="0">
                <a:solidFill>
                  <a:srgbClr val="0B1F3A"/>
                </a:solidFill>
              </a:rPr>
              <a:t>Vector</a:t>
            </a:r>
            <a:endParaRPr lang="en-US" sz="1600" dirty="0"/>
          </a:p>
        </p:txBody>
      </p:sp>
      <p:sp>
        <p:nvSpPr>
          <p:cNvPr id="21" name="Text 18"/>
          <p:cNvSpPr/>
          <p:nvPr/>
        </p:nvSpPr>
        <p:spPr>
          <a:xfrm>
            <a:off x="6537960" y="5102352"/>
            <a:ext cx="1691640" cy="182880"/>
          </a:xfrm>
          <a:prstGeom prst="rect">
            <a:avLst/>
          </a:prstGeom>
          <a:noFill/>
          <a:ln/>
        </p:spPr>
        <p:txBody>
          <a:bodyPr wrap="square" lIns="0" tIns="0" rIns="0" bIns="0" rtlCol="0" anchor="ctr">
            <a:noAutofit/>
          </a:bodyPr>
          <a:lstStyle/>
          <a:p>
            <a:pPr marL="0" indent="0" algn="ctr">
              <a:buNone/>
            </a:pPr>
            <a:r>
              <a:rPr lang="en-US" sz="1400" dirty="0">
                <a:solidFill>
                  <a:srgbClr val="5F6B7A"/>
                </a:solidFill>
              </a:rPr>
              <a:t>[0.12, -0.04, ...]</a:t>
            </a:r>
            <a:endParaRPr lang="en-US" sz="1400" dirty="0"/>
          </a:p>
        </p:txBody>
      </p:sp>
      <p:sp>
        <p:nvSpPr>
          <p:cNvPr id="22" name="Shape 19"/>
          <p:cNvSpPr/>
          <p:nvPr/>
        </p:nvSpPr>
        <p:spPr>
          <a:xfrm>
            <a:off x="8549640" y="4910328"/>
            <a:ext cx="320040" cy="292608"/>
          </a:xfrm>
          <a:prstGeom prst="chevron">
            <a:avLst/>
          </a:prstGeom>
          <a:solidFill>
            <a:srgbClr val="20C7E6"/>
          </a:solidFill>
          <a:ln w="12700">
            <a:solidFill>
              <a:srgbClr val="333333">
                <a:alpha val="0"/>
              </a:srgbClr>
            </a:solidFill>
            <a:prstDash val="solid"/>
          </a:ln>
        </p:spPr>
      </p:sp>
      <p:sp>
        <p:nvSpPr>
          <p:cNvPr id="23" name="Shape 20"/>
          <p:cNvSpPr/>
          <p:nvPr/>
        </p:nvSpPr>
        <p:spPr>
          <a:xfrm>
            <a:off x="9189720" y="4663440"/>
            <a:ext cx="1965960" cy="777240"/>
          </a:xfrm>
          <a:prstGeom prst="roundRect">
            <a:avLst>
              <a:gd name="adj" fmla="val 16471"/>
            </a:avLst>
          </a:prstGeom>
          <a:solidFill>
            <a:srgbClr val="E9FBFF"/>
          </a:solidFill>
          <a:ln w="12700">
            <a:solidFill>
              <a:srgbClr val="DDE9F8"/>
            </a:solidFill>
            <a:prstDash val="solid"/>
          </a:ln>
          <a:effectLst>
            <a:outerShdw blurRad="25400" dist="50800" dir="2700000" algn="bl" rotWithShape="0">
              <a:srgbClr val="C6D7EA">
                <a:alpha val="16000"/>
              </a:srgbClr>
            </a:outerShdw>
          </a:effectLst>
        </p:spPr>
      </p:sp>
      <p:sp>
        <p:nvSpPr>
          <p:cNvPr id="24" name="Text 21"/>
          <p:cNvSpPr/>
          <p:nvPr/>
        </p:nvSpPr>
        <p:spPr>
          <a:xfrm>
            <a:off x="9326880" y="4809744"/>
            <a:ext cx="1691640" cy="182880"/>
          </a:xfrm>
          <a:prstGeom prst="rect">
            <a:avLst/>
          </a:prstGeom>
          <a:noFill/>
          <a:ln/>
        </p:spPr>
        <p:txBody>
          <a:bodyPr wrap="square" lIns="0" tIns="0" rIns="0" bIns="0" rtlCol="0" anchor="ctr">
            <a:noAutofit/>
          </a:bodyPr>
          <a:lstStyle/>
          <a:p>
            <a:pPr marL="0" indent="0" algn="ctr">
              <a:buNone/>
            </a:pPr>
            <a:r>
              <a:rPr lang="en-US" sz="1600" b="1" dirty="0">
                <a:solidFill>
                  <a:srgbClr val="0B1F3A"/>
                </a:solidFill>
              </a:rPr>
              <a:t>Database</a:t>
            </a:r>
            <a:endParaRPr lang="en-US" sz="1600" dirty="0"/>
          </a:p>
        </p:txBody>
      </p:sp>
      <p:sp>
        <p:nvSpPr>
          <p:cNvPr id="25" name="Text 22"/>
          <p:cNvSpPr/>
          <p:nvPr/>
        </p:nvSpPr>
        <p:spPr>
          <a:xfrm>
            <a:off x="9326880" y="5102352"/>
            <a:ext cx="1691640" cy="182880"/>
          </a:xfrm>
          <a:prstGeom prst="rect">
            <a:avLst/>
          </a:prstGeom>
          <a:noFill/>
          <a:ln/>
        </p:spPr>
        <p:txBody>
          <a:bodyPr wrap="square" lIns="0" tIns="0" rIns="0" bIns="0" rtlCol="0" anchor="ctr">
            <a:noAutofit/>
          </a:bodyPr>
          <a:lstStyle/>
          <a:p>
            <a:pPr marL="0" indent="0" algn="ctr">
              <a:buNone/>
            </a:pPr>
            <a:r>
              <a:rPr lang="en-US" sz="1400" dirty="0">
                <a:solidFill>
                  <a:srgbClr val="5F6B7A"/>
                </a:solidFill>
              </a:rPr>
              <a:t>face_database.npz</a:t>
            </a:r>
            <a:endParaRPr lang="en-US" sz="1400" dirty="0"/>
          </a:p>
        </p:txBody>
      </p:sp>
      <p:sp>
        <p:nvSpPr>
          <p:cNvPr id="26" name="Shape 23"/>
          <p:cNvSpPr/>
          <p:nvPr/>
        </p:nvSpPr>
        <p:spPr>
          <a:xfrm>
            <a:off x="6492240" y="1234440"/>
            <a:ext cx="4617720" cy="2944368"/>
          </a:xfrm>
          <a:prstGeom prst="roundRect">
            <a:avLst>
              <a:gd name="adj" fmla="val 5590"/>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27" name="Text 24"/>
          <p:cNvSpPr/>
          <p:nvPr/>
        </p:nvSpPr>
        <p:spPr>
          <a:xfrm>
            <a:off x="6812280" y="1600200"/>
            <a:ext cx="3931920" cy="228600"/>
          </a:xfrm>
          <a:prstGeom prst="rect">
            <a:avLst/>
          </a:prstGeom>
          <a:noFill/>
          <a:ln/>
        </p:spPr>
        <p:txBody>
          <a:bodyPr wrap="square" lIns="0" tIns="0" rIns="0" bIns="0" rtlCol="0" anchor="ctr"/>
          <a:lstStyle/>
          <a:p>
            <a:pPr marL="0" indent="0">
              <a:buNone/>
            </a:pPr>
            <a:r>
              <a:rPr lang="en-US" b="1" dirty="0">
                <a:solidFill>
                  <a:srgbClr val="0A55C9"/>
                </a:solidFill>
              </a:rPr>
              <a:t>Ý nghĩa của database vector</a:t>
            </a:r>
            <a:endParaRPr lang="en-US" dirty="0"/>
          </a:p>
        </p:txBody>
      </p:sp>
      <p:sp>
        <p:nvSpPr>
          <p:cNvPr id="28" name="Shape 25"/>
          <p:cNvSpPr/>
          <p:nvPr/>
        </p:nvSpPr>
        <p:spPr>
          <a:xfrm>
            <a:off x="6812280" y="2221992"/>
            <a:ext cx="73152" cy="73152"/>
          </a:xfrm>
          <a:prstGeom prst="ellipse">
            <a:avLst/>
          </a:prstGeom>
          <a:solidFill>
            <a:srgbClr val="1D6BFF"/>
          </a:solidFill>
          <a:ln w="12700">
            <a:solidFill>
              <a:srgbClr val="1D6BFF">
                <a:alpha val="0"/>
              </a:srgbClr>
            </a:solidFill>
            <a:prstDash val="solid"/>
          </a:ln>
        </p:spPr>
      </p:sp>
      <p:sp>
        <p:nvSpPr>
          <p:cNvPr id="29" name="Text 26"/>
          <p:cNvSpPr/>
          <p:nvPr/>
        </p:nvSpPr>
        <p:spPr>
          <a:xfrm>
            <a:off x="6976872" y="2148840"/>
            <a:ext cx="393192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Không so sánh trực tiếp ảnh gốc</a:t>
            </a:r>
            <a:endParaRPr lang="en-US" sz="1400" dirty="0"/>
          </a:p>
        </p:txBody>
      </p:sp>
      <p:sp>
        <p:nvSpPr>
          <p:cNvPr id="30" name="Shape 27"/>
          <p:cNvSpPr/>
          <p:nvPr/>
        </p:nvSpPr>
        <p:spPr>
          <a:xfrm>
            <a:off x="6812280" y="2660904"/>
            <a:ext cx="73152" cy="73152"/>
          </a:xfrm>
          <a:prstGeom prst="ellipse">
            <a:avLst/>
          </a:prstGeom>
          <a:solidFill>
            <a:srgbClr val="1D6BFF"/>
          </a:solidFill>
          <a:ln w="12700">
            <a:solidFill>
              <a:srgbClr val="1D6BFF">
                <a:alpha val="0"/>
              </a:srgbClr>
            </a:solidFill>
            <a:prstDash val="solid"/>
          </a:ln>
        </p:spPr>
      </p:sp>
      <p:sp>
        <p:nvSpPr>
          <p:cNvPr id="31" name="Text 28"/>
          <p:cNvSpPr/>
          <p:nvPr/>
        </p:nvSpPr>
        <p:spPr>
          <a:xfrm>
            <a:off x="6976872" y="2587752"/>
            <a:ext cx="393192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Lưu đặc trưng dạng số để xử lý nhanh</a:t>
            </a:r>
            <a:endParaRPr lang="en-US" sz="1400" dirty="0"/>
          </a:p>
        </p:txBody>
      </p:sp>
      <p:sp>
        <p:nvSpPr>
          <p:cNvPr id="32" name="Shape 29"/>
          <p:cNvSpPr/>
          <p:nvPr/>
        </p:nvSpPr>
        <p:spPr>
          <a:xfrm>
            <a:off x="6812280" y="3099816"/>
            <a:ext cx="73152" cy="73152"/>
          </a:xfrm>
          <a:prstGeom prst="ellipse">
            <a:avLst/>
          </a:prstGeom>
          <a:solidFill>
            <a:srgbClr val="1D6BFF"/>
          </a:solidFill>
          <a:ln w="12700">
            <a:solidFill>
              <a:srgbClr val="1D6BFF">
                <a:alpha val="0"/>
              </a:srgbClr>
            </a:solidFill>
            <a:prstDash val="solid"/>
          </a:ln>
        </p:spPr>
      </p:sp>
      <p:sp>
        <p:nvSpPr>
          <p:cNvPr id="33" name="Text 30"/>
          <p:cNvSpPr/>
          <p:nvPr/>
        </p:nvSpPr>
        <p:spPr>
          <a:xfrm>
            <a:off x="6976872" y="3026664"/>
            <a:ext cx="393192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Có thể lấy trung bình nhiều vector cùng người</a:t>
            </a:r>
            <a:endParaRPr lang="en-US" sz="1400" dirty="0"/>
          </a:p>
        </p:txBody>
      </p:sp>
      <p:sp>
        <p:nvSpPr>
          <p:cNvPr id="34" name="Shape 31"/>
          <p:cNvSpPr/>
          <p:nvPr/>
        </p:nvSpPr>
        <p:spPr>
          <a:xfrm>
            <a:off x="6812280" y="3538728"/>
            <a:ext cx="73152" cy="73152"/>
          </a:xfrm>
          <a:prstGeom prst="ellipse">
            <a:avLst/>
          </a:prstGeom>
          <a:solidFill>
            <a:srgbClr val="1D6BFF"/>
          </a:solidFill>
          <a:ln w="12700">
            <a:solidFill>
              <a:srgbClr val="1D6BFF">
                <a:alpha val="0"/>
              </a:srgbClr>
            </a:solidFill>
            <a:prstDash val="solid"/>
          </a:ln>
        </p:spPr>
      </p:sp>
      <p:sp>
        <p:nvSpPr>
          <p:cNvPr id="35" name="Text 32"/>
          <p:cNvSpPr/>
          <p:nvPr/>
        </p:nvSpPr>
        <p:spPr>
          <a:xfrm>
            <a:off x="6976872" y="3465576"/>
            <a:ext cx="3931920" cy="256032"/>
          </a:xfrm>
          <a:prstGeom prst="rect">
            <a:avLst/>
          </a:prstGeom>
          <a:noFill/>
          <a:ln/>
        </p:spPr>
        <p:txBody>
          <a:bodyPr wrap="square" lIns="0" tIns="0" rIns="0" bIns="0" rtlCol="0" anchor="ctr">
            <a:normAutofit/>
          </a:bodyPr>
          <a:lstStyle/>
          <a:p>
            <a:pPr marL="0" indent="0">
              <a:buNone/>
            </a:pPr>
            <a:r>
              <a:rPr lang="en-US" sz="1400" dirty="0">
                <a:solidFill>
                  <a:srgbClr val="182334"/>
                </a:solidFill>
              </a:rPr>
              <a:t>Giúp nhận diện ổn định hơn khi demo</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8. Kết quả thực nghiệm</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Hệ thống nhận diện được sinh viên và lưu kết quả điểm danh</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09</a:t>
            </a:r>
            <a:endParaRPr lang="en-US" sz="850" dirty="0"/>
          </a:p>
        </p:txBody>
      </p:sp>
      <p:sp>
        <p:nvSpPr>
          <p:cNvPr id="9" name="Shape 7"/>
          <p:cNvSpPr/>
          <p:nvPr/>
        </p:nvSpPr>
        <p:spPr>
          <a:xfrm>
            <a:off x="685800" y="1234440"/>
            <a:ext cx="5285232" cy="3977640"/>
          </a:xfrm>
          <a:prstGeom prst="roundRect">
            <a:avLst>
              <a:gd name="adj" fmla="val 4138"/>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10" name="Text 8"/>
          <p:cNvSpPr/>
          <p:nvPr/>
        </p:nvSpPr>
        <p:spPr>
          <a:xfrm>
            <a:off x="960120" y="1508760"/>
            <a:ext cx="3200400" cy="228600"/>
          </a:xfrm>
          <a:prstGeom prst="rect">
            <a:avLst/>
          </a:prstGeom>
          <a:noFill/>
          <a:ln/>
        </p:spPr>
        <p:txBody>
          <a:bodyPr wrap="square" lIns="0" tIns="0" rIns="0" bIns="0" rtlCol="0" anchor="ctr"/>
          <a:lstStyle/>
          <a:p>
            <a:pPr marL="0" indent="0">
              <a:buNone/>
            </a:pPr>
            <a:r>
              <a:rPr lang="en-US" sz="1600" b="1" dirty="0">
                <a:solidFill>
                  <a:srgbClr val="0A55C9"/>
                </a:solidFill>
              </a:rPr>
              <a:t>Kết quả nhận diện webcam</a:t>
            </a:r>
            <a:endParaRPr lang="en-US" sz="1600" dirty="0"/>
          </a:p>
        </p:txBody>
      </p:sp>
      <p:pic>
        <p:nvPicPr>
          <p:cNvPr id="11" name="Image 0" descr="/mnt/data/report_media/word/media/image24.png"/>
          <p:cNvPicPr>
            <a:picLocks noChangeAspect="1"/>
          </p:cNvPicPr>
          <p:nvPr/>
        </p:nvPicPr>
        <p:blipFill>
          <a:blip r:embed="rId3"/>
          <a:srcRect t="13663" b="13663"/>
          <a:stretch/>
        </p:blipFill>
        <p:spPr>
          <a:xfrm>
            <a:off x="960120" y="1874520"/>
            <a:ext cx="4709160" cy="2926080"/>
          </a:xfrm>
          <a:prstGeom prst="rect">
            <a:avLst/>
          </a:prstGeom>
        </p:spPr>
      </p:pic>
      <p:sp>
        <p:nvSpPr>
          <p:cNvPr id="12" name="Shape 9"/>
          <p:cNvSpPr/>
          <p:nvPr/>
        </p:nvSpPr>
        <p:spPr>
          <a:xfrm>
            <a:off x="6236208" y="1234440"/>
            <a:ext cx="5266944" cy="3977640"/>
          </a:xfrm>
          <a:prstGeom prst="roundRect">
            <a:avLst>
              <a:gd name="adj" fmla="val 4138"/>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13" name="Text 10"/>
          <p:cNvSpPr/>
          <p:nvPr/>
        </p:nvSpPr>
        <p:spPr>
          <a:xfrm>
            <a:off x="6510528" y="1508760"/>
            <a:ext cx="3291840" cy="228600"/>
          </a:xfrm>
          <a:prstGeom prst="rect">
            <a:avLst/>
          </a:prstGeom>
          <a:noFill/>
          <a:ln/>
        </p:spPr>
        <p:txBody>
          <a:bodyPr wrap="square" lIns="0" tIns="0" rIns="0" bIns="0" rtlCol="0" anchor="ctr"/>
          <a:lstStyle/>
          <a:p>
            <a:pPr marL="0" indent="0">
              <a:buNone/>
            </a:pPr>
            <a:r>
              <a:rPr lang="en-US" sz="1600" b="1" dirty="0">
                <a:solidFill>
                  <a:srgbClr val="0A55C9"/>
                </a:solidFill>
              </a:rPr>
              <a:t>Kết quả ghi điểm danh CSV</a:t>
            </a:r>
            <a:endParaRPr lang="en-US" sz="1600" dirty="0"/>
          </a:p>
        </p:txBody>
      </p:sp>
      <p:pic>
        <p:nvPicPr>
          <p:cNvPr id="14" name="Image 1" descr="/mnt/data/report_media/word/media/image25.png"/>
          <p:cNvPicPr>
            <a:picLocks noChangeAspect="1"/>
          </p:cNvPicPr>
          <p:nvPr/>
        </p:nvPicPr>
        <p:blipFill>
          <a:blip r:embed="rId4"/>
          <a:stretch>
            <a:fillRect/>
          </a:stretch>
        </p:blipFill>
        <p:spPr>
          <a:xfrm>
            <a:off x="6587868" y="1920240"/>
            <a:ext cx="4554480" cy="2267712"/>
          </a:xfrm>
          <a:prstGeom prst="rect">
            <a:avLst/>
          </a:prstGeom>
        </p:spPr>
      </p:pic>
      <p:sp>
        <p:nvSpPr>
          <p:cNvPr id="15" name="Text 11"/>
          <p:cNvSpPr/>
          <p:nvPr/>
        </p:nvSpPr>
        <p:spPr>
          <a:xfrm>
            <a:off x="6629400" y="4434840"/>
            <a:ext cx="4389120" cy="438912"/>
          </a:xfrm>
          <a:prstGeom prst="rect">
            <a:avLst/>
          </a:prstGeom>
          <a:noFill/>
          <a:ln/>
        </p:spPr>
        <p:txBody>
          <a:bodyPr wrap="square" lIns="0" tIns="0" rIns="0" bIns="0" rtlCol="0" anchor="ctr"/>
          <a:lstStyle/>
          <a:p>
            <a:pPr marL="0" indent="0" algn="ctr">
              <a:buNone/>
            </a:pPr>
            <a:r>
              <a:rPr lang="en-US" sz="1400" b="1" dirty="0">
                <a:solidFill>
                  <a:srgbClr val="0B1F3A"/>
                </a:solidFill>
              </a:rPr>
              <a:t>Mỗi dòng dữ liệu gồm: họ tên, ngày, thời gian, điểm tin cậy.</a:t>
            </a:r>
            <a:endParaRPr lang="en-US" sz="1400" dirty="0"/>
          </a:p>
        </p:txBody>
      </p:sp>
      <p:sp>
        <p:nvSpPr>
          <p:cNvPr id="16" name="Shape 12"/>
          <p:cNvSpPr/>
          <p:nvPr/>
        </p:nvSpPr>
        <p:spPr>
          <a:xfrm>
            <a:off x="1005840" y="5632704"/>
            <a:ext cx="10149840" cy="502920"/>
          </a:xfrm>
          <a:prstGeom prst="roundRect">
            <a:avLst>
              <a:gd name="adj" fmla="val 21818"/>
            </a:avLst>
          </a:prstGeom>
          <a:solidFill>
            <a:srgbClr val="EAF8F2"/>
          </a:solidFill>
          <a:ln w="12700">
            <a:solidFill>
              <a:srgbClr val="C7EAD7"/>
            </a:solidFill>
            <a:prstDash val="solid"/>
          </a:ln>
        </p:spPr>
      </p:sp>
      <p:sp>
        <p:nvSpPr>
          <p:cNvPr id="17" name="Text 13"/>
          <p:cNvSpPr/>
          <p:nvPr/>
        </p:nvSpPr>
        <p:spPr>
          <a:xfrm>
            <a:off x="1188720" y="5806440"/>
            <a:ext cx="9784080" cy="128016"/>
          </a:xfrm>
          <a:prstGeom prst="rect">
            <a:avLst/>
          </a:prstGeom>
          <a:noFill/>
          <a:ln/>
        </p:spPr>
        <p:txBody>
          <a:bodyPr wrap="square" lIns="0" tIns="0" rIns="0" bIns="0" rtlCol="0" anchor="ctr"/>
          <a:lstStyle/>
          <a:p>
            <a:pPr marL="0" indent="0" algn="ctr">
              <a:buNone/>
            </a:pPr>
            <a:r>
              <a:rPr lang="en-US" sz="1400" b="1" dirty="0">
                <a:solidFill>
                  <a:srgbClr val="207A54"/>
                </a:solidFill>
              </a:rPr>
              <a:t>Kết quả chứng minh hệ thống hoàn thành chức năng chính: nhận diện khuôn mặt và tự động ghi điểm danh.</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54480" y="-1280160"/>
            <a:ext cx="4937760" cy="3840480"/>
          </a:xfrm>
          <a:prstGeom prst="ellipse">
            <a:avLst/>
          </a:prstGeom>
          <a:solidFill>
            <a:srgbClr val="0B4E83">
              <a:alpha val="50000"/>
            </a:srgbClr>
          </a:solidFill>
          <a:ln w="12700">
            <a:solidFill>
              <a:srgbClr val="333333">
                <a:alpha val="0"/>
              </a:srgbClr>
            </a:solidFill>
            <a:prstDash val="solid"/>
          </a:ln>
        </p:spPr>
      </p:sp>
      <p:sp>
        <p:nvSpPr>
          <p:cNvPr id="3" name="Shape 1"/>
          <p:cNvSpPr/>
          <p:nvPr/>
        </p:nvSpPr>
        <p:spPr>
          <a:xfrm>
            <a:off x="8412480" y="-1005840"/>
            <a:ext cx="4754880" cy="3383280"/>
          </a:xfrm>
          <a:prstGeom prst="ellipse">
            <a:avLst/>
          </a:prstGeom>
          <a:solidFill>
            <a:srgbClr val="023B5F">
              <a:alpha val="58000"/>
            </a:srgbClr>
          </a:solidFill>
          <a:ln w="12700">
            <a:solidFill>
              <a:srgbClr val="333333">
                <a:alpha val="0"/>
              </a:srgbClr>
            </a:solidFill>
            <a:prstDash val="solid"/>
          </a:ln>
        </p:spPr>
      </p:sp>
      <p:sp>
        <p:nvSpPr>
          <p:cNvPr id="4" name="Shape 2"/>
          <p:cNvSpPr/>
          <p:nvPr/>
        </p:nvSpPr>
        <p:spPr>
          <a:xfrm>
            <a:off x="7589520" y="4480560"/>
            <a:ext cx="5303520" cy="2743200"/>
          </a:xfrm>
          <a:prstGeom prst="ellipse">
            <a:avLst/>
          </a:prstGeom>
          <a:solidFill>
            <a:srgbClr val="0C6B5A">
              <a:alpha val="33000"/>
            </a:srgbClr>
          </a:solidFill>
          <a:ln w="12700">
            <a:solidFill>
              <a:srgbClr val="333333">
                <a:alpha val="0"/>
              </a:srgbClr>
            </a:solidFill>
            <a:prstDash val="solid"/>
          </a:ln>
        </p:spPr>
      </p:sp>
      <p:sp>
        <p:nvSpPr>
          <p:cNvPr id="5" name="Shape 3"/>
          <p:cNvSpPr/>
          <p:nvPr/>
        </p:nvSpPr>
        <p:spPr>
          <a:xfrm>
            <a:off x="0" y="0"/>
            <a:ext cx="0" cy="6858000"/>
          </a:xfrm>
          <a:prstGeom prst="line">
            <a:avLst/>
          </a:prstGeom>
          <a:noFill/>
          <a:ln w="3810">
            <a:solidFill>
              <a:srgbClr val="163352">
                <a:alpha val="35000"/>
              </a:srgbClr>
            </a:solidFill>
            <a:prstDash val="solid"/>
          </a:ln>
        </p:spPr>
      </p:sp>
      <p:sp>
        <p:nvSpPr>
          <p:cNvPr id="6" name="Shape 4"/>
          <p:cNvSpPr/>
          <p:nvPr/>
        </p:nvSpPr>
        <p:spPr>
          <a:xfrm>
            <a:off x="868680" y="0"/>
            <a:ext cx="0" cy="6858000"/>
          </a:xfrm>
          <a:prstGeom prst="line">
            <a:avLst/>
          </a:prstGeom>
          <a:noFill/>
          <a:ln w="3810">
            <a:solidFill>
              <a:srgbClr val="163352">
                <a:alpha val="35000"/>
              </a:srgbClr>
            </a:solidFill>
            <a:prstDash val="solid"/>
          </a:ln>
        </p:spPr>
      </p:sp>
      <p:sp>
        <p:nvSpPr>
          <p:cNvPr id="7" name="Shape 5"/>
          <p:cNvSpPr/>
          <p:nvPr/>
        </p:nvSpPr>
        <p:spPr>
          <a:xfrm>
            <a:off x="1737360" y="0"/>
            <a:ext cx="0" cy="6858000"/>
          </a:xfrm>
          <a:prstGeom prst="line">
            <a:avLst/>
          </a:prstGeom>
          <a:noFill/>
          <a:ln w="3810">
            <a:solidFill>
              <a:srgbClr val="163352">
                <a:alpha val="35000"/>
              </a:srgbClr>
            </a:solidFill>
            <a:prstDash val="solid"/>
          </a:ln>
        </p:spPr>
      </p:sp>
      <p:sp>
        <p:nvSpPr>
          <p:cNvPr id="8" name="Shape 6"/>
          <p:cNvSpPr/>
          <p:nvPr/>
        </p:nvSpPr>
        <p:spPr>
          <a:xfrm>
            <a:off x="2606040" y="0"/>
            <a:ext cx="0" cy="6858000"/>
          </a:xfrm>
          <a:prstGeom prst="line">
            <a:avLst/>
          </a:prstGeom>
          <a:noFill/>
          <a:ln w="3810">
            <a:solidFill>
              <a:srgbClr val="163352">
                <a:alpha val="35000"/>
              </a:srgbClr>
            </a:solidFill>
            <a:prstDash val="solid"/>
          </a:ln>
        </p:spPr>
      </p:sp>
      <p:sp>
        <p:nvSpPr>
          <p:cNvPr id="9" name="Shape 7"/>
          <p:cNvSpPr/>
          <p:nvPr/>
        </p:nvSpPr>
        <p:spPr>
          <a:xfrm>
            <a:off x="3474720" y="0"/>
            <a:ext cx="0" cy="6858000"/>
          </a:xfrm>
          <a:prstGeom prst="line">
            <a:avLst/>
          </a:prstGeom>
          <a:noFill/>
          <a:ln w="3810">
            <a:solidFill>
              <a:srgbClr val="163352">
                <a:alpha val="35000"/>
              </a:srgbClr>
            </a:solidFill>
            <a:prstDash val="solid"/>
          </a:ln>
        </p:spPr>
      </p:sp>
      <p:sp>
        <p:nvSpPr>
          <p:cNvPr id="10" name="Shape 8"/>
          <p:cNvSpPr/>
          <p:nvPr/>
        </p:nvSpPr>
        <p:spPr>
          <a:xfrm>
            <a:off x="4343400" y="0"/>
            <a:ext cx="0" cy="6858000"/>
          </a:xfrm>
          <a:prstGeom prst="line">
            <a:avLst/>
          </a:prstGeom>
          <a:noFill/>
          <a:ln w="3810">
            <a:solidFill>
              <a:srgbClr val="163352">
                <a:alpha val="35000"/>
              </a:srgbClr>
            </a:solidFill>
            <a:prstDash val="solid"/>
          </a:ln>
        </p:spPr>
      </p:sp>
      <p:sp>
        <p:nvSpPr>
          <p:cNvPr id="11" name="Shape 9"/>
          <p:cNvSpPr/>
          <p:nvPr/>
        </p:nvSpPr>
        <p:spPr>
          <a:xfrm>
            <a:off x="5212080" y="0"/>
            <a:ext cx="0" cy="6858000"/>
          </a:xfrm>
          <a:prstGeom prst="line">
            <a:avLst/>
          </a:prstGeom>
          <a:noFill/>
          <a:ln w="3810">
            <a:solidFill>
              <a:srgbClr val="163352">
                <a:alpha val="35000"/>
              </a:srgbClr>
            </a:solidFill>
            <a:prstDash val="solid"/>
          </a:ln>
        </p:spPr>
      </p:sp>
      <p:sp>
        <p:nvSpPr>
          <p:cNvPr id="12" name="Shape 10"/>
          <p:cNvSpPr/>
          <p:nvPr/>
        </p:nvSpPr>
        <p:spPr>
          <a:xfrm>
            <a:off x="6080760" y="0"/>
            <a:ext cx="0" cy="6858000"/>
          </a:xfrm>
          <a:prstGeom prst="line">
            <a:avLst/>
          </a:prstGeom>
          <a:noFill/>
          <a:ln w="3810">
            <a:solidFill>
              <a:srgbClr val="163352">
                <a:alpha val="35000"/>
              </a:srgbClr>
            </a:solidFill>
            <a:prstDash val="solid"/>
          </a:ln>
        </p:spPr>
      </p:sp>
      <p:sp>
        <p:nvSpPr>
          <p:cNvPr id="13" name="Shape 11"/>
          <p:cNvSpPr/>
          <p:nvPr/>
        </p:nvSpPr>
        <p:spPr>
          <a:xfrm>
            <a:off x="6949440" y="0"/>
            <a:ext cx="0" cy="6858000"/>
          </a:xfrm>
          <a:prstGeom prst="line">
            <a:avLst/>
          </a:prstGeom>
          <a:noFill/>
          <a:ln w="3810">
            <a:solidFill>
              <a:srgbClr val="163352">
                <a:alpha val="35000"/>
              </a:srgbClr>
            </a:solidFill>
            <a:prstDash val="solid"/>
          </a:ln>
        </p:spPr>
      </p:sp>
      <p:sp>
        <p:nvSpPr>
          <p:cNvPr id="14" name="Shape 12"/>
          <p:cNvSpPr/>
          <p:nvPr/>
        </p:nvSpPr>
        <p:spPr>
          <a:xfrm>
            <a:off x="7818120" y="0"/>
            <a:ext cx="0" cy="6858000"/>
          </a:xfrm>
          <a:prstGeom prst="line">
            <a:avLst/>
          </a:prstGeom>
          <a:noFill/>
          <a:ln w="3810">
            <a:solidFill>
              <a:srgbClr val="163352">
                <a:alpha val="35000"/>
              </a:srgbClr>
            </a:solidFill>
            <a:prstDash val="solid"/>
          </a:ln>
        </p:spPr>
      </p:sp>
      <p:sp>
        <p:nvSpPr>
          <p:cNvPr id="15" name="Shape 13"/>
          <p:cNvSpPr/>
          <p:nvPr/>
        </p:nvSpPr>
        <p:spPr>
          <a:xfrm>
            <a:off x="8686800" y="0"/>
            <a:ext cx="0" cy="6858000"/>
          </a:xfrm>
          <a:prstGeom prst="line">
            <a:avLst/>
          </a:prstGeom>
          <a:noFill/>
          <a:ln w="3810">
            <a:solidFill>
              <a:srgbClr val="163352">
                <a:alpha val="35000"/>
              </a:srgbClr>
            </a:solidFill>
            <a:prstDash val="solid"/>
          </a:ln>
        </p:spPr>
      </p:sp>
      <p:sp>
        <p:nvSpPr>
          <p:cNvPr id="16" name="Shape 14"/>
          <p:cNvSpPr/>
          <p:nvPr/>
        </p:nvSpPr>
        <p:spPr>
          <a:xfrm>
            <a:off x="9555480" y="0"/>
            <a:ext cx="0" cy="6858000"/>
          </a:xfrm>
          <a:prstGeom prst="line">
            <a:avLst/>
          </a:prstGeom>
          <a:noFill/>
          <a:ln w="3810">
            <a:solidFill>
              <a:srgbClr val="163352">
                <a:alpha val="35000"/>
              </a:srgbClr>
            </a:solidFill>
            <a:prstDash val="solid"/>
          </a:ln>
        </p:spPr>
      </p:sp>
      <p:sp>
        <p:nvSpPr>
          <p:cNvPr id="17" name="Shape 15"/>
          <p:cNvSpPr/>
          <p:nvPr/>
        </p:nvSpPr>
        <p:spPr>
          <a:xfrm>
            <a:off x="10424160" y="0"/>
            <a:ext cx="0" cy="6858000"/>
          </a:xfrm>
          <a:prstGeom prst="line">
            <a:avLst/>
          </a:prstGeom>
          <a:noFill/>
          <a:ln w="3810">
            <a:solidFill>
              <a:srgbClr val="163352">
                <a:alpha val="35000"/>
              </a:srgbClr>
            </a:solidFill>
            <a:prstDash val="solid"/>
          </a:ln>
        </p:spPr>
      </p:sp>
      <p:sp>
        <p:nvSpPr>
          <p:cNvPr id="18" name="Shape 16"/>
          <p:cNvSpPr/>
          <p:nvPr/>
        </p:nvSpPr>
        <p:spPr>
          <a:xfrm>
            <a:off x="11292840" y="0"/>
            <a:ext cx="0" cy="6858000"/>
          </a:xfrm>
          <a:prstGeom prst="line">
            <a:avLst/>
          </a:prstGeom>
          <a:noFill/>
          <a:ln w="3810">
            <a:solidFill>
              <a:srgbClr val="163352">
                <a:alpha val="35000"/>
              </a:srgbClr>
            </a:solidFill>
            <a:prstDash val="solid"/>
          </a:ln>
        </p:spPr>
      </p:sp>
      <p:sp>
        <p:nvSpPr>
          <p:cNvPr id="19" name="Shape 17"/>
          <p:cNvSpPr/>
          <p:nvPr/>
        </p:nvSpPr>
        <p:spPr>
          <a:xfrm>
            <a:off x="12161520" y="0"/>
            <a:ext cx="0" cy="6858000"/>
          </a:xfrm>
          <a:prstGeom prst="line">
            <a:avLst/>
          </a:prstGeom>
          <a:noFill/>
          <a:ln w="3810">
            <a:solidFill>
              <a:srgbClr val="163352">
                <a:alpha val="35000"/>
              </a:srgbClr>
            </a:solidFill>
            <a:prstDash val="solid"/>
          </a:ln>
        </p:spPr>
      </p:sp>
      <p:sp>
        <p:nvSpPr>
          <p:cNvPr id="20" name="Shape 18"/>
          <p:cNvSpPr/>
          <p:nvPr/>
        </p:nvSpPr>
        <p:spPr>
          <a:xfrm>
            <a:off x="0" y="0"/>
            <a:ext cx="12191695" cy="0"/>
          </a:xfrm>
          <a:prstGeom prst="line">
            <a:avLst/>
          </a:prstGeom>
          <a:noFill/>
          <a:ln w="3810">
            <a:solidFill>
              <a:srgbClr val="163352">
                <a:alpha val="35000"/>
              </a:srgbClr>
            </a:solidFill>
            <a:prstDash val="solid"/>
          </a:ln>
        </p:spPr>
      </p:sp>
      <p:sp>
        <p:nvSpPr>
          <p:cNvPr id="21" name="Shape 19"/>
          <p:cNvSpPr/>
          <p:nvPr/>
        </p:nvSpPr>
        <p:spPr>
          <a:xfrm>
            <a:off x="30479" y="804672"/>
            <a:ext cx="12191695" cy="0"/>
          </a:xfrm>
          <a:prstGeom prst="line">
            <a:avLst/>
          </a:prstGeom>
          <a:noFill/>
          <a:ln w="3810">
            <a:solidFill>
              <a:srgbClr val="163352">
                <a:alpha val="35000"/>
              </a:srgbClr>
            </a:solidFill>
            <a:prstDash val="solid"/>
          </a:ln>
        </p:spPr>
      </p:sp>
      <p:sp>
        <p:nvSpPr>
          <p:cNvPr id="22" name="Shape 20"/>
          <p:cNvSpPr/>
          <p:nvPr/>
        </p:nvSpPr>
        <p:spPr>
          <a:xfrm>
            <a:off x="0" y="1609344"/>
            <a:ext cx="12191695" cy="0"/>
          </a:xfrm>
          <a:prstGeom prst="line">
            <a:avLst/>
          </a:prstGeom>
          <a:noFill/>
          <a:ln w="3810">
            <a:solidFill>
              <a:srgbClr val="163352">
                <a:alpha val="35000"/>
              </a:srgbClr>
            </a:solidFill>
            <a:prstDash val="solid"/>
          </a:ln>
        </p:spPr>
      </p:sp>
      <p:sp>
        <p:nvSpPr>
          <p:cNvPr id="23" name="Shape 21"/>
          <p:cNvSpPr/>
          <p:nvPr/>
        </p:nvSpPr>
        <p:spPr>
          <a:xfrm>
            <a:off x="0" y="2414016"/>
            <a:ext cx="12191695" cy="0"/>
          </a:xfrm>
          <a:prstGeom prst="line">
            <a:avLst/>
          </a:prstGeom>
          <a:noFill/>
          <a:ln w="3810">
            <a:solidFill>
              <a:srgbClr val="163352">
                <a:alpha val="35000"/>
              </a:srgbClr>
            </a:solidFill>
            <a:prstDash val="solid"/>
          </a:ln>
        </p:spPr>
      </p:sp>
      <p:sp>
        <p:nvSpPr>
          <p:cNvPr id="24" name="Shape 22"/>
          <p:cNvSpPr/>
          <p:nvPr/>
        </p:nvSpPr>
        <p:spPr>
          <a:xfrm>
            <a:off x="0" y="3218688"/>
            <a:ext cx="12191695" cy="0"/>
          </a:xfrm>
          <a:prstGeom prst="line">
            <a:avLst/>
          </a:prstGeom>
          <a:noFill/>
          <a:ln w="3810">
            <a:solidFill>
              <a:srgbClr val="163352">
                <a:alpha val="35000"/>
              </a:srgbClr>
            </a:solidFill>
            <a:prstDash val="solid"/>
          </a:ln>
        </p:spPr>
      </p:sp>
      <p:sp>
        <p:nvSpPr>
          <p:cNvPr id="25" name="Shape 23"/>
          <p:cNvSpPr/>
          <p:nvPr/>
        </p:nvSpPr>
        <p:spPr>
          <a:xfrm>
            <a:off x="0" y="4023360"/>
            <a:ext cx="12191695" cy="0"/>
          </a:xfrm>
          <a:prstGeom prst="line">
            <a:avLst/>
          </a:prstGeom>
          <a:noFill/>
          <a:ln w="3810">
            <a:solidFill>
              <a:srgbClr val="163352">
                <a:alpha val="35000"/>
              </a:srgbClr>
            </a:solidFill>
            <a:prstDash val="solid"/>
          </a:ln>
        </p:spPr>
      </p:sp>
      <p:sp>
        <p:nvSpPr>
          <p:cNvPr id="26" name="Shape 24"/>
          <p:cNvSpPr/>
          <p:nvPr/>
        </p:nvSpPr>
        <p:spPr>
          <a:xfrm>
            <a:off x="0" y="4828032"/>
            <a:ext cx="12191695" cy="0"/>
          </a:xfrm>
          <a:prstGeom prst="line">
            <a:avLst/>
          </a:prstGeom>
          <a:noFill/>
          <a:ln w="3810">
            <a:solidFill>
              <a:srgbClr val="163352">
                <a:alpha val="35000"/>
              </a:srgbClr>
            </a:solidFill>
            <a:prstDash val="solid"/>
          </a:ln>
        </p:spPr>
      </p:sp>
      <p:sp>
        <p:nvSpPr>
          <p:cNvPr id="27" name="Shape 25"/>
          <p:cNvSpPr/>
          <p:nvPr/>
        </p:nvSpPr>
        <p:spPr>
          <a:xfrm>
            <a:off x="0" y="5632704"/>
            <a:ext cx="12191695" cy="0"/>
          </a:xfrm>
          <a:prstGeom prst="line">
            <a:avLst/>
          </a:prstGeom>
          <a:noFill/>
          <a:ln w="3810">
            <a:solidFill>
              <a:srgbClr val="163352">
                <a:alpha val="35000"/>
              </a:srgbClr>
            </a:solidFill>
            <a:prstDash val="solid"/>
          </a:ln>
        </p:spPr>
      </p:sp>
      <p:sp>
        <p:nvSpPr>
          <p:cNvPr id="28" name="Shape 26"/>
          <p:cNvSpPr/>
          <p:nvPr/>
        </p:nvSpPr>
        <p:spPr>
          <a:xfrm>
            <a:off x="0" y="6437376"/>
            <a:ext cx="12191695" cy="0"/>
          </a:xfrm>
          <a:prstGeom prst="line">
            <a:avLst/>
          </a:prstGeom>
          <a:noFill/>
          <a:ln w="3810">
            <a:solidFill>
              <a:srgbClr val="163352">
                <a:alpha val="35000"/>
              </a:srgbClr>
            </a:solidFill>
            <a:prstDash val="solid"/>
          </a:ln>
        </p:spPr>
      </p:sp>
      <p:sp>
        <p:nvSpPr>
          <p:cNvPr id="29" name="Shape 27"/>
          <p:cNvSpPr/>
          <p:nvPr/>
        </p:nvSpPr>
        <p:spPr>
          <a:xfrm>
            <a:off x="411480" y="6400800"/>
            <a:ext cx="11375136" cy="0"/>
          </a:xfrm>
          <a:prstGeom prst="line">
            <a:avLst/>
          </a:prstGeom>
          <a:noFill/>
          <a:ln w="8890">
            <a:solidFill>
              <a:srgbClr val="1B4C70">
                <a:alpha val="75000"/>
              </a:srgbClr>
            </a:solidFill>
            <a:prstDash val="solid"/>
          </a:ln>
        </p:spPr>
      </p:sp>
      <p:sp>
        <p:nvSpPr>
          <p:cNvPr id="32" name="Text 30"/>
          <p:cNvSpPr/>
          <p:nvPr/>
        </p:nvSpPr>
        <p:spPr>
          <a:xfrm>
            <a:off x="511971" y="201168"/>
            <a:ext cx="8412480" cy="384048"/>
          </a:xfrm>
          <a:prstGeom prst="rect">
            <a:avLst/>
          </a:prstGeom>
          <a:noFill/>
          <a:ln/>
        </p:spPr>
        <p:txBody>
          <a:bodyPr wrap="square" lIns="0" tIns="0" rIns="0" bIns="0" rtlCol="0" anchor="ctr">
            <a:noAutofit/>
          </a:bodyPr>
          <a:lstStyle/>
          <a:p>
            <a:pPr marL="0" indent="0">
              <a:buNone/>
            </a:pPr>
            <a:r>
              <a:rPr lang="en-US" sz="2800" b="1" dirty="0">
                <a:latin typeface="Aptos Display" pitchFamily="34" charset="0"/>
                <a:ea typeface="Aptos Display" pitchFamily="34" charset="-122"/>
                <a:cs typeface="Aptos Display" pitchFamily="34" charset="-120"/>
              </a:rPr>
              <a:t>9. </a:t>
            </a:r>
            <a:r>
              <a:rPr lang="en-US" sz="2800" b="1" dirty="0" err="1">
                <a:latin typeface="Aptos Display" pitchFamily="34" charset="0"/>
                <a:ea typeface="Aptos Display" pitchFamily="34" charset="-122"/>
                <a:cs typeface="Aptos Display" pitchFamily="34" charset="-120"/>
              </a:rPr>
              <a:t>Đánh</a:t>
            </a:r>
            <a:r>
              <a:rPr lang="en-US" sz="2800" b="1" dirty="0">
                <a:latin typeface="Aptos Display" pitchFamily="34" charset="0"/>
                <a:ea typeface="Aptos Display" pitchFamily="34" charset="-122"/>
                <a:cs typeface="Aptos Display" pitchFamily="34" charset="-120"/>
              </a:rPr>
              <a:t> giá kết quả nhận diện</a:t>
            </a:r>
            <a:endParaRPr lang="en-US" sz="2800" b="1" dirty="0"/>
          </a:p>
        </p:txBody>
      </p:sp>
      <p:sp>
        <p:nvSpPr>
          <p:cNvPr id="35" name="Text 33"/>
          <p:cNvSpPr/>
          <p:nvPr/>
        </p:nvSpPr>
        <p:spPr>
          <a:xfrm>
            <a:off x="603504" y="6473952"/>
            <a:ext cx="5029200" cy="128016"/>
          </a:xfrm>
          <a:prstGeom prst="rect">
            <a:avLst/>
          </a:prstGeom>
          <a:noFill/>
          <a:ln/>
        </p:spPr>
        <p:txBody>
          <a:bodyPr wrap="square" lIns="0" tIns="0" rIns="0" bIns="0" rtlCol="0" anchor="ctr">
            <a:noAutofit/>
          </a:bodyPr>
          <a:lstStyle/>
          <a:p>
            <a:pPr marL="0" indent="0">
              <a:buNone/>
            </a:pPr>
            <a:r>
              <a:rPr lang="en-US" sz="1200" dirty="0">
                <a:solidFill>
                  <a:srgbClr val="7EA4C1"/>
                </a:solidFill>
              </a:rPr>
              <a:t>Nhóm 2 • Nhận diện khuôn mặt phục vụ </a:t>
            </a:r>
            <a:r>
              <a:rPr lang="en-US" sz="1200" dirty="0" err="1">
                <a:solidFill>
                  <a:srgbClr val="7EA4C1"/>
                </a:solidFill>
              </a:rPr>
              <a:t>điểm</a:t>
            </a:r>
            <a:r>
              <a:rPr lang="en-US" sz="1200" dirty="0">
                <a:solidFill>
                  <a:srgbClr val="7EA4C1"/>
                </a:solidFill>
              </a:rPr>
              <a:t> </a:t>
            </a:r>
            <a:r>
              <a:rPr lang="en-US" sz="1200" dirty="0" err="1">
                <a:solidFill>
                  <a:srgbClr val="7EA4C1"/>
                </a:solidFill>
              </a:rPr>
              <a:t>danh</a:t>
            </a:r>
            <a:r>
              <a:rPr lang="en-US" sz="1200" dirty="0">
                <a:solidFill>
                  <a:srgbClr val="7EA4C1"/>
                </a:solidFill>
              </a:rPr>
              <a:t> </a:t>
            </a:r>
            <a:r>
              <a:rPr lang="en-US" sz="1200" dirty="0" err="1">
                <a:solidFill>
                  <a:srgbClr val="7EA4C1"/>
                </a:solidFill>
              </a:rPr>
              <a:t>sinh</a:t>
            </a:r>
            <a:r>
              <a:rPr lang="en-US" sz="1200" dirty="0">
                <a:solidFill>
                  <a:srgbClr val="7EA4C1"/>
                </a:solidFill>
              </a:rPr>
              <a:t> </a:t>
            </a:r>
            <a:r>
              <a:rPr lang="en-US" sz="1200" dirty="0" err="1">
                <a:solidFill>
                  <a:srgbClr val="7EA4C1"/>
                </a:solidFill>
              </a:rPr>
              <a:t>viên</a:t>
            </a:r>
            <a:endParaRPr lang="en-US" sz="1200" dirty="0"/>
          </a:p>
        </p:txBody>
      </p:sp>
      <p:sp>
        <p:nvSpPr>
          <p:cNvPr id="36" name="Text 34"/>
          <p:cNvSpPr/>
          <p:nvPr/>
        </p:nvSpPr>
        <p:spPr>
          <a:xfrm>
            <a:off x="11201400" y="6473952"/>
            <a:ext cx="502920" cy="128016"/>
          </a:xfrm>
          <a:prstGeom prst="rect">
            <a:avLst/>
          </a:prstGeom>
          <a:noFill/>
          <a:ln/>
        </p:spPr>
        <p:txBody>
          <a:bodyPr wrap="square" lIns="0" tIns="0" rIns="0" bIns="0" rtlCol="0" anchor="ctr"/>
          <a:lstStyle/>
          <a:p>
            <a:pPr marL="0" indent="0" algn="r">
              <a:buNone/>
            </a:pPr>
            <a:r>
              <a:rPr lang="en-US" sz="780" dirty="0">
                <a:solidFill>
                  <a:srgbClr val="00E5FF"/>
                </a:solidFill>
                <a:latin typeface="Bahnschrift" pitchFamily="34" charset="0"/>
                <a:ea typeface="Bahnschrift" pitchFamily="34" charset="-122"/>
                <a:cs typeface="Bahnschrift" pitchFamily="34" charset="-120"/>
              </a:rPr>
              <a:t>08 / 10</a:t>
            </a:r>
            <a:endParaRPr lang="en-US" sz="780" dirty="0"/>
          </a:p>
        </p:txBody>
      </p:sp>
      <p:sp>
        <p:nvSpPr>
          <p:cNvPr id="37" name="Text 35"/>
          <p:cNvSpPr/>
          <p:nvPr/>
        </p:nvSpPr>
        <p:spPr>
          <a:xfrm>
            <a:off x="608359" y="957575"/>
            <a:ext cx="6217920" cy="201168"/>
          </a:xfrm>
          <a:prstGeom prst="rect">
            <a:avLst/>
          </a:prstGeom>
          <a:noFill/>
          <a:ln/>
        </p:spPr>
        <p:txBody>
          <a:bodyPr wrap="square" lIns="0" tIns="0" rIns="0" bIns="0" rtlCol="0" anchor="ctr"/>
          <a:lstStyle/>
          <a:p>
            <a:pPr marL="0" indent="0">
              <a:buNone/>
            </a:pPr>
            <a:r>
              <a:rPr lang="en-US" sz="2000" b="1" dirty="0"/>
              <a:t>Tỷ lệ nhận diện đúng theo điều kiện thử nghiệm</a:t>
            </a:r>
            <a:endParaRPr lang="en-US" sz="2000" dirty="0"/>
          </a:p>
        </p:txBody>
      </p:sp>
      <p:sp>
        <p:nvSpPr>
          <p:cNvPr id="38" name="Shape 36"/>
          <p:cNvSpPr/>
          <p:nvPr/>
        </p:nvSpPr>
        <p:spPr>
          <a:xfrm>
            <a:off x="510693" y="1316735"/>
            <a:ext cx="6446520" cy="4480560"/>
          </a:xfrm>
          <a:prstGeom prst="roundRect">
            <a:avLst>
              <a:gd name="adj" fmla="val 3673"/>
            </a:avLst>
          </a:prstGeom>
          <a:solidFill>
            <a:srgbClr val="061A2C">
              <a:alpha val="95000"/>
            </a:srgbClr>
          </a:solidFill>
          <a:ln w="10160">
            <a:solidFill>
              <a:srgbClr val="1D5B78">
                <a:alpha val="90000"/>
              </a:srgbClr>
            </a:solidFill>
            <a:prstDash val="solid"/>
          </a:ln>
          <a:effectLst>
            <a:outerShdw blurRad="16510" dist="50800" dir="2700000" algn="bl" rotWithShape="0">
              <a:srgbClr val="00E5FF">
                <a:alpha val="11000"/>
              </a:srgbClr>
            </a:outerShdw>
          </a:effectLst>
        </p:spPr>
      </p:sp>
      <p:sp>
        <p:nvSpPr>
          <p:cNvPr id="39" name="Shape 37"/>
          <p:cNvSpPr/>
          <p:nvPr/>
        </p:nvSpPr>
        <p:spPr>
          <a:xfrm>
            <a:off x="1508760" y="1874562"/>
            <a:ext cx="841248" cy="2432217"/>
          </a:xfrm>
          <a:prstGeom prst="rect">
            <a:avLst/>
          </a:prstGeom>
          <a:solidFill>
            <a:srgbClr val="22C55E">
              <a:alpha val="95000"/>
            </a:srgbClr>
          </a:solidFill>
          <a:ln w="12700">
            <a:solidFill>
              <a:srgbClr val="333333">
                <a:alpha val="0"/>
              </a:srgbClr>
            </a:solidFill>
            <a:prstDash val="solid"/>
          </a:ln>
        </p:spPr>
      </p:sp>
      <p:sp>
        <p:nvSpPr>
          <p:cNvPr id="40" name="Text 38"/>
          <p:cNvSpPr/>
          <p:nvPr/>
        </p:nvSpPr>
        <p:spPr>
          <a:xfrm>
            <a:off x="1344168" y="1572855"/>
            <a:ext cx="1170432" cy="128016"/>
          </a:xfrm>
          <a:prstGeom prst="rect">
            <a:avLst/>
          </a:prstGeom>
          <a:noFill/>
          <a:ln/>
        </p:spPr>
        <p:txBody>
          <a:bodyPr wrap="square" lIns="0" tIns="0" rIns="0" bIns="0" rtlCol="0" anchor="ctr"/>
          <a:lstStyle/>
          <a:p>
            <a:pPr marL="0" indent="0" algn="ctr">
              <a:buNone/>
            </a:pPr>
            <a:r>
              <a:rPr lang="en-US" sz="1100" b="1" dirty="0">
                <a:solidFill>
                  <a:srgbClr val="22C55E"/>
                </a:solidFill>
                <a:latin typeface="Bahnschrift" pitchFamily="34" charset="0"/>
                <a:ea typeface="Bahnschrift" pitchFamily="34" charset="-122"/>
                <a:cs typeface="Bahnschrift" pitchFamily="34" charset="-120"/>
              </a:rPr>
              <a:t>93.33%</a:t>
            </a:r>
            <a:endParaRPr lang="en-US" sz="1100" dirty="0"/>
          </a:p>
        </p:txBody>
      </p:sp>
      <p:sp>
        <p:nvSpPr>
          <p:cNvPr id="41" name="Text 39"/>
          <p:cNvSpPr/>
          <p:nvPr/>
        </p:nvSpPr>
        <p:spPr>
          <a:xfrm>
            <a:off x="1161288" y="4453128"/>
            <a:ext cx="1508760" cy="320040"/>
          </a:xfrm>
          <a:prstGeom prst="rect">
            <a:avLst/>
          </a:prstGeom>
          <a:noFill/>
          <a:ln/>
        </p:spPr>
        <p:txBody>
          <a:bodyPr wrap="square" lIns="0" tIns="0" rIns="0" bIns="0" rtlCol="0" anchor="ctr">
            <a:noAutofit/>
          </a:bodyPr>
          <a:lstStyle/>
          <a:p>
            <a:pPr marL="0" indent="0" algn="ctr">
              <a:buNone/>
            </a:pPr>
            <a:r>
              <a:rPr lang="en-US" sz="1400" dirty="0">
                <a:solidFill>
                  <a:srgbClr val="EAF6FF"/>
                </a:solidFill>
              </a:rPr>
              <a:t>Ánh sáng ổn định</a:t>
            </a:r>
            <a:endParaRPr lang="en-US" sz="1400" dirty="0"/>
          </a:p>
          <a:p>
            <a:pPr marL="0" indent="0" algn="ctr">
              <a:buNone/>
            </a:pPr>
            <a:r>
              <a:rPr lang="en-US" sz="1400" dirty="0">
                <a:solidFill>
                  <a:srgbClr val="EAF6FF"/>
                </a:solidFill>
              </a:rPr>
              <a:t>nhìn chính diện</a:t>
            </a:r>
            <a:endParaRPr lang="en-US" sz="1400" dirty="0"/>
          </a:p>
        </p:txBody>
      </p:sp>
      <p:sp>
        <p:nvSpPr>
          <p:cNvPr id="42" name="Shape 40"/>
          <p:cNvSpPr/>
          <p:nvPr/>
        </p:nvSpPr>
        <p:spPr>
          <a:xfrm>
            <a:off x="3136392" y="2126067"/>
            <a:ext cx="841248" cy="2171613"/>
          </a:xfrm>
          <a:prstGeom prst="rect">
            <a:avLst/>
          </a:prstGeom>
          <a:solidFill>
            <a:srgbClr val="00E5FF">
              <a:alpha val="95000"/>
            </a:srgbClr>
          </a:solidFill>
          <a:ln w="12700">
            <a:solidFill>
              <a:srgbClr val="333333">
                <a:alpha val="0"/>
              </a:srgbClr>
            </a:solidFill>
            <a:prstDash val="solid"/>
          </a:ln>
        </p:spPr>
      </p:sp>
      <p:sp>
        <p:nvSpPr>
          <p:cNvPr id="43" name="Text 41"/>
          <p:cNvSpPr/>
          <p:nvPr/>
        </p:nvSpPr>
        <p:spPr>
          <a:xfrm>
            <a:off x="2971800" y="1833459"/>
            <a:ext cx="1170432" cy="128016"/>
          </a:xfrm>
          <a:prstGeom prst="rect">
            <a:avLst/>
          </a:prstGeom>
          <a:noFill/>
          <a:ln/>
        </p:spPr>
        <p:txBody>
          <a:bodyPr wrap="square" lIns="0" tIns="0" rIns="0" bIns="0" rtlCol="0" anchor="ctr"/>
          <a:lstStyle/>
          <a:p>
            <a:pPr marL="0" indent="0" algn="ctr">
              <a:buNone/>
            </a:pPr>
            <a:r>
              <a:rPr lang="en-US" sz="1100" b="1" dirty="0">
                <a:solidFill>
                  <a:srgbClr val="00E5FF"/>
                </a:solidFill>
                <a:latin typeface="Bahnschrift" pitchFamily="34" charset="0"/>
                <a:ea typeface="Bahnschrift" pitchFamily="34" charset="-122"/>
                <a:cs typeface="Bahnschrift" pitchFamily="34" charset="-120"/>
              </a:rPr>
              <a:t>83.33%</a:t>
            </a:r>
            <a:endParaRPr lang="en-US" sz="1100" dirty="0"/>
          </a:p>
        </p:txBody>
      </p:sp>
      <p:sp>
        <p:nvSpPr>
          <p:cNvPr id="44" name="Text 42"/>
          <p:cNvSpPr/>
          <p:nvPr/>
        </p:nvSpPr>
        <p:spPr>
          <a:xfrm>
            <a:off x="2788920" y="4453128"/>
            <a:ext cx="1508760" cy="320040"/>
          </a:xfrm>
          <a:prstGeom prst="rect">
            <a:avLst/>
          </a:prstGeom>
          <a:noFill/>
          <a:ln/>
        </p:spPr>
        <p:txBody>
          <a:bodyPr wrap="square" lIns="0" tIns="0" rIns="0" bIns="0" rtlCol="0" anchor="ctr">
            <a:noAutofit/>
          </a:bodyPr>
          <a:lstStyle/>
          <a:p>
            <a:pPr marL="0" indent="0" algn="ctr">
              <a:buNone/>
            </a:pPr>
            <a:r>
              <a:rPr lang="en-US" sz="1400" dirty="0">
                <a:solidFill>
                  <a:srgbClr val="EAF6FF"/>
                </a:solidFill>
              </a:rPr>
              <a:t>Khuôn mặt</a:t>
            </a:r>
            <a:endParaRPr lang="en-US" sz="1400" dirty="0"/>
          </a:p>
          <a:p>
            <a:pPr marL="0" indent="0" algn="ctr">
              <a:buNone/>
            </a:pPr>
            <a:r>
              <a:rPr lang="en-US" sz="1400" dirty="0">
                <a:solidFill>
                  <a:srgbClr val="EAF6FF"/>
                </a:solidFill>
              </a:rPr>
              <a:t>hơi nghiêng</a:t>
            </a:r>
            <a:endParaRPr lang="en-US" sz="1400" dirty="0"/>
          </a:p>
        </p:txBody>
      </p:sp>
      <p:sp>
        <p:nvSpPr>
          <p:cNvPr id="45" name="Shape 43"/>
          <p:cNvSpPr/>
          <p:nvPr/>
        </p:nvSpPr>
        <p:spPr>
          <a:xfrm>
            <a:off x="4764024" y="2386671"/>
            <a:ext cx="841248" cy="1911009"/>
          </a:xfrm>
          <a:prstGeom prst="rect">
            <a:avLst/>
          </a:prstGeom>
          <a:solidFill>
            <a:srgbClr val="F59E0B">
              <a:alpha val="95000"/>
            </a:srgbClr>
          </a:solidFill>
          <a:ln w="12700">
            <a:solidFill>
              <a:srgbClr val="333333">
                <a:alpha val="0"/>
              </a:srgbClr>
            </a:solidFill>
            <a:prstDash val="solid"/>
          </a:ln>
        </p:spPr>
      </p:sp>
      <p:sp>
        <p:nvSpPr>
          <p:cNvPr id="46" name="Text 44"/>
          <p:cNvSpPr/>
          <p:nvPr/>
        </p:nvSpPr>
        <p:spPr>
          <a:xfrm>
            <a:off x="4599432" y="2094063"/>
            <a:ext cx="1170432" cy="128016"/>
          </a:xfrm>
          <a:prstGeom prst="rect">
            <a:avLst/>
          </a:prstGeom>
          <a:noFill/>
          <a:ln/>
        </p:spPr>
        <p:txBody>
          <a:bodyPr wrap="square" lIns="0" tIns="0" rIns="0" bIns="0" rtlCol="0" anchor="ctr"/>
          <a:lstStyle/>
          <a:p>
            <a:pPr marL="0" indent="0" algn="ctr">
              <a:buNone/>
            </a:pPr>
            <a:r>
              <a:rPr lang="en-US" sz="1100" b="1" dirty="0">
                <a:solidFill>
                  <a:srgbClr val="F59E0B"/>
                </a:solidFill>
                <a:latin typeface="Bahnschrift" pitchFamily="34" charset="0"/>
                <a:ea typeface="Bahnschrift" pitchFamily="34" charset="-122"/>
                <a:cs typeface="Bahnschrift" pitchFamily="34" charset="-120"/>
              </a:rPr>
              <a:t>73.33%</a:t>
            </a:r>
            <a:endParaRPr lang="en-US" sz="1100" dirty="0"/>
          </a:p>
        </p:txBody>
      </p:sp>
      <p:sp>
        <p:nvSpPr>
          <p:cNvPr id="47" name="Text 45"/>
          <p:cNvSpPr/>
          <p:nvPr/>
        </p:nvSpPr>
        <p:spPr>
          <a:xfrm>
            <a:off x="4416552" y="4453128"/>
            <a:ext cx="1508760" cy="320040"/>
          </a:xfrm>
          <a:prstGeom prst="rect">
            <a:avLst/>
          </a:prstGeom>
          <a:noFill/>
          <a:ln/>
        </p:spPr>
        <p:txBody>
          <a:bodyPr wrap="square" lIns="0" tIns="0" rIns="0" bIns="0" rtlCol="0" anchor="ctr">
            <a:noAutofit/>
          </a:bodyPr>
          <a:lstStyle/>
          <a:p>
            <a:pPr marL="0" indent="0" algn="ctr">
              <a:buNone/>
            </a:pPr>
            <a:r>
              <a:rPr lang="en-US" sz="1400" dirty="0">
                <a:solidFill>
                  <a:srgbClr val="EAF6FF"/>
                </a:solidFill>
              </a:rPr>
              <a:t>Khoảng cách</a:t>
            </a:r>
            <a:endParaRPr lang="en-US" sz="1400" dirty="0"/>
          </a:p>
          <a:p>
            <a:pPr marL="0" indent="0" algn="ctr">
              <a:buNone/>
            </a:pPr>
            <a:r>
              <a:rPr lang="en-US" sz="1400" dirty="0">
                <a:solidFill>
                  <a:srgbClr val="EAF6FF"/>
                </a:solidFill>
              </a:rPr>
              <a:t>xa camera</a:t>
            </a:r>
            <a:endParaRPr lang="en-US" sz="1400" dirty="0"/>
          </a:p>
        </p:txBody>
      </p:sp>
      <p:sp>
        <p:nvSpPr>
          <p:cNvPr id="48" name="Shape 46"/>
          <p:cNvSpPr/>
          <p:nvPr/>
        </p:nvSpPr>
        <p:spPr>
          <a:xfrm>
            <a:off x="1188720" y="4297680"/>
            <a:ext cx="5029200" cy="0"/>
          </a:xfrm>
          <a:prstGeom prst="line">
            <a:avLst/>
          </a:prstGeom>
          <a:noFill/>
          <a:ln w="10160">
            <a:solidFill>
              <a:srgbClr val="2D4E6A"/>
            </a:solidFill>
            <a:prstDash val="solid"/>
          </a:ln>
        </p:spPr>
      </p:sp>
      <p:sp>
        <p:nvSpPr>
          <p:cNvPr id="49" name="Shape 47"/>
          <p:cNvSpPr/>
          <p:nvPr/>
        </p:nvSpPr>
        <p:spPr>
          <a:xfrm>
            <a:off x="7159753" y="1233779"/>
            <a:ext cx="4206233" cy="3364993"/>
          </a:xfrm>
          <a:prstGeom prst="roundRect">
            <a:avLst>
              <a:gd name="adj" fmla="val 4932"/>
            </a:avLst>
          </a:prstGeom>
          <a:solidFill>
            <a:srgbClr val="0A1D31">
              <a:alpha val="95000"/>
            </a:srgbClr>
          </a:solidFill>
          <a:ln w="10160">
            <a:solidFill>
              <a:srgbClr val="00E5FF">
                <a:alpha val="90000"/>
              </a:srgbClr>
            </a:solidFill>
            <a:prstDash val="solid"/>
          </a:ln>
          <a:effectLst>
            <a:outerShdw blurRad="16510" dist="50800" dir="2700000" algn="bl" rotWithShape="0">
              <a:srgbClr val="00E5FF">
                <a:alpha val="11000"/>
              </a:srgbClr>
            </a:outerShdw>
          </a:effectLst>
        </p:spPr>
      </p:sp>
      <p:sp>
        <p:nvSpPr>
          <p:cNvPr id="50" name="Text 48"/>
          <p:cNvSpPr/>
          <p:nvPr/>
        </p:nvSpPr>
        <p:spPr>
          <a:xfrm>
            <a:off x="7662672" y="1773936"/>
            <a:ext cx="2926080" cy="182880"/>
          </a:xfrm>
          <a:prstGeom prst="rect">
            <a:avLst/>
          </a:prstGeom>
          <a:noFill/>
          <a:ln/>
        </p:spPr>
        <p:txBody>
          <a:bodyPr wrap="square" lIns="0" tIns="0" rIns="0" bIns="0" rtlCol="0" anchor="ctr"/>
          <a:lstStyle/>
          <a:p>
            <a:pPr marL="0" indent="0">
              <a:buNone/>
            </a:pPr>
            <a:r>
              <a:rPr lang="en-US" sz="1800" b="1" dirty="0">
                <a:solidFill>
                  <a:srgbClr val="FFFFFF"/>
                </a:solidFill>
              </a:rPr>
              <a:t>Nhận xét chính</a:t>
            </a:r>
            <a:endParaRPr lang="en-US" sz="1800" dirty="0"/>
          </a:p>
        </p:txBody>
      </p:sp>
      <p:sp>
        <p:nvSpPr>
          <p:cNvPr id="51" name="Shape 49"/>
          <p:cNvSpPr/>
          <p:nvPr/>
        </p:nvSpPr>
        <p:spPr>
          <a:xfrm>
            <a:off x="7699248" y="2404872"/>
            <a:ext cx="73152" cy="73152"/>
          </a:xfrm>
          <a:prstGeom prst="ellipse">
            <a:avLst/>
          </a:prstGeom>
          <a:solidFill>
            <a:srgbClr val="00E5FF"/>
          </a:solidFill>
          <a:ln w="12700">
            <a:solidFill>
              <a:srgbClr val="333333">
                <a:alpha val="0"/>
              </a:srgbClr>
            </a:solidFill>
            <a:prstDash val="solid"/>
          </a:ln>
        </p:spPr>
      </p:sp>
      <p:sp>
        <p:nvSpPr>
          <p:cNvPr id="52" name="Text 50"/>
          <p:cNvSpPr/>
          <p:nvPr/>
        </p:nvSpPr>
        <p:spPr>
          <a:xfrm>
            <a:off x="7863840" y="2331720"/>
            <a:ext cx="310896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Ánh sáng ổn định cho kết quả tốt nhất: 93,33%.</a:t>
            </a:r>
            <a:endParaRPr lang="en-US" sz="1400" dirty="0"/>
          </a:p>
        </p:txBody>
      </p:sp>
      <p:sp>
        <p:nvSpPr>
          <p:cNvPr id="53" name="Shape 51"/>
          <p:cNvSpPr/>
          <p:nvPr/>
        </p:nvSpPr>
        <p:spPr>
          <a:xfrm>
            <a:off x="7699248" y="2999232"/>
            <a:ext cx="73152" cy="73152"/>
          </a:xfrm>
          <a:prstGeom prst="ellipse">
            <a:avLst/>
          </a:prstGeom>
          <a:solidFill>
            <a:srgbClr val="00E5FF"/>
          </a:solidFill>
          <a:ln w="12700">
            <a:solidFill>
              <a:srgbClr val="333333">
                <a:alpha val="0"/>
              </a:srgbClr>
            </a:solidFill>
            <a:prstDash val="solid"/>
          </a:ln>
        </p:spPr>
      </p:sp>
      <p:sp>
        <p:nvSpPr>
          <p:cNvPr id="54" name="Text 52"/>
          <p:cNvSpPr/>
          <p:nvPr/>
        </p:nvSpPr>
        <p:spPr>
          <a:xfrm>
            <a:off x="7863840" y="2926080"/>
            <a:ext cx="310896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Khuôn mặt nghiêng làm giảm độ ổn định của vector.</a:t>
            </a:r>
            <a:endParaRPr lang="en-US" sz="1400" dirty="0"/>
          </a:p>
        </p:txBody>
      </p:sp>
      <p:sp>
        <p:nvSpPr>
          <p:cNvPr id="55" name="Shape 53"/>
          <p:cNvSpPr/>
          <p:nvPr/>
        </p:nvSpPr>
        <p:spPr>
          <a:xfrm>
            <a:off x="7699248" y="3593592"/>
            <a:ext cx="73152" cy="73152"/>
          </a:xfrm>
          <a:prstGeom prst="ellipse">
            <a:avLst/>
          </a:prstGeom>
          <a:solidFill>
            <a:srgbClr val="00E5FF"/>
          </a:solidFill>
          <a:ln w="12700">
            <a:solidFill>
              <a:srgbClr val="333333">
                <a:alpha val="0"/>
              </a:srgbClr>
            </a:solidFill>
            <a:prstDash val="solid"/>
          </a:ln>
        </p:spPr>
      </p:sp>
      <p:sp>
        <p:nvSpPr>
          <p:cNvPr id="56" name="Text 54"/>
          <p:cNvSpPr/>
          <p:nvPr/>
        </p:nvSpPr>
        <p:spPr>
          <a:xfrm>
            <a:off x="7863840" y="3520440"/>
            <a:ext cx="310896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Camera đặt xa làm tăng số lần không nhận diện.</a:t>
            </a:r>
            <a:endParaRPr lang="en-US" sz="1400" dirty="0"/>
          </a:p>
        </p:txBody>
      </p:sp>
      <p:sp>
        <p:nvSpPr>
          <p:cNvPr id="57" name="Shape 55"/>
          <p:cNvSpPr/>
          <p:nvPr/>
        </p:nvSpPr>
        <p:spPr>
          <a:xfrm>
            <a:off x="7360920" y="5166360"/>
            <a:ext cx="3977640" cy="566928"/>
          </a:xfrm>
          <a:prstGeom prst="roundRect">
            <a:avLst>
              <a:gd name="adj" fmla="val 22581"/>
            </a:avLst>
          </a:prstGeom>
          <a:solidFill>
            <a:srgbClr val="021C14">
              <a:alpha val="95000"/>
            </a:srgbClr>
          </a:solidFill>
          <a:ln w="10160">
            <a:solidFill>
              <a:srgbClr val="22C55E">
                <a:alpha val="90000"/>
              </a:srgbClr>
            </a:solidFill>
            <a:prstDash val="solid"/>
          </a:ln>
          <a:effectLst>
            <a:outerShdw blurRad="16510" dist="50800" dir="2700000" algn="bl" rotWithShape="0">
              <a:srgbClr val="00E5FF">
                <a:alpha val="11000"/>
              </a:srgbClr>
            </a:outerShdw>
          </a:effectLst>
        </p:spPr>
      </p:sp>
      <p:sp>
        <p:nvSpPr>
          <p:cNvPr id="58" name="Text 56"/>
          <p:cNvSpPr/>
          <p:nvPr/>
        </p:nvSpPr>
        <p:spPr>
          <a:xfrm>
            <a:off x="7543800" y="5367528"/>
            <a:ext cx="3611880" cy="128016"/>
          </a:xfrm>
          <a:prstGeom prst="rect">
            <a:avLst/>
          </a:prstGeom>
          <a:noFill/>
          <a:ln/>
        </p:spPr>
        <p:txBody>
          <a:bodyPr wrap="square" lIns="0" tIns="0" rIns="0" bIns="0" rtlCol="0" anchor="ctr">
            <a:noAutofit/>
          </a:bodyPr>
          <a:lstStyle/>
          <a:p>
            <a:pPr marL="0" indent="0" algn="ctr">
              <a:buNone/>
            </a:pPr>
            <a:r>
              <a:rPr lang="en-US" sz="1600" b="1" dirty="0">
                <a:solidFill>
                  <a:srgbClr val="DDFEEA"/>
                </a:solidFill>
              </a:rPr>
              <a:t>Kết luận: nên đặt camera chính diện, đủ sáng và ở khoảng cách phù hợp.</a:t>
            </a:r>
            <a:endParaRPr lang="en-US" sz="1600" dirty="0"/>
          </a:p>
        </p:txBody>
      </p:sp>
      <p:sp>
        <p:nvSpPr>
          <p:cNvPr id="59" name="Shape 2">
            <a:extLst>
              <a:ext uri="{FF2B5EF4-FFF2-40B4-BE49-F238E27FC236}">
                <a16:creationId xmlns:a16="http://schemas.microsoft.com/office/drawing/2014/main" id="{E33EC391-6785-C82D-4ACB-99DE7BA47C43}"/>
              </a:ext>
            </a:extLst>
          </p:cNvPr>
          <p:cNvSpPr/>
          <p:nvPr/>
        </p:nvSpPr>
        <p:spPr>
          <a:xfrm>
            <a:off x="362924" y="136501"/>
            <a:ext cx="109728" cy="566928"/>
          </a:xfrm>
          <a:prstGeom prst="roundRect">
            <a:avLst>
              <a:gd name="adj" fmla="val 33333"/>
            </a:avLst>
          </a:prstGeom>
          <a:solidFill>
            <a:srgbClr val="1D6BFF"/>
          </a:solidFill>
          <a:ln w="12700">
            <a:solidFill>
              <a:srgbClr val="1D6BFF">
                <a:alpha val="0"/>
              </a:srgbClr>
            </a:solidFill>
            <a:prstDash val="solid"/>
          </a:ln>
        </p:spPr>
      </p:sp>
    </p:spTree>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54480" y="-1280160"/>
            <a:ext cx="4937760" cy="3840480"/>
          </a:xfrm>
          <a:prstGeom prst="ellipse">
            <a:avLst/>
          </a:prstGeom>
          <a:solidFill>
            <a:srgbClr val="0B4E83">
              <a:alpha val="50000"/>
            </a:srgbClr>
          </a:solidFill>
          <a:ln w="12700">
            <a:solidFill>
              <a:srgbClr val="333333">
                <a:alpha val="0"/>
              </a:srgbClr>
            </a:solidFill>
            <a:prstDash val="solid"/>
          </a:ln>
        </p:spPr>
      </p:sp>
      <p:sp>
        <p:nvSpPr>
          <p:cNvPr id="3" name="Shape 1"/>
          <p:cNvSpPr/>
          <p:nvPr/>
        </p:nvSpPr>
        <p:spPr>
          <a:xfrm>
            <a:off x="8412480" y="-1005840"/>
            <a:ext cx="4754880" cy="3383280"/>
          </a:xfrm>
          <a:prstGeom prst="ellipse">
            <a:avLst/>
          </a:prstGeom>
          <a:solidFill>
            <a:srgbClr val="023B5F">
              <a:alpha val="58000"/>
            </a:srgbClr>
          </a:solidFill>
          <a:ln w="12700">
            <a:solidFill>
              <a:srgbClr val="333333">
                <a:alpha val="0"/>
              </a:srgbClr>
            </a:solidFill>
            <a:prstDash val="solid"/>
          </a:ln>
        </p:spPr>
      </p:sp>
      <p:sp>
        <p:nvSpPr>
          <p:cNvPr id="4" name="Shape 2"/>
          <p:cNvSpPr/>
          <p:nvPr/>
        </p:nvSpPr>
        <p:spPr>
          <a:xfrm>
            <a:off x="7589520" y="4480560"/>
            <a:ext cx="5303520" cy="2743200"/>
          </a:xfrm>
          <a:prstGeom prst="ellipse">
            <a:avLst/>
          </a:prstGeom>
          <a:solidFill>
            <a:srgbClr val="0C6B5A">
              <a:alpha val="33000"/>
            </a:srgbClr>
          </a:solidFill>
          <a:ln w="12700">
            <a:solidFill>
              <a:srgbClr val="333333">
                <a:alpha val="0"/>
              </a:srgbClr>
            </a:solidFill>
            <a:prstDash val="solid"/>
          </a:ln>
        </p:spPr>
      </p:sp>
      <p:sp>
        <p:nvSpPr>
          <p:cNvPr id="5" name="Shape 3"/>
          <p:cNvSpPr/>
          <p:nvPr/>
        </p:nvSpPr>
        <p:spPr>
          <a:xfrm>
            <a:off x="0" y="0"/>
            <a:ext cx="0" cy="6858000"/>
          </a:xfrm>
          <a:prstGeom prst="line">
            <a:avLst/>
          </a:prstGeom>
          <a:noFill/>
          <a:ln w="3810">
            <a:solidFill>
              <a:srgbClr val="163352">
                <a:alpha val="35000"/>
              </a:srgbClr>
            </a:solidFill>
            <a:prstDash val="solid"/>
          </a:ln>
        </p:spPr>
      </p:sp>
      <p:sp>
        <p:nvSpPr>
          <p:cNvPr id="6" name="Shape 4"/>
          <p:cNvSpPr/>
          <p:nvPr/>
        </p:nvSpPr>
        <p:spPr>
          <a:xfrm>
            <a:off x="868680" y="0"/>
            <a:ext cx="0" cy="6858000"/>
          </a:xfrm>
          <a:prstGeom prst="line">
            <a:avLst/>
          </a:prstGeom>
          <a:noFill/>
          <a:ln w="3810">
            <a:solidFill>
              <a:srgbClr val="163352">
                <a:alpha val="35000"/>
              </a:srgbClr>
            </a:solidFill>
            <a:prstDash val="solid"/>
          </a:ln>
        </p:spPr>
      </p:sp>
      <p:sp>
        <p:nvSpPr>
          <p:cNvPr id="7" name="Shape 5"/>
          <p:cNvSpPr/>
          <p:nvPr/>
        </p:nvSpPr>
        <p:spPr>
          <a:xfrm>
            <a:off x="1737360" y="0"/>
            <a:ext cx="0" cy="6858000"/>
          </a:xfrm>
          <a:prstGeom prst="line">
            <a:avLst/>
          </a:prstGeom>
          <a:noFill/>
          <a:ln w="3810">
            <a:solidFill>
              <a:srgbClr val="163352">
                <a:alpha val="35000"/>
              </a:srgbClr>
            </a:solidFill>
            <a:prstDash val="solid"/>
          </a:ln>
        </p:spPr>
      </p:sp>
      <p:sp>
        <p:nvSpPr>
          <p:cNvPr id="8" name="Shape 6"/>
          <p:cNvSpPr/>
          <p:nvPr/>
        </p:nvSpPr>
        <p:spPr>
          <a:xfrm>
            <a:off x="2606040" y="0"/>
            <a:ext cx="0" cy="6858000"/>
          </a:xfrm>
          <a:prstGeom prst="line">
            <a:avLst/>
          </a:prstGeom>
          <a:noFill/>
          <a:ln w="3810">
            <a:solidFill>
              <a:srgbClr val="163352">
                <a:alpha val="35000"/>
              </a:srgbClr>
            </a:solidFill>
            <a:prstDash val="solid"/>
          </a:ln>
        </p:spPr>
      </p:sp>
      <p:sp>
        <p:nvSpPr>
          <p:cNvPr id="9" name="Shape 7"/>
          <p:cNvSpPr/>
          <p:nvPr/>
        </p:nvSpPr>
        <p:spPr>
          <a:xfrm>
            <a:off x="3474720" y="0"/>
            <a:ext cx="0" cy="6858000"/>
          </a:xfrm>
          <a:prstGeom prst="line">
            <a:avLst/>
          </a:prstGeom>
          <a:noFill/>
          <a:ln w="3810">
            <a:solidFill>
              <a:srgbClr val="163352">
                <a:alpha val="35000"/>
              </a:srgbClr>
            </a:solidFill>
            <a:prstDash val="solid"/>
          </a:ln>
        </p:spPr>
      </p:sp>
      <p:sp>
        <p:nvSpPr>
          <p:cNvPr id="10" name="Shape 8"/>
          <p:cNvSpPr/>
          <p:nvPr/>
        </p:nvSpPr>
        <p:spPr>
          <a:xfrm>
            <a:off x="4343400" y="0"/>
            <a:ext cx="0" cy="6858000"/>
          </a:xfrm>
          <a:prstGeom prst="line">
            <a:avLst/>
          </a:prstGeom>
          <a:noFill/>
          <a:ln w="3810">
            <a:solidFill>
              <a:srgbClr val="163352">
                <a:alpha val="35000"/>
              </a:srgbClr>
            </a:solidFill>
            <a:prstDash val="solid"/>
          </a:ln>
        </p:spPr>
      </p:sp>
      <p:sp>
        <p:nvSpPr>
          <p:cNvPr id="11" name="Shape 9"/>
          <p:cNvSpPr/>
          <p:nvPr/>
        </p:nvSpPr>
        <p:spPr>
          <a:xfrm>
            <a:off x="5212080" y="0"/>
            <a:ext cx="0" cy="6858000"/>
          </a:xfrm>
          <a:prstGeom prst="line">
            <a:avLst/>
          </a:prstGeom>
          <a:noFill/>
          <a:ln w="3810">
            <a:solidFill>
              <a:srgbClr val="163352">
                <a:alpha val="35000"/>
              </a:srgbClr>
            </a:solidFill>
            <a:prstDash val="solid"/>
          </a:ln>
        </p:spPr>
      </p:sp>
      <p:sp>
        <p:nvSpPr>
          <p:cNvPr id="12" name="Shape 10"/>
          <p:cNvSpPr/>
          <p:nvPr/>
        </p:nvSpPr>
        <p:spPr>
          <a:xfrm>
            <a:off x="6080760" y="0"/>
            <a:ext cx="0" cy="6858000"/>
          </a:xfrm>
          <a:prstGeom prst="line">
            <a:avLst/>
          </a:prstGeom>
          <a:noFill/>
          <a:ln w="3810">
            <a:solidFill>
              <a:srgbClr val="163352">
                <a:alpha val="35000"/>
              </a:srgbClr>
            </a:solidFill>
            <a:prstDash val="solid"/>
          </a:ln>
        </p:spPr>
      </p:sp>
      <p:sp>
        <p:nvSpPr>
          <p:cNvPr id="13" name="Shape 11"/>
          <p:cNvSpPr/>
          <p:nvPr/>
        </p:nvSpPr>
        <p:spPr>
          <a:xfrm>
            <a:off x="6949440" y="0"/>
            <a:ext cx="0" cy="6858000"/>
          </a:xfrm>
          <a:prstGeom prst="line">
            <a:avLst/>
          </a:prstGeom>
          <a:noFill/>
          <a:ln w="3810">
            <a:solidFill>
              <a:srgbClr val="163352">
                <a:alpha val="35000"/>
              </a:srgbClr>
            </a:solidFill>
            <a:prstDash val="solid"/>
          </a:ln>
        </p:spPr>
      </p:sp>
      <p:sp>
        <p:nvSpPr>
          <p:cNvPr id="14" name="Shape 12"/>
          <p:cNvSpPr/>
          <p:nvPr/>
        </p:nvSpPr>
        <p:spPr>
          <a:xfrm>
            <a:off x="7818120" y="0"/>
            <a:ext cx="0" cy="6858000"/>
          </a:xfrm>
          <a:prstGeom prst="line">
            <a:avLst/>
          </a:prstGeom>
          <a:noFill/>
          <a:ln w="3810">
            <a:solidFill>
              <a:srgbClr val="163352">
                <a:alpha val="35000"/>
              </a:srgbClr>
            </a:solidFill>
            <a:prstDash val="solid"/>
          </a:ln>
        </p:spPr>
      </p:sp>
      <p:sp>
        <p:nvSpPr>
          <p:cNvPr id="15" name="Shape 13"/>
          <p:cNvSpPr/>
          <p:nvPr/>
        </p:nvSpPr>
        <p:spPr>
          <a:xfrm>
            <a:off x="8686800" y="0"/>
            <a:ext cx="0" cy="6858000"/>
          </a:xfrm>
          <a:prstGeom prst="line">
            <a:avLst/>
          </a:prstGeom>
          <a:noFill/>
          <a:ln w="3810">
            <a:solidFill>
              <a:srgbClr val="163352">
                <a:alpha val="35000"/>
              </a:srgbClr>
            </a:solidFill>
            <a:prstDash val="solid"/>
          </a:ln>
        </p:spPr>
      </p:sp>
      <p:sp>
        <p:nvSpPr>
          <p:cNvPr id="16" name="Shape 14"/>
          <p:cNvSpPr/>
          <p:nvPr/>
        </p:nvSpPr>
        <p:spPr>
          <a:xfrm>
            <a:off x="9555480" y="0"/>
            <a:ext cx="0" cy="6858000"/>
          </a:xfrm>
          <a:prstGeom prst="line">
            <a:avLst/>
          </a:prstGeom>
          <a:noFill/>
          <a:ln w="3810">
            <a:solidFill>
              <a:srgbClr val="163352">
                <a:alpha val="35000"/>
              </a:srgbClr>
            </a:solidFill>
            <a:prstDash val="solid"/>
          </a:ln>
        </p:spPr>
      </p:sp>
      <p:sp>
        <p:nvSpPr>
          <p:cNvPr id="17" name="Shape 15"/>
          <p:cNvSpPr/>
          <p:nvPr/>
        </p:nvSpPr>
        <p:spPr>
          <a:xfrm>
            <a:off x="10424160" y="0"/>
            <a:ext cx="0" cy="6858000"/>
          </a:xfrm>
          <a:prstGeom prst="line">
            <a:avLst/>
          </a:prstGeom>
          <a:noFill/>
          <a:ln w="3810">
            <a:solidFill>
              <a:srgbClr val="163352">
                <a:alpha val="35000"/>
              </a:srgbClr>
            </a:solidFill>
            <a:prstDash val="solid"/>
          </a:ln>
        </p:spPr>
      </p:sp>
      <p:sp>
        <p:nvSpPr>
          <p:cNvPr id="18" name="Shape 16"/>
          <p:cNvSpPr/>
          <p:nvPr/>
        </p:nvSpPr>
        <p:spPr>
          <a:xfrm>
            <a:off x="11292840" y="0"/>
            <a:ext cx="0" cy="6858000"/>
          </a:xfrm>
          <a:prstGeom prst="line">
            <a:avLst/>
          </a:prstGeom>
          <a:noFill/>
          <a:ln w="3810">
            <a:solidFill>
              <a:srgbClr val="163352">
                <a:alpha val="35000"/>
              </a:srgbClr>
            </a:solidFill>
            <a:prstDash val="solid"/>
          </a:ln>
        </p:spPr>
      </p:sp>
      <p:sp>
        <p:nvSpPr>
          <p:cNvPr id="19" name="Shape 17"/>
          <p:cNvSpPr/>
          <p:nvPr/>
        </p:nvSpPr>
        <p:spPr>
          <a:xfrm>
            <a:off x="12161520" y="0"/>
            <a:ext cx="0" cy="6858000"/>
          </a:xfrm>
          <a:prstGeom prst="line">
            <a:avLst/>
          </a:prstGeom>
          <a:noFill/>
          <a:ln w="3810">
            <a:solidFill>
              <a:srgbClr val="163352">
                <a:alpha val="35000"/>
              </a:srgbClr>
            </a:solidFill>
            <a:prstDash val="solid"/>
          </a:ln>
        </p:spPr>
      </p:sp>
      <p:sp>
        <p:nvSpPr>
          <p:cNvPr id="20" name="Shape 18"/>
          <p:cNvSpPr/>
          <p:nvPr/>
        </p:nvSpPr>
        <p:spPr>
          <a:xfrm>
            <a:off x="0" y="0"/>
            <a:ext cx="12191695" cy="0"/>
          </a:xfrm>
          <a:prstGeom prst="line">
            <a:avLst/>
          </a:prstGeom>
          <a:noFill/>
          <a:ln w="3810">
            <a:solidFill>
              <a:srgbClr val="163352">
                <a:alpha val="35000"/>
              </a:srgbClr>
            </a:solidFill>
            <a:prstDash val="solid"/>
          </a:ln>
        </p:spPr>
      </p:sp>
      <p:sp>
        <p:nvSpPr>
          <p:cNvPr id="21" name="Shape 19"/>
          <p:cNvSpPr/>
          <p:nvPr/>
        </p:nvSpPr>
        <p:spPr>
          <a:xfrm>
            <a:off x="0" y="804672"/>
            <a:ext cx="12191695" cy="0"/>
          </a:xfrm>
          <a:prstGeom prst="line">
            <a:avLst/>
          </a:prstGeom>
          <a:noFill/>
          <a:ln w="3810">
            <a:solidFill>
              <a:srgbClr val="163352">
                <a:alpha val="35000"/>
              </a:srgbClr>
            </a:solidFill>
            <a:prstDash val="solid"/>
          </a:ln>
        </p:spPr>
      </p:sp>
      <p:sp>
        <p:nvSpPr>
          <p:cNvPr id="22" name="Shape 20"/>
          <p:cNvSpPr/>
          <p:nvPr/>
        </p:nvSpPr>
        <p:spPr>
          <a:xfrm>
            <a:off x="0" y="1609344"/>
            <a:ext cx="12191695" cy="0"/>
          </a:xfrm>
          <a:prstGeom prst="line">
            <a:avLst/>
          </a:prstGeom>
          <a:noFill/>
          <a:ln w="3810">
            <a:solidFill>
              <a:srgbClr val="163352">
                <a:alpha val="35000"/>
              </a:srgbClr>
            </a:solidFill>
            <a:prstDash val="solid"/>
          </a:ln>
        </p:spPr>
      </p:sp>
      <p:sp>
        <p:nvSpPr>
          <p:cNvPr id="23" name="Shape 21"/>
          <p:cNvSpPr/>
          <p:nvPr/>
        </p:nvSpPr>
        <p:spPr>
          <a:xfrm>
            <a:off x="0" y="2414016"/>
            <a:ext cx="12191695" cy="0"/>
          </a:xfrm>
          <a:prstGeom prst="line">
            <a:avLst/>
          </a:prstGeom>
          <a:noFill/>
          <a:ln w="3810">
            <a:solidFill>
              <a:srgbClr val="163352">
                <a:alpha val="35000"/>
              </a:srgbClr>
            </a:solidFill>
            <a:prstDash val="solid"/>
          </a:ln>
        </p:spPr>
      </p:sp>
      <p:sp>
        <p:nvSpPr>
          <p:cNvPr id="24" name="Shape 22"/>
          <p:cNvSpPr/>
          <p:nvPr/>
        </p:nvSpPr>
        <p:spPr>
          <a:xfrm>
            <a:off x="0" y="3218688"/>
            <a:ext cx="12191695" cy="0"/>
          </a:xfrm>
          <a:prstGeom prst="line">
            <a:avLst/>
          </a:prstGeom>
          <a:noFill/>
          <a:ln w="3810">
            <a:solidFill>
              <a:srgbClr val="163352">
                <a:alpha val="35000"/>
              </a:srgbClr>
            </a:solidFill>
            <a:prstDash val="solid"/>
          </a:ln>
        </p:spPr>
      </p:sp>
      <p:sp>
        <p:nvSpPr>
          <p:cNvPr id="25" name="Shape 23"/>
          <p:cNvSpPr/>
          <p:nvPr/>
        </p:nvSpPr>
        <p:spPr>
          <a:xfrm>
            <a:off x="0" y="4023360"/>
            <a:ext cx="12191695" cy="0"/>
          </a:xfrm>
          <a:prstGeom prst="line">
            <a:avLst/>
          </a:prstGeom>
          <a:noFill/>
          <a:ln w="3810">
            <a:solidFill>
              <a:srgbClr val="163352">
                <a:alpha val="35000"/>
              </a:srgbClr>
            </a:solidFill>
            <a:prstDash val="solid"/>
          </a:ln>
        </p:spPr>
      </p:sp>
      <p:sp>
        <p:nvSpPr>
          <p:cNvPr id="26" name="Shape 24"/>
          <p:cNvSpPr/>
          <p:nvPr/>
        </p:nvSpPr>
        <p:spPr>
          <a:xfrm>
            <a:off x="0" y="4828032"/>
            <a:ext cx="12191695" cy="0"/>
          </a:xfrm>
          <a:prstGeom prst="line">
            <a:avLst/>
          </a:prstGeom>
          <a:noFill/>
          <a:ln w="3810">
            <a:solidFill>
              <a:srgbClr val="163352">
                <a:alpha val="35000"/>
              </a:srgbClr>
            </a:solidFill>
            <a:prstDash val="solid"/>
          </a:ln>
        </p:spPr>
      </p:sp>
      <p:sp>
        <p:nvSpPr>
          <p:cNvPr id="27" name="Shape 25"/>
          <p:cNvSpPr/>
          <p:nvPr/>
        </p:nvSpPr>
        <p:spPr>
          <a:xfrm>
            <a:off x="0" y="5632704"/>
            <a:ext cx="12191695" cy="0"/>
          </a:xfrm>
          <a:prstGeom prst="line">
            <a:avLst/>
          </a:prstGeom>
          <a:noFill/>
          <a:ln w="3810">
            <a:solidFill>
              <a:srgbClr val="163352">
                <a:alpha val="35000"/>
              </a:srgbClr>
            </a:solidFill>
            <a:prstDash val="solid"/>
          </a:ln>
        </p:spPr>
      </p:sp>
      <p:sp>
        <p:nvSpPr>
          <p:cNvPr id="28" name="Shape 26"/>
          <p:cNvSpPr/>
          <p:nvPr/>
        </p:nvSpPr>
        <p:spPr>
          <a:xfrm>
            <a:off x="0" y="6437376"/>
            <a:ext cx="12191695" cy="0"/>
          </a:xfrm>
          <a:prstGeom prst="line">
            <a:avLst/>
          </a:prstGeom>
          <a:noFill/>
          <a:ln w="3810">
            <a:solidFill>
              <a:srgbClr val="163352">
                <a:alpha val="35000"/>
              </a:srgbClr>
            </a:solidFill>
            <a:prstDash val="solid"/>
          </a:ln>
        </p:spPr>
      </p:sp>
      <p:sp>
        <p:nvSpPr>
          <p:cNvPr id="29" name="Shape 27"/>
          <p:cNvSpPr/>
          <p:nvPr/>
        </p:nvSpPr>
        <p:spPr>
          <a:xfrm>
            <a:off x="411480" y="6400800"/>
            <a:ext cx="11375136" cy="0"/>
          </a:xfrm>
          <a:prstGeom prst="line">
            <a:avLst/>
          </a:prstGeom>
          <a:noFill/>
          <a:ln w="8890">
            <a:solidFill>
              <a:srgbClr val="1B4C70">
                <a:alpha val="75000"/>
              </a:srgbClr>
            </a:solidFill>
            <a:prstDash val="solid"/>
          </a:ln>
        </p:spPr>
      </p:sp>
      <p:sp>
        <p:nvSpPr>
          <p:cNvPr id="32" name="Text 30"/>
          <p:cNvSpPr/>
          <p:nvPr/>
        </p:nvSpPr>
        <p:spPr>
          <a:xfrm>
            <a:off x="658368" y="239536"/>
            <a:ext cx="8412480" cy="384048"/>
          </a:xfrm>
          <a:prstGeom prst="rect">
            <a:avLst/>
          </a:prstGeom>
          <a:noFill/>
          <a:ln/>
        </p:spPr>
        <p:txBody>
          <a:bodyPr wrap="square" lIns="0" tIns="0" rIns="0" bIns="0" rtlCol="0" anchor="ctr">
            <a:noAutofit/>
          </a:bodyPr>
          <a:lstStyle/>
          <a:p>
            <a:pPr marL="0" indent="0">
              <a:buNone/>
            </a:pPr>
            <a:r>
              <a:rPr lang="en-US" sz="2800" b="1" dirty="0">
                <a:latin typeface="Aptos Display" pitchFamily="34" charset="0"/>
                <a:ea typeface="Aptos Display" pitchFamily="34" charset="-122"/>
                <a:cs typeface="Aptos Display" pitchFamily="34" charset="-120"/>
              </a:rPr>
              <a:t>10. </a:t>
            </a:r>
            <a:r>
              <a:rPr lang="vi-VN" sz="2800" b="1" dirty="0">
                <a:latin typeface="Aptos Display" pitchFamily="34" charset="0"/>
                <a:ea typeface="Aptos Display" pitchFamily="34" charset="-122"/>
                <a:cs typeface="Aptos Display" pitchFamily="34" charset="-120"/>
              </a:rPr>
              <a:t>Ảnh hưởng của ngưỡng nhận diện </a:t>
            </a:r>
            <a:endParaRPr lang="en-US" sz="2800" dirty="0"/>
          </a:p>
        </p:txBody>
      </p:sp>
      <p:sp>
        <p:nvSpPr>
          <p:cNvPr id="33" name="Shape 31"/>
          <p:cNvSpPr/>
          <p:nvPr/>
        </p:nvSpPr>
        <p:spPr>
          <a:xfrm>
            <a:off x="9985248" y="201168"/>
            <a:ext cx="1691640" cy="292608"/>
          </a:xfrm>
          <a:prstGeom prst="roundRect">
            <a:avLst>
              <a:gd name="adj" fmla="val 25000"/>
            </a:avLst>
          </a:prstGeom>
          <a:solidFill>
            <a:srgbClr val="0C2B46">
              <a:alpha val="95000"/>
            </a:srgbClr>
          </a:solidFill>
          <a:ln w="10160">
            <a:solidFill>
              <a:srgbClr val="00E5FF">
                <a:alpha val="92000"/>
              </a:srgbClr>
            </a:solidFill>
            <a:prstDash val="solid"/>
          </a:ln>
        </p:spPr>
      </p:sp>
      <p:sp>
        <p:nvSpPr>
          <p:cNvPr id="34" name="Text 32"/>
          <p:cNvSpPr/>
          <p:nvPr/>
        </p:nvSpPr>
        <p:spPr>
          <a:xfrm>
            <a:off x="10040112" y="297180"/>
            <a:ext cx="1581912" cy="100584"/>
          </a:xfrm>
          <a:prstGeom prst="rect">
            <a:avLst/>
          </a:prstGeom>
          <a:noFill/>
          <a:ln/>
        </p:spPr>
        <p:txBody>
          <a:bodyPr wrap="square" lIns="0" tIns="0" rIns="0" bIns="0" rtlCol="0" anchor="ctr">
            <a:normAutofit fontScale="85000" lnSpcReduction="10000"/>
          </a:bodyPr>
          <a:lstStyle/>
          <a:p>
            <a:pPr marL="0" indent="0" algn="ctr">
              <a:buNone/>
            </a:pPr>
            <a:r>
              <a:rPr lang="en-US" sz="820" b="1" dirty="0">
                <a:solidFill>
                  <a:srgbClr val="00E5FF"/>
                </a:solidFill>
              </a:rPr>
              <a:t>THRESHOLD</a:t>
            </a:r>
            <a:endParaRPr lang="en-US" sz="820" dirty="0"/>
          </a:p>
        </p:txBody>
      </p:sp>
      <p:sp>
        <p:nvSpPr>
          <p:cNvPr id="35" name="Text 33"/>
          <p:cNvSpPr/>
          <p:nvPr/>
        </p:nvSpPr>
        <p:spPr>
          <a:xfrm>
            <a:off x="603504" y="6473952"/>
            <a:ext cx="5029200" cy="128016"/>
          </a:xfrm>
          <a:prstGeom prst="rect">
            <a:avLst/>
          </a:prstGeom>
          <a:noFill/>
          <a:ln/>
        </p:spPr>
        <p:txBody>
          <a:bodyPr wrap="square" lIns="0" tIns="0" rIns="0" bIns="0" rtlCol="0" anchor="ctr">
            <a:noAutofit/>
          </a:bodyPr>
          <a:lstStyle/>
          <a:p>
            <a:pPr marL="0" indent="0">
              <a:buNone/>
            </a:pPr>
            <a:r>
              <a:rPr lang="en-US" sz="1200" dirty="0">
                <a:solidFill>
                  <a:srgbClr val="7EA4C1"/>
                </a:solidFill>
              </a:rPr>
              <a:t>Nhóm 2 • Nhận diện khuôn mặt phục vụ </a:t>
            </a:r>
            <a:r>
              <a:rPr lang="en-US" sz="1200" dirty="0" err="1">
                <a:solidFill>
                  <a:srgbClr val="7EA4C1"/>
                </a:solidFill>
              </a:rPr>
              <a:t>điểm</a:t>
            </a:r>
            <a:r>
              <a:rPr lang="en-US" sz="1200" dirty="0">
                <a:solidFill>
                  <a:srgbClr val="7EA4C1"/>
                </a:solidFill>
              </a:rPr>
              <a:t> </a:t>
            </a:r>
            <a:r>
              <a:rPr lang="en-US" sz="1200" dirty="0" err="1">
                <a:solidFill>
                  <a:srgbClr val="7EA4C1"/>
                </a:solidFill>
              </a:rPr>
              <a:t>danh</a:t>
            </a:r>
            <a:r>
              <a:rPr lang="en-US" sz="1200" dirty="0">
                <a:solidFill>
                  <a:srgbClr val="7EA4C1"/>
                </a:solidFill>
              </a:rPr>
              <a:t> </a:t>
            </a:r>
            <a:r>
              <a:rPr lang="en-US" sz="1200" dirty="0" err="1">
                <a:solidFill>
                  <a:srgbClr val="7EA4C1"/>
                </a:solidFill>
              </a:rPr>
              <a:t>sinh</a:t>
            </a:r>
            <a:r>
              <a:rPr lang="en-US" sz="1200" dirty="0">
                <a:solidFill>
                  <a:srgbClr val="7EA4C1"/>
                </a:solidFill>
              </a:rPr>
              <a:t> </a:t>
            </a:r>
            <a:r>
              <a:rPr lang="en-US" sz="1200" dirty="0" err="1">
                <a:solidFill>
                  <a:srgbClr val="7EA4C1"/>
                </a:solidFill>
              </a:rPr>
              <a:t>viên</a:t>
            </a:r>
            <a:endParaRPr lang="en-US" sz="1200" dirty="0"/>
          </a:p>
        </p:txBody>
      </p:sp>
      <p:sp>
        <p:nvSpPr>
          <p:cNvPr id="36" name="Text 34"/>
          <p:cNvSpPr/>
          <p:nvPr/>
        </p:nvSpPr>
        <p:spPr>
          <a:xfrm>
            <a:off x="11201400" y="6473952"/>
            <a:ext cx="502920" cy="128016"/>
          </a:xfrm>
          <a:prstGeom prst="rect">
            <a:avLst/>
          </a:prstGeom>
          <a:noFill/>
          <a:ln/>
        </p:spPr>
        <p:txBody>
          <a:bodyPr wrap="square" lIns="0" tIns="0" rIns="0" bIns="0" rtlCol="0" anchor="ctr"/>
          <a:lstStyle/>
          <a:p>
            <a:pPr marL="0" indent="0" algn="r">
              <a:buNone/>
            </a:pPr>
            <a:r>
              <a:rPr lang="en-US" sz="780" dirty="0">
                <a:solidFill>
                  <a:srgbClr val="00E5FF"/>
                </a:solidFill>
                <a:latin typeface="Bahnschrift" pitchFamily="34" charset="0"/>
                <a:ea typeface="Bahnschrift" pitchFamily="34" charset="-122"/>
                <a:cs typeface="Bahnschrift" pitchFamily="34" charset="-120"/>
              </a:rPr>
              <a:t>09 / 10</a:t>
            </a:r>
            <a:endParaRPr lang="en-US" sz="780" dirty="0"/>
          </a:p>
        </p:txBody>
      </p:sp>
      <p:sp>
        <p:nvSpPr>
          <p:cNvPr id="37" name="Shape 35"/>
          <p:cNvSpPr/>
          <p:nvPr/>
        </p:nvSpPr>
        <p:spPr>
          <a:xfrm>
            <a:off x="420954" y="927033"/>
            <a:ext cx="6492240" cy="4754880"/>
          </a:xfrm>
          <a:prstGeom prst="roundRect">
            <a:avLst>
              <a:gd name="adj" fmla="val 3462"/>
            </a:avLst>
          </a:prstGeom>
          <a:solidFill>
            <a:srgbClr val="061A2C">
              <a:alpha val="95000"/>
            </a:srgbClr>
          </a:solidFill>
          <a:ln w="10160">
            <a:solidFill>
              <a:srgbClr val="1D5B78">
                <a:alpha val="90000"/>
              </a:srgbClr>
            </a:solidFill>
            <a:prstDash val="solid"/>
          </a:ln>
          <a:effectLst>
            <a:outerShdw blurRad="16510" dist="50800" dir="2700000" algn="bl" rotWithShape="0">
              <a:srgbClr val="00E5FF">
                <a:alpha val="11000"/>
              </a:srgbClr>
            </a:outerShdw>
          </a:effectLst>
        </p:spPr>
      </p:sp>
      <p:sp>
        <p:nvSpPr>
          <p:cNvPr id="38" name="Text 36"/>
          <p:cNvSpPr/>
          <p:nvPr/>
        </p:nvSpPr>
        <p:spPr>
          <a:xfrm>
            <a:off x="1024128" y="1353312"/>
            <a:ext cx="5394960" cy="164592"/>
          </a:xfrm>
          <a:prstGeom prst="rect">
            <a:avLst/>
          </a:prstGeom>
          <a:noFill/>
          <a:ln/>
        </p:spPr>
        <p:txBody>
          <a:bodyPr wrap="square" lIns="0" tIns="0" rIns="0" bIns="0" rtlCol="0" anchor="ctr"/>
          <a:lstStyle/>
          <a:p>
            <a:pPr marL="0" indent="0">
              <a:buNone/>
            </a:pPr>
            <a:r>
              <a:rPr lang="en-US" sz="1600" b="1" dirty="0">
                <a:solidFill>
                  <a:srgbClr val="FFFFFF"/>
                </a:solidFill>
              </a:rPr>
              <a:t>Tỷ lệ đúng giảm nhẹ khi threshold tăng</a:t>
            </a:r>
            <a:endParaRPr lang="en-US" sz="1600" dirty="0"/>
          </a:p>
        </p:txBody>
      </p:sp>
      <p:sp>
        <p:nvSpPr>
          <p:cNvPr id="39" name="Shape 37"/>
          <p:cNvSpPr/>
          <p:nvPr/>
        </p:nvSpPr>
        <p:spPr>
          <a:xfrm>
            <a:off x="1170432" y="4956048"/>
            <a:ext cx="5440680" cy="0"/>
          </a:xfrm>
          <a:prstGeom prst="line">
            <a:avLst/>
          </a:prstGeom>
          <a:noFill/>
          <a:ln w="10160">
            <a:solidFill>
              <a:srgbClr val="4A6A86"/>
            </a:solidFill>
            <a:prstDash val="solid"/>
          </a:ln>
        </p:spPr>
      </p:sp>
      <p:sp>
        <p:nvSpPr>
          <p:cNvPr id="40" name="Shape 38"/>
          <p:cNvSpPr/>
          <p:nvPr/>
        </p:nvSpPr>
        <p:spPr>
          <a:xfrm>
            <a:off x="1170432" y="2167128"/>
            <a:ext cx="0" cy="2788920"/>
          </a:xfrm>
          <a:prstGeom prst="line">
            <a:avLst/>
          </a:prstGeom>
          <a:noFill/>
          <a:ln w="10160">
            <a:solidFill>
              <a:srgbClr val="4A6A86"/>
            </a:solidFill>
            <a:prstDash val="solid"/>
          </a:ln>
        </p:spPr>
      </p:sp>
      <p:sp>
        <p:nvSpPr>
          <p:cNvPr id="41" name="Shape 39"/>
          <p:cNvSpPr/>
          <p:nvPr/>
        </p:nvSpPr>
        <p:spPr>
          <a:xfrm>
            <a:off x="1170432" y="2613355"/>
            <a:ext cx="1360170" cy="0"/>
          </a:xfrm>
          <a:prstGeom prst="line">
            <a:avLst/>
          </a:prstGeom>
          <a:noFill/>
          <a:ln w="27940">
            <a:solidFill>
              <a:srgbClr val="00E5FF"/>
            </a:solidFill>
            <a:prstDash val="solid"/>
          </a:ln>
        </p:spPr>
      </p:sp>
      <p:sp>
        <p:nvSpPr>
          <p:cNvPr id="42" name="Shape 40"/>
          <p:cNvSpPr/>
          <p:nvPr/>
        </p:nvSpPr>
        <p:spPr>
          <a:xfrm>
            <a:off x="2530602" y="2613355"/>
            <a:ext cx="1360170" cy="334670"/>
          </a:xfrm>
          <a:prstGeom prst="line">
            <a:avLst/>
          </a:prstGeom>
          <a:noFill/>
          <a:ln w="27940">
            <a:solidFill>
              <a:srgbClr val="00E5FF"/>
            </a:solidFill>
            <a:prstDash val="solid"/>
          </a:ln>
        </p:spPr>
      </p:sp>
      <p:sp>
        <p:nvSpPr>
          <p:cNvPr id="43" name="Shape 41"/>
          <p:cNvSpPr/>
          <p:nvPr/>
        </p:nvSpPr>
        <p:spPr>
          <a:xfrm>
            <a:off x="3890772" y="2948026"/>
            <a:ext cx="1360170" cy="669341"/>
          </a:xfrm>
          <a:prstGeom prst="line">
            <a:avLst/>
          </a:prstGeom>
          <a:noFill/>
          <a:ln w="27940">
            <a:solidFill>
              <a:srgbClr val="00E5FF"/>
            </a:solidFill>
            <a:prstDash val="solid"/>
          </a:ln>
        </p:spPr>
      </p:sp>
      <p:sp>
        <p:nvSpPr>
          <p:cNvPr id="44" name="Shape 42"/>
          <p:cNvSpPr/>
          <p:nvPr/>
        </p:nvSpPr>
        <p:spPr>
          <a:xfrm>
            <a:off x="5250942" y="3617366"/>
            <a:ext cx="1360170" cy="446227"/>
          </a:xfrm>
          <a:prstGeom prst="line">
            <a:avLst/>
          </a:prstGeom>
          <a:noFill/>
          <a:ln w="27940">
            <a:solidFill>
              <a:srgbClr val="00E5FF"/>
            </a:solidFill>
            <a:prstDash val="solid"/>
          </a:ln>
        </p:spPr>
      </p:sp>
      <p:sp>
        <p:nvSpPr>
          <p:cNvPr id="45" name="Shape 43"/>
          <p:cNvSpPr/>
          <p:nvPr/>
        </p:nvSpPr>
        <p:spPr>
          <a:xfrm>
            <a:off x="1120140" y="2563063"/>
            <a:ext cx="100584" cy="100584"/>
          </a:xfrm>
          <a:prstGeom prst="ellipse">
            <a:avLst/>
          </a:prstGeom>
          <a:solidFill>
            <a:srgbClr val="00E5FF"/>
          </a:solidFill>
          <a:ln w="5080">
            <a:solidFill>
              <a:srgbClr val="FFFFFF"/>
            </a:solidFill>
            <a:prstDash val="solid"/>
          </a:ln>
        </p:spPr>
      </p:sp>
      <p:sp>
        <p:nvSpPr>
          <p:cNvPr id="46" name="Text 44"/>
          <p:cNvSpPr/>
          <p:nvPr/>
        </p:nvSpPr>
        <p:spPr>
          <a:xfrm>
            <a:off x="950976" y="5102352"/>
            <a:ext cx="438912" cy="91440"/>
          </a:xfrm>
          <a:prstGeom prst="rect">
            <a:avLst/>
          </a:prstGeom>
          <a:noFill/>
          <a:ln/>
        </p:spPr>
        <p:txBody>
          <a:bodyPr wrap="square" lIns="0" tIns="0" rIns="0" bIns="0" rtlCol="0" anchor="ctr"/>
          <a:lstStyle/>
          <a:p>
            <a:pPr marL="0" indent="0" algn="ctr">
              <a:buNone/>
            </a:pPr>
            <a:r>
              <a:rPr lang="en-US" sz="1200" dirty="0">
                <a:solidFill>
                  <a:srgbClr val="A9C2D9"/>
                </a:solidFill>
              </a:rPr>
              <a:t>0.40</a:t>
            </a:r>
            <a:endParaRPr lang="en-US" sz="1200" dirty="0"/>
          </a:p>
        </p:txBody>
      </p:sp>
      <p:sp>
        <p:nvSpPr>
          <p:cNvPr id="47" name="Shape 45"/>
          <p:cNvSpPr/>
          <p:nvPr/>
        </p:nvSpPr>
        <p:spPr>
          <a:xfrm>
            <a:off x="2480310" y="2563063"/>
            <a:ext cx="100584" cy="100584"/>
          </a:xfrm>
          <a:prstGeom prst="ellipse">
            <a:avLst/>
          </a:prstGeom>
          <a:solidFill>
            <a:srgbClr val="00E5FF"/>
          </a:solidFill>
          <a:ln w="5080">
            <a:solidFill>
              <a:srgbClr val="FFFFFF"/>
            </a:solidFill>
            <a:prstDash val="solid"/>
          </a:ln>
        </p:spPr>
      </p:sp>
      <p:sp>
        <p:nvSpPr>
          <p:cNvPr id="48" name="Text 46"/>
          <p:cNvSpPr/>
          <p:nvPr/>
        </p:nvSpPr>
        <p:spPr>
          <a:xfrm>
            <a:off x="2311146" y="5102352"/>
            <a:ext cx="438912" cy="91440"/>
          </a:xfrm>
          <a:prstGeom prst="rect">
            <a:avLst/>
          </a:prstGeom>
          <a:noFill/>
          <a:ln/>
        </p:spPr>
        <p:txBody>
          <a:bodyPr wrap="square" lIns="0" tIns="0" rIns="0" bIns="0" rtlCol="0" anchor="ctr"/>
          <a:lstStyle/>
          <a:p>
            <a:pPr marL="0" indent="0" algn="ctr">
              <a:buNone/>
            </a:pPr>
            <a:r>
              <a:rPr lang="en-US" sz="1200" dirty="0">
                <a:solidFill>
                  <a:srgbClr val="A9C2D9"/>
                </a:solidFill>
              </a:rPr>
              <a:t>0.45</a:t>
            </a:r>
            <a:endParaRPr lang="en-US" sz="1200" dirty="0"/>
          </a:p>
        </p:txBody>
      </p:sp>
      <p:sp>
        <p:nvSpPr>
          <p:cNvPr id="49" name="Shape 47"/>
          <p:cNvSpPr/>
          <p:nvPr/>
        </p:nvSpPr>
        <p:spPr>
          <a:xfrm>
            <a:off x="3840480" y="2897734"/>
            <a:ext cx="100584" cy="100584"/>
          </a:xfrm>
          <a:prstGeom prst="ellipse">
            <a:avLst/>
          </a:prstGeom>
          <a:solidFill>
            <a:srgbClr val="22C55E"/>
          </a:solidFill>
          <a:ln w="5080">
            <a:solidFill>
              <a:srgbClr val="FFFFFF"/>
            </a:solidFill>
            <a:prstDash val="solid"/>
          </a:ln>
        </p:spPr>
      </p:sp>
      <p:sp>
        <p:nvSpPr>
          <p:cNvPr id="50" name="Text 48"/>
          <p:cNvSpPr/>
          <p:nvPr/>
        </p:nvSpPr>
        <p:spPr>
          <a:xfrm>
            <a:off x="3671316" y="5102352"/>
            <a:ext cx="438912" cy="91440"/>
          </a:xfrm>
          <a:prstGeom prst="rect">
            <a:avLst/>
          </a:prstGeom>
          <a:noFill/>
          <a:ln/>
        </p:spPr>
        <p:txBody>
          <a:bodyPr wrap="square" lIns="0" tIns="0" rIns="0" bIns="0" rtlCol="0" anchor="ctr"/>
          <a:lstStyle/>
          <a:p>
            <a:pPr marL="0" indent="0" algn="ctr">
              <a:buNone/>
            </a:pPr>
            <a:r>
              <a:rPr lang="en-US" sz="1200" dirty="0">
                <a:solidFill>
                  <a:srgbClr val="A9C2D9"/>
                </a:solidFill>
              </a:rPr>
              <a:t>0.50</a:t>
            </a:r>
            <a:endParaRPr lang="en-US" sz="1200" dirty="0"/>
          </a:p>
        </p:txBody>
      </p:sp>
      <p:sp>
        <p:nvSpPr>
          <p:cNvPr id="51" name="Shape 49"/>
          <p:cNvSpPr/>
          <p:nvPr/>
        </p:nvSpPr>
        <p:spPr>
          <a:xfrm>
            <a:off x="3890772" y="3021178"/>
            <a:ext cx="0" cy="713232"/>
          </a:xfrm>
          <a:prstGeom prst="line">
            <a:avLst/>
          </a:prstGeom>
          <a:noFill/>
          <a:ln w="12700">
            <a:solidFill>
              <a:srgbClr val="22C55E"/>
            </a:solidFill>
            <a:prstDash val="solid"/>
          </a:ln>
        </p:spPr>
      </p:sp>
      <p:sp>
        <p:nvSpPr>
          <p:cNvPr id="52" name="Text 50"/>
          <p:cNvSpPr/>
          <p:nvPr/>
        </p:nvSpPr>
        <p:spPr>
          <a:xfrm>
            <a:off x="3525012" y="3752698"/>
            <a:ext cx="731520" cy="109728"/>
          </a:xfrm>
          <a:prstGeom prst="rect">
            <a:avLst/>
          </a:prstGeom>
          <a:noFill/>
          <a:ln/>
        </p:spPr>
        <p:txBody>
          <a:bodyPr wrap="square" lIns="0" tIns="0" rIns="0" bIns="0" rtlCol="0" anchor="ctr"/>
          <a:lstStyle/>
          <a:p>
            <a:pPr marL="0" indent="0" algn="ctr">
              <a:buNone/>
            </a:pPr>
            <a:r>
              <a:rPr lang="en-US" sz="1400" b="1" dirty="0">
                <a:solidFill>
                  <a:srgbClr val="22C55E"/>
                </a:solidFill>
              </a:rPr>
              <a:t>chọn 0.50</a:t>
            </a:r>
            <a:endParaRPr lang="en-US" sz="1400" dirty="0"/>
          </a:p>
        </p:txBody>
      </p:sp>
      <p:sp>
        <p:nvSpPr>
          <p:cNvPr id="53" name="Shape 51"/>
          <p:cNvSpPr/>
          <p:nvPr/>
        </p:nvSpPr>
        <p:spPr>
          <a:xfrm>
            <a:off x="5200650" y="3567074"/>
            <a:ext cx="100584" cy="100584"/>
          </a:xfrm>
          <a:prstGeom prst="ellipse">
            <a:avLst/>
          </a:prstGeom>
          <a:solidFill>
            <a:srgbClr val="00E5FF"/>
          </a:solidFill>
          <a:ln w="5080">
            <a:solidFill>
              <a:srgbClr val="FFFFFF"/>
            </a:solidFill>
            <a:prstDash val="solid"/>
          </a:ln>
        </p:spPr>
      </p:sp>
      <p:sp>
        <p:nvSpPr>
          <p:cNvPr id="54" name="Text 52"/>
          <p:cNvSpPr/>
          <p:nvPr/>
        </p:nvSpPr>
        <p:spPr>
          <a:xfrm>
            <a:off x="5031486" y="5102352"/>
            <a:ext cx="438912" cy="91440"/>
          </a:xfrm>
          <a:prstGeom prst="rect">
            <a:avLst/>
          </a:prstGeom>
          <a:noFill/>
          <a:ln/>
        </p:spPr>
        <p:txBody>
          <a:bodyPr wrap="square" lIns="0" tIns="0" rIns="0" bIns="0" rtlCol="0" anchor="ctr"/>
          <a:lstStyle/>
          <a:p>
            <a:pPr marL="0" indent="0" algn="ctr">
              <a:buNone/>
            </a:pPr>
            <a:r>
              <a:rPr lang="en-US" sz="1200" dirty="0">
                <a:solidFill>
                  <a:srgbClr val="A9C2D9"/>
                </a:solidFill>
              </a:rPr>
              <a:t>0.55</a:t>
            </a:r>
            <a:endParaRPr lang="en-US" sz="1200" dirty="0"/>
          </a:p>
        </p:txBody>
      </p:sp>
      <p:sp>
        <p:nvSpPr>
          <p:cNvPr id="55" name="Shape 53"/>
          <p:cNvSpPr/>
          <p:nvPr/>
        </p:nvSpPr>
        <p:spPr>
          <a:xfrm>
            <a:off x="6560820" y="4013302"/>
            <a:ext cx="100584" cy="100584"/>
          </a:xfrm>
          <a:prstGeom prst="ellipse">
            <a:avLst/>
          </a:prstGeom>
          <a:solidFill>
            <a:srgbClr val="00E5FF"/>
          </a:solidFill>
          <a:ln w="5080">
            <a:solidFill>
              <a:srgbClr val="FFFFFF"/>
            </a:solidFill>
            <a:prstDash val="solid"/>
          </a:ln>
        </p:spPr>
      </p:sp>
      <p:sp>
        <p:nvSpPr>
          <p:cNvPr id="56" name="Text 54"/>
          <p:cNvSpPr/>
          <p:nvPr/>
        </p:nvSpPr>
        <p:spPr>
          <a:xfrm>
            <a:off x="6391656" y="5102352"/>
            <a:ext cx="438912" cy="91440"/>
          </a:xfrm>
          <a:prstGeom prst="rect">
            <a:avLst/>
          </a:prstGeom>
          <a:noFill/>
          <a:ln/>
        </p:spPr>
        <p:txBody>
          <a:bodyPr wrap="square" lIns="0" tIns="0" rIns="0" bIns="0" rtlCol="0" anchor="ctr"/>
          <a:lstStyle/>
          <a:p>
            <a:pPr marL="0" indent="0" algn="ctr">
              <a:buNone/>
            </a:pPr>
            <a:r>
              <a:rPr lang="en-US" sz="1200" dirty="0">
                <a:solidFill>
                  <a:srgbClr val="A9C2D9"/>
                </a:solidFill>
              </a:rPr>
              <a:t>0.60</a:t>
            </a:r>
            <a:endParaRPr lang="en-US" sz="1200" dirty="0"/>
          </a:p>
        </p:txBody>
      </p:sp>
      <p:sp>
        <p:nvSpPr>
          <p:cNvPr id="57" name="Text 55"/>
          <p:cNvSpPr/>
          <p:nvPr/>
        </p:nvSpPr>
        <p:spPr>
          <a:xfrm>
            <a:off x="6016752" y="5376672"/>
            <a:ext cx="914400" cy="91440"/>
          </a:xfrm>
          <a:prstGeom prst="rect">
            <a:avLst/>
          </a:prstGeom>
          <a:noFill/>
          <a:ln/>
        </p:spPr>
        <p:txBody>
          <a:bodyPr wrap="square" lIns="0" tIns="0" rIns="0" bIns="0" rtlCol="0" anchor="ctr"/>
          <a:lstStyle/>
          <a:p>
            <a:pPr marL="0" indent="0">
              <a:buNone/>
            </a:pPr>
            <a:r>
              <a:rPr lang="en-US" sz="1000" dirty="0">
                <a:solidFill>
                  <a:srgbClr val="68809A"/>
                </a:solidFill>
              </a:rPr>
              <a:t>threshold</a:t>
            </a:r>
            <a:endParaRPr lang="en-US" sz="1000" dirty="0"/>
          </a:p>
        </p:txBody>
      </p:sp>
      <p:sp>
        <p:nvSpPr>
          <p:cNvPr id="58" name="Text 56"/>
          <p:cNvSpPr/>
          <p:nvPr/>
        </p:nvSpPr>
        <p:spPr>
          <a:xfrm>
            <a:off x="576072" y="1984248"/>
            <a:ext cx="1024130" cy="190194"/>
          </a:xfrm>
          <a:prstGeom prst="rect">
            <a:avLst/>
          </a:prstGeom>
          <a:noFill/>
          <a:ln/>
        </p:spPr>
        <p:txBody>
          <a:bodyPr wrap="square" lIns="0" tIns="0" rIns="0" bIns="0" rtlCol="0" anchor="ctr"/>
          <a:lstStyle/>
          <a:p>
            <a:pPr marL="0" indent="0">
              <a:buNone/>
            </a:pPr>
            <a:r>
              <a:rPr lang="en-US" sz="1400" dirty="0">
                <a:solidFill>
                  <a:srgbClr val="68809A"/>
                </a:solidFill>
              </a:rPr>
              <a:t>tỉ lệ đúng (%)</a:t>
            </a:r>
            <a:endParaRPr lang="en-US" sz="1400" dirty="0"/>
          </a:p>
        </p:txBody>
      </p:sp>
      <p:sp>
        <p:nvSpPr>
          <p:cNvPr id="59" name="Shape 57"/>
          <p:cNvSpPr/>
          <p:nvPr/>
        </p:nvSpPr>
        <p:spPr>
          <a:xfrm>
            <a:off x="7543800" y="1188720"/>
            <a:ext cx="3858768" cy="1097280"/>
          </a:xfrm>
          <a:prstGeom prst="roundRect">
            <a:avLst>
              <a:gd name="adj" fmla="val 13333"/>
            </a:avLst>
          </a:prstGeom>
          <a:solidFill>
            <a:srgbClr val="021C14">
              <a:alpha val="95000"/>
            </a:srgbClr>
          </a:solidFill>
          <a:ln w="10160">
            <a:solidFill>
              <a:srgbClr val="22C55E">
                <a:alpha val="90000"/>
              </a:srgbClr>
            </a:solidFill>
            <a:prstDash val="solid"/>
          </a:ln>
          <a:effectLst>
            <a:outerShdw blurRad="16510" dist="50800" dir="2700000" algn="bl" rotWithShape="0">
              <a:srgbClr val="00E5FF">
                <a:alpha val="11000"/>
              </a:srgbClr>
            </a:outerShdw>
          </a:effectLst>
        </p:spPr>
      </p:sp>
      <p:sp>
        <p:nvSpPr>
          <p:cNvPr id="60" name="Text 58"/>
          <p:cNvSpPr/>
          <p:nvPr/>
        </p:nvSpPr>
        <p:spPr>
          <a:xfrm>
            <a:off x="7818120" y="1481328"/>
            <a:ext cx="3108960" cy="164592"/>
          </a:xfrm>
          <a:prstGeom prst="rect">
            <a:avLst/>
          </a:prstGeom>
          <a:noFill/>
          <a:ln/>
        </p:spPr>
        <p:txBody>
          <a:bodyPr wrap="square" lIns="0" tIns="0" rIns="0" bIns="0" rtlCol="0" anchor="ctr"/>
          <a:lstStyle/>
          <a:p>
            <a:pPr marL="0" indent="0" algn="ctr">
              <a:buNone/>
            </a:pPr>
            <a:r>
              <a:rPr lang="en-US" b="1" dirty="0">
                <a:solidFill>
                  <a:srgbClr val="FFFFFF"/>
                </a:solidFill>
              </a:rPr>
              <a:t>Ngưỡng đề xuất</a:t>
            </a:r>
            <a:endParaRPr lang="en-US" dirty="0"/>
          </a:p>
        </p:txBody>
      </p:sp>
      <p:sp>
        <p:nvSpPr>
          <p:cNvPr id="61" name="Text 59"/>
          <p:cNvSpPr/>
          <p:nvPr/>
        </p:nvSpPr>
        <p:spPr>
          <a:xfrm>
            <a:off x="7818120" y="1920240"/>
            <a:ext cx="3108960" cy="128016"/>
          </a:xfrm>
          <a:prstGeom prst="rect">
            <a:avLst/>
          </a:prstGeom>
          <a:noFill/>
          <a:ln/>
        </p:spPr>
        <p:txBody>
          <a:bodyPr wrap="square" lIns="0" tIns="0" rIns="0" bIns="0" rtlCol="0" anchor="ctr">
            <a:noAutofit/>
          </a:bodyPr>
          <a:lstStyle/>
          <a:p>
            <a:pPr marL="0" indent="0" algn="ctr">
              <a:buNone/>
            </a:pPr>
            <a:r>
              <a:rPr lang="en-US" sz="1400" b="1" dirty="0">
                <a:solidFill>
                  <a:srgbClr val="22C55E"/>
                </a:solidFill>
                <a:latin typeface="Bahnschrift" pitchFamily="34" charset="0"/>
                <a:ea typeface="Bahnschrift" pitchFamily="34" charset="-122"/>
                <a:cs typeface="Bahnschrift" pitchFamily="34" charset="-120"/>
              </a:rPr>
              <a:t>threshold = 0.50   |   margin = 0.06</a:t>
            </a:r>
            <a:endParaRPr lang="en-US" sz="1400" dirty="0"/>
          </a:p>
        </p:txBody>
      </p:sp>
      <p:sp>
        <p:nvSpPr>
          <p:cNvPr id="62" name="Shape 60"/>
          <p:cNvSpPr/>
          <p:nvPr/>
        </p:nvSpPr>
        <p:spPr>
          <a:xfrm>
            <a:off x="7543800" y="2788920"/>
            <a:ext cx="3858768" cy="2331720"/>
          </a:xfrm>
          <a:prstGeom prst="roundRect">
            <a:avLst>
              <a:gd name="adj" fmla="val 6275"/>
            </a:avLst>
          </a:prstGeom>
          <a:solidFill>
            <a:srgbClr val="0A1D31">
              <a:alpha val="95000"/>
            </a:srgbClr>
          </a:solidFill>
          <a:ln w="10160">
            <a:solidFill>
              <a:srgbClr val="00E5FF">
                <a:alpha val="90000"/>
              </a:srgbClr>
            </a:solidFill>
            <a:prstDash val="solid"/>
          </a:ln>
          <a:effectLst>
            <a:outerShdw blurRad="16510" dist="50800" dir="2700000" algn="bl" rotWithShape="0">
              <a:srgbClr val="00E5FF">
                <a:alpha val="11000"/>
              </a:srgbClr>
            </a:outerShdw>
          </a:effectLst>
        </p:spPr>
      </p:sp>
      <p:sp>
        <p:nvSpPr>
          <p:cNvPr id="63" name="Text 61"/>
          <p:cNvSpPr/>
          <p:nvPr/>
        </p:nvSpPr>
        <p:spPr>
          <a:xfrm>
            <a:off x="7818120" y="3063240"/>
            <a:ext cx="3200400" cy="182880"/>
          </a:xfrm>
          <a:prstGeom prst="rect">
            <a:avLst/>
          </a:prstGeom>
          <a:noFill/>
          <a:ln/>
        </p:spPr>
        <p:txBody>
          <a:bodyPr wrap="square" lIns="0" tIns="0" rIns="0" bIns="0" rtlCol="0" anchor="ctr"/>
          <a:lstStyle/>
          <a:p>
            <a:pPr marL="0" indent="0" algn="ctr">
              <a:buNone/>
            </a:pPr>
            <a:r>
              <a:rPr lang="en-US" b="1" dirty="0">
                <a:solidFill>
                  <a:srgbClr val="FFFFFF"/>
                </a:solidFill>
              </a:rPr>
              <a:t>Ý nghĩa khi trình bày</a:t>
            </a:r>
            <a:endParaRPr lang="en-US" dirty="0"/>
          </a:p>
        </p:txBody>
      </p:sp>
      <p:sp>
        <p:nvSpPr>
          <p:cNvPr id="64" name="Shape 62"/>
          <p:cNvSpPr/>
          <p:nvPr/>
        </p:nvSpPr>
        <p:spPr>
          <a:xfrm>
            <a:off x="7818120" y="3639312"/>
            <a:ext cx="73152" cy="73152"/>
          </a:xfrm>
          <a:prstGeom prst="ellipse">
            <a:avLst/>
          </a:prstGeom>
          <a:solidFill>
            <a:srgbClr val="00E5FF"/>
          </a:solidFill>
          <a:ln w="12700">
            <a:solidFill>
              <a:srgbClr val="333333">
                <a:alpha val="0"/>
              </a:srgbClr>
            </a:solidFill>
            <a:prstDash val="solid"/>
          </a:ln>
        </p:spPr>
      </p:sp>
      <p:sp>
        <p:nvSpPr>
          <p:cNvPr id="65" name="Text 63"/>
          <p:cNvSpPr/>
          <p:nvPr/>
        </p:nvSpPr>
        <p:spPr>
          <a:xfrm>
            <a:off x="7982712" y="3566160"/>
            <a:ext cx="292608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Threshold thấp: dễ nhận diện hơn nhưng có nguy cơ nhận nhầm.</a:t>
            </a:r>
            <a:endParaRPr lang="en-US" sz="1400" dirty="0"/>
          </a:p>
        </p:txBody>
      </p:sp>
      <p:sp>
        <p:nvSpPr>
          <p:cNvPr id="66" name="Shape 64"/>
          <p:cNvSpPr/>
          <p:nvPr/>
        </p:nvSpPr>
        <p:spPr>
          <a:xfrm>
            <a:off x="7818120" y="4206240"/>
            <a:ext cx="73152" cy="73152"/>
          </a:xfrm>
          <a:prstGeom prst="ellipse">
            <a:avLst/>
          </a:prstGeom>
          <a:solidFill>
            <a:srgbClr val="00E5FF"/>
          </a:solidFill>
          <a:ln w="12700">
            <a:solidFill>
              <a:srgbClr val="333333">
                <a:alpha val="0"/>
              </a:srgbClr>
            </a:solidFill>
            <a:prstDash val="solid"/>
          </a:ln>
        </p:spPr>
      </p:sp>
      <p:sp>
        <p:nvSpPr>
          <p:cNvPr id="67" name="Text 65"/>
          <p:cNvSpPr/>
          <p:nvPr/>
        </p:nvSpPr>
        <p:spPr>
          <a:xfrm>
            <a:off x="7982712" y="4133088"/>
            <a:ext cx="292608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Threshold cao: an toàn hơn nhưng dễ trả về Unknown.</a:t>
            </a:r>
            <a:endParaRPr lang="en-US" sz="1400" dirty="0"/>
          </a:p>
        </p:txBody>
      </p:sp>
      <p:sp>
        <p:nvSpPr>
          <p:cNvPr id="68" name="Shape 66"/>
          <p:cNvSpPr/>
          <p:nvPr/>
        </p:nvSpPr>
        <p:spPr>
          <a:xfrm>
            <a:off x="7818120" y="4773168"/>
            <a:ext cx="73152" cy="73152"/>
          </a:xfrm>
          <a:prstGeom prst="ellipse">
            <a:avLst/>
          </a:prstGeom>
          <a:solidFill>
            <a:srgbClr val="00E5FF"/>
          </a:solidFill>
          <a:ln w="12700">
            <a:solidFill>
              <a:srgbClr val="333333">
                <a:alpha val="0"/>
              </a:srgbClr>
            </a:solidFill>
            <a:prstDash val="solid"/>
          </a:ln>
        </p:spPr>
      </p:sp>
      <p:sp>
        <p:nvSpPr>
          <p:cNvPr id="69" name="Text 67"/>
          <p:cNvSpPr/>
          <p:nvPr/>
        </p:nvSpPr>
        <p:spPr>
          <a:xfrm>
            <a:off x="7982712" y="4700016"/>
            <a:ext cx="2926080" cy="182880"/>
          </a:xfrm>
          <a:prstGeom prst="rect">
            <a:avLst/>
          </a:prstGeom>
          <a:noFill/>
          <a:ln/>
        </p:spPr>
        <p:txBody>
          <a:bodyPr wrap="square" lIns="0" tIns="0" rIns="0" bIns="0" rtlCol="0" anchor="ctr">
            <a:noAutofit/>
          </a:bodyPr>
          <a:lstStyle/>
          <a:p>
            <a:pPr marL="0" indent="0">
              <a:buNone/>
            </a:pPr>
            <a:r>
              <a:rPr lang="en-US" sz="1400" dirty="0">
                <a:solidFill>
                  <a:srgbClr val="EAF6FF"/>
                </a:solidFill>
              </a:rPr>
              <a:t>0.50 là mức cân bằng trong thực nghiệm nhóm.</a:t>
            </a:r>
            <a:endParaRPr lang="en-US" sz="1400" dirty="0"/>
          </a:p>
        </p:txBody>
      </p:sp>
      <p:sp>
        <p:nvSpPr>
          <p:cNvPr id="72" name="Shape 2">
            <a:extLst>
              <a:ext uri="{FF2B5EF4-FFF2-40B4-BE49-F238E27FC236}">
                <a16:creationId xmlns:a16="http://schemas.microsoft.com/office/drawing/2014/main" id="{F1929F12-1E6A-1EF2-3272-94139B95DBE5}"/>
              </a:ext>
            </a:extLst>
          </p:cNvPr>
          <p:cNvSpPr/>
          <p:nvPr/>
        </p:nvSpPr>
        <p:spPr>
          <a:xfrm>
            <a:off x="502920" y="126094"/>
            <a:ext cx="109728" cy="566928"/>
          </a:xfrm>
          <a:prstGeom prst="roundRect">
            <a:avLst>
              <a:gd name="adj" fmla="val 33333"/>
            </a:avLst>
          </a:prstGeom>
          <a:solidFill>
            <a:srgbClr val="1D6BFF"/>
          </a:solidFill>
          <a:ln w="12700">
            <a:solidFill>
              <a:srgbClr val="1D6BFF">
                <a:alpha val="0"/>
              </a:srgbClr>
            </a:solidFill>
            <a:prstDash val="solid"/>
          </a:ln>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11. Đánh giá kết quả</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Các yếu tố ảnh hưởng trực tiếp đến độ chính xác nhận diện</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10</a:t>
            </a:r>
            <a:endParaRPr lang="en-US" sz="850" dirty="0"/>
          </a:p>
        </p:txBody>
      </p:sp>
      <p:sp>
        <p:nvSpPr>
          <p:cNvPr id="9" name="Shape 7"/>
          <p:cNvSpPr/>
          <p:nvPr/>
        </p:nvSpPr>
        <p:spPr>
          <a:xfrm>
            <a:off x="749808" y="1371600"/>
            <a:ext cx="3246120" cy="1920240"/>
          </a:xfrm>
          <a:prstGeom prst="roundRect">
            <a:avLst>
              <a:gd name="adj" fmla="val 8571"/>
            </a:avLst>
          </a:prstGeom>
          <a:solidFill>
            <a:srgbClr val="EAF8F2"/>
          </a:solidFill>
          <a:ln w="12700">
            <a:solidFill>
              <a:srgbClr val="C7EAD7"/>
            </a:solidFill>
            <a:prstDash val="solid"/>
          </a:ln>
          <a:effectLst>
            <a:outerShdw blurRad="25400" dist="50800" dir="2700000" algn="bl" rotWithShape="0">
              <a:srgbClr val="C6D7EA">
                <a:alpha val="16000"/>
              </a:srgbClr>
            </a:outerShdw>
          </a:effectLst>
        </p:spPr>
      </p:sp>
      <p:sp>
        <p:nvSpPr>
          <p:cNvPr id="10" name="Shape 8"/>
          <p:cNvSpPr/>
          <p:nvPr/>
        </p:nvSpPr>
        <p:spPr>
          <a:xfrm>
            <a:off x="978408" y="1664208"/>
            <a:ext cx="941832" cy="347472"/>
          </a:xfrm>
          <a:prstGeom prst="roundRect">
            <a:avLst>
              <a:gd name="adj" fmla="val 21053"/>
            </a:avLst>
          </a:prstGeom>
          <a:solidFill>
            <a:srgbClr val="35C58A"/>
          </a:solidFill>
          <a:ln w="12700">
            <a:solidFill>
              <a:srgbClr val="333333">
                <a:alpha val="0"/>
              </a:srgbClr>
            </a:solidFill>
            <a:prstDash val="solid"/>
          </a:ln>
        </p:spPr>
      </p:sp>
      <p:sp>
        <p:nvSpPr>
          <p:cNvPr id="11" name="Text 9"/>
          <p:cNvSpPr/>
          <p:nvPr/>
        </p:nvSpPr>
        <p:spPr>
          <a:xfrm>
            <a:off x="1042416" y="1764792"/>
            <a:ext cx="776224" cy="140208"/>
          </a:xfrm>
          <a:prstGeom prst="rect">
            <a:avLst/>
          </a:prstGeom>
          <a:noFill/>
          <a:ln/>
        </p:spPr>
        <p:txBody>
          <a:bodyPr wrap="square" lIns="0" tIns="0" rIns="0" bIns="0" rtlCol="0" anchor="ctr"/>
          <a:lstStyle/>
          <a:p>
            <a:pPr marL="0" indent="0" algn="ctr">
              <a:buNone/>
            </a:pPr>
            <a:r>
              <a:rPr lang="en-US" sz="1600" b="1" dirty="0">
                <a:solidFill>
                  <a:srgbClr val="FFFFFF"/>
                </a:solidFill>
              </a:rPr>
              <a:t>Yếu tố 1</a:t>
            </a:r>
            <a:endParaRPr lang="en-US" sz="1600" dirty="0"/>
          </a:p>
        </p:txBody>
      </p:sp>
      <p:sp>
        <p:nvSpPr>
          <p:cNvPr id="12" name="Text 10"/>
          <p:cNvSpPr/>
          <p:nvPr/>
        </p:nvSpPr>
        <p:spPr>
          <a:xfrm>
            <a:off x="978408" y="2212848"/>
            <a:ext cx="2743200" cy="256032"/>
          </a:xfrm>
          <a:prstGeom prst="rect">
            <a:avLst/>
          </a:prstGeom>
          <a:noFill/>
          <a:ln/>
        </p:spPr>
        <p:txBody>
          <a:bodyPr wrap="square" lIns="0" tIns="0" rIns="0" bIns="0" rtlCol="0" anchor="ctr">
            <a:normAutofit/>
          </a:bodyPr>
          <a:lstStyle/>
          <a:p>
            <a:pPr marL="0" indent="0">
              <a:buNone/>
            </a:pPr>
            <a:r>
              <a:rPr lang="en-US" sz="1600" b="1" dirty="0">
                <a:solidFill>
                  <a:srgbClr val="0B1F3A"/>
                </a:solidFill>
              </a:rPr>
              <a:t>Ánh sáng ổn định</a:t>
            </a:r>
            <a:endParaRPr lang="en-US" sz="1600" dirty="0"/>
          </a:p>
        </p:txBody>
      </p:sp>
      <p:sp>
        <p:nvSpPr>
          <p:cNvPr id="13" name="Text 11"/>
          <p:cNvSpPr/>
          <p:nvPr/>
        </p:nvSpPr>
        <p:spPr>
          <a:xfrm>
            <a:off x="978408" y="2633472"/>
            <a:ext cx="2743200" cy="411480"/>
          </a:xfrm>
          <a:prstGeom prst="rect">
            <a:avLst/>
          </a:prstGeom>
          <a:noFill/>
          <a:ln/>
        </p:spPr>
        <p:txBody>
          <a:bodyPr wrap="square" lIns="0" tIns="0" rIns="0" bIns="0" rtlCol="0" anchor="ctr">
            <a:noAutofit/>
          </a:bodyPr>
          <a:lstStyle/>
          <a:p>
            <a:pPr marL="0" indent="0">
              <a:buNone/>
            </a:pPr>
            <a:r>
              <a:rPr lang="en-US" sz="1400" dirty="0">
                <a:solidFill>
                  <a:srgbClr val="5F6B7A"/>
                </a:solidFill>
              </a:rPr>
              <a:t>Nhận diện tốt hơn khi mặt đủ sáng, rõ nét và nhìn tương đối chính diện.</a:t>
            </a:r>
            <a:endParaRPr lang="en-US" sz="1400" dirty="0"/>
          </a:p>
        </p:txBody>
      </p:sp>
      <p:sp>
        <p:nvSpPr>
          <p:cNvPr id="14" name="Shape 12"/>
          <p:cNvSpPr/>
          <p:nvPr/>
        </p:nvSpPr>
        <p:spPr>
          <a:xfrm>
            <a:off x="4517136" y="1371600"/>
            <a:ext cx="3246120" cy="1920240"/>
          </a:xfrm>
          <a:prstGeom prst="roundRect">
            <a:avLst>
              <a:gd name="adj" fmla="val 8571"/>
            </a:avLst>
          </a:prstGeom>
          <a:solidFill>
            <a:srgbClr val="FFF7E8"/>
          </a:solidFill>
          <a:ln w="12700">
            <a:solidFill>
              <a:srgbClr val="FCD68A"/>
            </a:solidFill>
            <a:prstDash val="solid"/>
          </a:ln>
          <a:effectLst>
            <a:outerShdw blurRad="25400" dist="50800" dir="2700000" algn="bl" rotWithShape="0">
              <a:srgbClr val="C6D7EA">
                <a:alpha val="16000"/>
              </a:srgbClr>
            </a:outerShdw>
          </a:effectLst>
        </p:spPr>
      </p:sp>
      <p:sp>
        <p:nvSpPr>
          <p:cNvPr id="15" name="Shape 13"/>
          <p:cNvSpPr/>
          <p:nvPr/>
        </p:nvSpPr>
        <p:spPr>
          <a:xfrm>
            <a:off x="4689902" y="1570413"/>
            <a:ext cx="934628" cy="496316"/>
          </a:xfrm>
          <a:prstGeom prst="roundRect">
            <a:avLst>
              <a:gd name="adj" fmla="val 21053"/>
            </a:avLst>
          </a:prstGeom>
          <a:solidFill>
            <a:srgbClr val="F59E0B"/>
          </a:solidFill>
          <a:ln w="12700">
            <a:solidFill>
              <a:srgbClr val="333333">
                <a:alpha val="0"/>
              </a:srgbClr>
            </a:solidFill>
            <a:prstDash val="solid"/>
          </a:ln>
        </p:spPr>
      </p:sp>
      <p:sp>
        <p:nvSpPr>
          <p:cNvPr id="16" name="Text 14"/>
          <p:cNvSpPr/>
          <p:nvPr/>
        </p:nvSpPr>
        <p:spPr>
          <a:xfrm>
            <a:off x="4809744" y="1764792"/>
            <a:ext cx="694944" cy="140208"/>
          </a:xfrm>
          <a:prstGeom prst="rect">
            <a:avLst/>
          </a:prstGeom>
          <a:noFill/>
          <a:ln/>
        </p:spPr>
        <p:txBody>
          <a:bodyPr wrap="square" lIns="0" tIns="0" rIns="0" bIns="0" rtlCol="0" anchor="ctr"/>
          <a:lstStyle/>
          <a:p>
            <a:pPr marL="0" indent="0" algn="ctr">
              <a:buNone/>
            </a:pPr>
            <a:r>
              <a:rPr lang="en-US" sz="1600" b="1" dirty="0">
                <a:solidFill>
                  <a:srgbClr val="FFFFFF"/>
                </a:solidFill>
              </a:rPr>
              <a:t>Yếu tố 2</a:t>
            </a:r>
            <a:endParaRPr lang="en-US" sz="1600" dirty="0"/>
          </a:p>
        </p:txBody>
      </p:sp>
      <p:sp>
        <p:nvSpPr>
          <p:cNvPr id="17" name="Text 15"/>
          <p:cNvSpPr/>
          <p:nvPr/>
        </p:nvSpPr>
        <p:spPr>
          <a:xfrm>
            <a:off x="4745736" y="2212848"/>
            <a:ext cx="2743200" cy="256032"/>
          </a:xfrm>
          <a:prstGeom prst="rect">
            <a:avLst/>
          </a:prstGeom>
          <a:noFill/>
          <a:ln/>
        </p:spPr>
        <p:txBody>
          <a:bodyPr wrap="square" lIns="0" tIns="0" rIns="0" bIns="0" rtlCol="0" anchor="ctr">
            <a:normAutofit/>
          </a:bodyPr>
          <a:lstStyle/>
          <a:p>
            <a:pPr marL="0" indent="0">
              <a:buNone/>
            </a:pPr>
            <a:r>
              <a:rPr lang="en-US" sz="1600" b="1" dirty="0">
                <a:solidFill>
                  <a:srgbClr val="0B1F3A"/>
                </a:solidFill>
              </a:rPr>
              <a:t>Mặt nghiêng hoặc xa camera</a:t>
            </a:r>
            <a:endParaRPr lang="en-US" sz="1600" dirty="0"/>
          </a:p>
        </p:txBody>
      </p:sp>
      <p:sp>
        <p:nvSpPr>
          <p:cNvPr id="18" name="Text 16"/>
          <p:cNvSpPr/>
          <p:nvPr/>
        </p:nvSpPr>
        <p:spPr>
          <a:xfrm>
            <a:off x="4745736" y="2633472"/>
            <a:ext cx="2743200" cy="411480"/>
          </a:xfrm>
          <a:prstGeom prst="rect">
            <a:avLst/>
          </a:prstGeom>
          <a:noFill/>
          <a:ln/>
        </p:spPr>
        <p:txBody>
          <a:bodyPr wrap="square" lIns="0" tIns="0" rIns="0" bIns="0" rtlCol="0" anchor="ctr">
            <a:noAutofit/>
          </a:bodyPr>
          <a:lstStyle/>
          <a:p>
            <a:pPr marL="0" indent="0">
              <a:buNone/>
            </a:pPr>
            <a:r>
              <a:rPr lang="en-US" sz="1400" dirty="0">
                <a:solidFill>
                  <a:srgbClr val="5F6B7A"/>
                </a:solidFill>
              </a:rPr>
              <a:t>Vector đặc trưng kém ổn định hơn, dễ bị Unknown hoặc giảm điểm tin cậy.</a:t>
            </a:r>
            <a:endParaRPr lang="en-US" sz="1400" dirty="0"/>
          </a:p>
        </p:txBody>
      </p:sp>
      <p:sp>
        <p:nvSpPr>
          <p:cNvPr id="19" name="Shape 17"/>
          <p:cNvSpPr/>
          <p:nvPr/>
        </p:nvSpPr>
        <p:spPr>
          <a:xfrm>
            <a:off x="8284464" y="1371600"/>
            <a:ext cx="3246120" cy="1920240"/>
          </a:xfrm>
          <a:prstGeom prst="roundRect">
            <a:avLst>
              <a:gd name="adj" fmla="val 8571"/>
            </a:avLst>
          </a:prstGeom>
          <a:solidFill>
            <a:srgbClr val="EAF4FF"/>
          </a:solidFill>
          <a:ln w="12700">
            <a:solidFill>
              <a:srgbClr val="C9D9EC"/>
            </a:solidFill>
            <a:prstDash val="solid"/>
          </a:ln>
          <a:effectLst>
            <a:outerShdw blurRad="25400" dist="50800" dir="2700000" algn="bl" rotWithShape="0">
              <a:srgbClr val="C6D7EA">
                <a:alpha val="16000"/>
              </a:srgbClr>
            </a:outerShdw>
          </a:effectLst>
        </p:spPr>
      </p:sp>
      <p:sp>
        <p:nvSpPr>
          <p:cNvPr id="20" name="Shape 18"/>
          <p:cNvSpPr/>
          <p:nvPr/>
        </p:nvSpPr>
        <p:spPr>
          <a:xfrm>
            <a:off x="8502535" y="1559144"/>
            <a:ext cx="889554" cy="489112"/>
          </a:xfrm>
          <a:prstGeom prst="roundRect">
            <a:avLst>
              <a:gd name="adj" fmla="val 21053"/>
            </a:avLst>
          </a:prstGeom>
          <a:solidFill>
            <a:srgbClr val="1D6BFF"/>
          </a:solidFill>
          <a:ln w="12700">
            <a:solidFill>
              <a:srgbClr val="333333">
                <a:alpha val="0"/>
              </a:srgbClr>
            </a:solidFill>
            <a:prstDash val="solid"/>
          </a:ln>
        </p:spPr>
        <p:txBody>
          <a:bodyPr/>
          <a:lstStyle/>
          <a:p>
            <a:endParaRPr lang="en-US" dirty="0"/>
          </a:p>
        </p:txBody>
      </p:sp>
      <p:sp>
        <p:nvSpPr>
          <p:cNvPr id="21" name="Text 19"/>
          <p:cNvSpPr/>
          <p:nvPr/>
        </p:nvSpPr>
        <p:spPr>
          <a:xfrm>
            <a:off x="8577072" y="1764792"/>
            <a:ext cx="694944" cy="140208"/>
          </a:xfrm>
          <a:prstGeom prst="rect">
            <a:avLst/>
          </a:prstGeom>
          <a:noFill/>
          <a:ln/>
        </p:spPr>
        <p:txBody>
          <a:bodyPr wrap="square" lIns="0" tIns="0" rIns="0" bIns="0" rtlCol="0" anchor="ctr"/>
          <a:lstStyle/>
          <a:p>
            <a:pPr marL="0" indent="0" algn="ctr">
              <a:buNone/>
            </a:pPr>
            <a:r>
              <a:rPr lang="en-US" sz="1600" b="1" dirty="0">
                <a:solidFill>
                  <a:srgbClr val="FFFFFF"/>
                </a:solidFill>
              </a:rPr>
              <a:t>Yếu tố 3</a:t>
            </a:r>
            <a:endParaRPr lang="en-US" sz="1600" dirty="0"/>
          </a:p>
        </p:txBody>
      </p:sp>
      <p:sp>
        <p:nvSpPr>
          <p:cNvPr id="22" name="Text 20"/>
          <p:cNvSpPr/>
          <p:nvPr/>
        </p:nvSpPr>
        <p:spPr>
          <a:xfrm>
            <a:off x="8513064" y="2212848"/>
            <a:ext cx="2743200" cy="256032"/>
          </a:xfrm>
          <a:prstGeom prst="rect">
            <a:avLst/>
          </a:prstGeom>
          <a:noFill/>
          <a:ln/>
        </p:spPr>
        <p:txBody>
          <a:bodyPr wrap="square" lIns="0" tIns="0" rIns="0" bIns="0" rtlCol="0" anchor="ctr">
            <a:normAutofit/>
          </a:bodyPr>
          <a:lstStyle/>
          <a:p>
            <a:pPr marL="0" indent="0">
              <a:buNone/>
            </a:pPr>
            <a:r>
              <a:rPr lang="en-US" sz="1600" b="1" dirty="0">
                <a:solidFill>
                  <a:srgbClr val="0B1F3A"/>
                </a:solidFill>
              </a:rPr>
              <a:t>Threshold và margin</a:t>
            </a:r>
            <a:endParaRPr lang="en-US" sz="1600" dirty="0"/>
          </a:p>
        </p:txBody>
      </p:sp>
      <p:sp>
        <p:nvSpPr>
          <p:cNvPr id="23" name="Text 21"/>
          <p:cNvSpPr/>
          <p:nvPr/>
        </p:nvSpPr>
        <p:spPr>
          <a:xfrm>
            <a:off x="8513064" y="2633472"/>
            <a:ext cx="2743200" cy="411480"/>
          </a:xfrm>
          <a:prstGeom prst="rect">
            <a:avLst/>
          </a:prstGeom>
          <a:noFill/>
          <a:ln/>
        </p:spPr>
        <p:txBody>
          <a:bodyPr wrap="square" lIns="0" tIns="0" rIns="0" bIns="0" rtlCol="0" anchor="ctr">
            <a:noAutofit/>
          </a:bodyPr>
          <a:lstStyle/>
          <a:p>
            <a:pPr marL="0" indent="0">
              <a:buNone/>
            </a:pPr>
            <a:r>
              <a:rPr lang="en-US" sz="1400" dirty="0">
                <a:solidFill>
                  <a:srgbClr val="5F6B7A"/>
                </a:solidFill>
              </a:rPr>
              <a:t>Threshold quá thấp dễ nhận nhầm, quá cao dễ bỏ sót; cần chọn mức cân bằng.</a:t>
            </a:r>
            <a:endParaRPr lang="en-US" sz="1400" dirty="0"/>
          </a:p>
        </p:txBody>
      </p:sp>
      <p:sp>
        <p:nvSpPr>
          <p:cNvPr id="24" name="Shape 22"/>
          <p:cNvSpPr/>
          <p:nvPr/>
        </p:nvSpPr>
        <p:spPr>
          <a:xfrm>
            <a:off x="976884" y="3909060"/>
            <a:ext cx="10378440" cy="1508760"/>
          </a:xfrm>
          <a:prstGeom prst="roundRect">
            <a:avLst>
              <a:gd name="adj" fmla="val 10909"/>
            </a:avLst>
          </a:prstGeom>
          <a:solidFill>
            <a:srgbClr val="FFFFFF"/>
          </a:solidFill>
          <a:ln w="12700">
            <a:solidFill>
              <a:srgbClr val="DDE9F8"/>
            </a:solidFill>
            <a:prstDash val="solid"/>
          </a:ln>
          <a:effectLst>
            <a:outerShdw blurRad="25400" dist="50800" dir="2700000" algn="bl" rotWithShape="0">
              <a:srgbClr val="C6D7EA">
                <a:alpha val="16000"/>
              </a:srgbClr>
            </a:outerShdw>
          </a:effectLst>
        </p:spPr>
      </p:sp>
      <p:sp>
        <p:nvSpPr>
          <p:cNvPr id="25" name="Text 23"/>
          <p:cNvSpPr/>
          <p:nvPr/>
        </p:nvSpPr>
        <p:spPr>
          <a:xfrm>
            <a:off x="1188720" y="4315968"/>
            <a:ext cx="2926080" cy="228600"/>
          </a:xfrm>
          <a:prstGeom prst="rect">
            <a:avLst/>
          </a:prstGeom>
          <a:noFill/>
          <a:ln/>
        </p:spPr>
        <p:txBody>
          <a:bodyPr wrap="square" lIns="0" tIns="0" rIns="0" bIns="0" rtlCol="0" anchor="ctr"/>
          <a:lstStyle/>
          <a:p>
            <a:pPr marL="0" indent="0">
              <a:buNone/>
            </a:pPr>
            <a:r>
              <a:rPr lang="en-US" sz="1600" b="1" dirty="0">
                <a:solidFill>
                  <a:srgbClr val="0A55C9"/>
                </a:solidFill>
              </a:rPr>
              <a:t>Cách nhóm lựa chọn ngưỡng</a:t>
            </a:r>
            <a:endParaRPr lang="en-US" sz="1600" dirty="0"/>
          </a:p>
        </p:txBody>
      </p:sp>
      <p:sp>
        <p:nvSpPr>
          <p:cNvPr id="26" name="Text 24"/>
          <p:cNvSpPr/>
          <p:nvPr/>
        </p:nvSpPr>
        <p:spPr>
          <a:xfrm>
            <a:off x="4434840" y="4233672"/>
            <a:ext cx="3474720" cy="342900"/>
          </a:xfrm>
          <a:prstGeom prst="rect">
            <a:avLst/>
          </a:prstGeom>
          <a:noFill/>
          <a:ln/>
        </p:spPr>
        <p:txBody>
          <a:bodyPr wrap="square" lIns="0" tIns="0" rIns="0" bIns="0" rtlCol="0" anchor="ctr"/>
          <a:lstStyle/>
          <a:p>
            <a:pPr marL="0" indent="0" algn="ctr">
              <a:buNone/>
            </a:pPr>
            <a:r>
              <a:rPr lang="en-US" sz="1600" b="1" dirty="0">
                <a:solidFill>
                  <a:srgbClr val="0B1F3A"/>
                </a:solidFill>
              </a:rPr>
              <a:t>threshold = 0.50  |  margin = 0.06</a:t>
            </a:r>
            <a:endParaRPr lang="en-US" sz="1600" dirty="0"/>
          </a:p>
        </p:txBody>
      </p:sp>
      <p:sp>
        <p:nvSpPr>
          <p:cNvPr id="27" name="Text 25"/>
          <p:cNvSpPr/>
          <p:nvPr/>
        </p:nvSpPr>
        <p:spPr>
          <a:xfrm>
            <a:off x="1188720" y="4892040"/>
            <a:ext cx="9601200" cy="210312"/>
          </a:xfrm>
          <a:prstGeom prst="rect">
            <a:avLst/>
          </a:prstGeom>
          <a:noFill/>
          <a:ln/>
        </p:spPr>
        <p:txBody>
          <a:bodyPr wrap="square" lIns="0" tIns="0" rIns="0" bIns="0" rtlCol="0" anchor="ctr"/>
          <a:lstStyle/>
          <a:p>
            <a:pPr marL="0" indent="0" algn="ctr">
              <a:buNone/>
            </a:pPr>
            <a:r>
              <a:rPr lang="en-US" sz="1600" dirty="0">
                <a:solidFill>
                  <a:srgbClr val="5F6B7A"/>
                </a:solidFill>
              </a:rPr>
              <a:t>Mục tiêu là cân bằng giữa tỷ lệ nhận diện đúng và khả năng hạn chế nhận diện nhầm.</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D6BFF"/>
          </a:solidFill>
          <a:ln w="12700">
            <a:solidFill>
              <a:srgbClr val="1D6BFF">
                <a:alpha val="0"/>
              </a:srgbClr>
            </a:solidFill>
            <a:prstDash val="solid"/>
          </a:ln>
        </p:spPr>
      </p:sp>
      <p:sp>
        <p:nvSpPr>
          <p:cNvPr id="3" name="Shape 1"/>
          <p:cNvSpPr/>
          <p:nvPr/>
        </p:nvSpPr>
        <p:spPr>
          <a:xfrm>
            <a:off x="502920" y="6473952"/>
            <a:ext cx="11201400" cy="0"/>
          </a:xfrm>
          <a:prstGeom prst="line">
            <a:avLst/>
          </a:prstGeom>
          <a:noFill/>
          <a:ln w="7620">
            <a:solidFill>
              <a:srgbClr val="D7E3F4"/>
            </a:solidFill>
            <a:prstDash val="solid"/>
          </a:ln>
        </p:spPr>
      </p:sp>
      <p:sp>
        <p:nvSpPr>
          <p:cNvPr id="4" name="Shape 2"/>
          <p:cNvSpPr/>
          <p:nvPr/>
        </p:nvSpPr>
        <p:spPr>
          <a:xfrm>
            <a:off x="502920" y="512064"/>
            <a:ext cx="109728" cy="566928"/>
          </a:xfrm>
          <a:prstGeom prst="roundRect">
            <a:avLst>
              <a:gd name="adj" fmla="val 33333"/>
            </a:avLst>
          </a:prstGeom>
          <a:solidFill>
            <a:srgbClr val="1D6BFF"/>
          </a:solidFill>
          <a:ln w="12700">
            <a:solidFill>
              <a:srgbClr val="1D6BFF">
                <a:alpha val="0"/>
              </a:srgbClr>
            </a:solidFill>
            <a:prstDash val="solid"/>
          </a:ln>
        </p:spPr>
      </p:sp>
      <p:sp>
        <p:nvSpPr>
          <p:cNvPr id="5" name="Text 3"/>
          <p:cNvSpPr/>
          <p:nvPr/>
        </p:nvSpPr>
        <p:spPr>
          <a:xfrm>
            <a:off x="749808" y="438912"/>
            <a:ext cx="10332720" cy="384048"/>
          </a:xfrm>
          <a:prstGeom prst="rect">
            <a:avLst/>
          </a:prstGeom>
          <a:noFill/>
          <a:ln/>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12. Ưu điểm, hạn chế và hướng phát triển</a:t>
            </a:r>
            <a:endParaRPr lang="en-US" sz="2800" dirty="0"/>
          </a:p>
        </p:txBody>
      </p:sp>
      <p:sp>
        <p:nvSpPr>
          <p:cNvPr id="6" name="Text 4"/>
          <p:cNvSpPr/>
          <p:nvPr/>
        </p:nvSpPr>
        <p:spPr>
          <a:xfrm>
            <a:off x="768096" y="896112"/>
            <a:ext cx="10241280" cy="256032"/>
          </a:xfrm>
          <a:prstGeom prst="rect">
            <a:avLst/>
          </a:prstGeom>
          <a:noFill/>
          <a:ln/>
        </p:spPr>
        <p:txBody>
          <a:bodyPr wrap="square" lIns="0" tIns="0" rIns="0" bIns="0" rtlCol="0" anchor="ctr"/>
          <a:lstStyle/>
          <a:p>
            <a:pPr marL="0" indent="0">
              <a:buNone/>
            </a:pPr>
            <a:r>
              <a:rPr lang="en-US" sz="1600" dirty="0">
                <a:solidFill>
                  <a:srgbClr val="5F6B7A"/>
                </a:solidFill>
                <a:latin typeface="Aptos" pitchFamily="34" charset="0"/>
                <a:ea typeface="Aptos" pitchFamily="34" charset="-122"/>
                <a:cs typeface="Aptos" pitchFamily="34" charset="-120"/>
              </a:rPr>
              <a:t>Nhìn nhận khách quan để đề xuất nâng cấp hệ thống</a:t>
            </a:r>
            <a:endParaRPr lang="en-US" sz="1600" dirty="0"/>
          </a:p>
        </p:txBody>
      </p:sp>
      <p:sp>
        <p:nvSpPr>
          <p:cNvPr id="7" name="Text 5"/>
          <p:cNvSpPr/>
          <p:nvPr/>
        </p:nvSpPr>
        <p:spPr>
          <a:xfrm>
            <a:off x="502920" y="6565392"/>
            <a:ext cx="8686800" cy="18288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Nhóm 2 | Nhận diện khuôn mặt phục vụ điểm danh sinh viên</a:t>
            </a:r>
            <a:endParaRPr lang="en-US" sz="1200" dirty="0"/>
          </a:p>
        </p:txBody>
      </p:sp>
      <p:sp>
        <p:nvSpPr>
          <p:cNvPr id="8" name="Text 6"/>
          <p:cNvSpPr/>
          <p:nvPr/>
        </p:nvSpPr>
        <p:spPr>
          <a:xfrm>
            <a:off x="11384280" y="6510528"/>
            <a:ext cx="411480" cy="228600"/>
          </a:xfrm>
          <a:prstGeom prst="rect">
            <a:avLst/>
          </a:prstGeom>
          <a:noFill/>
          <a:ln/>
        </p:spPr>
        <p:txBody>
          <a:bodyPr wrap="square" lIns="0" tIns="0" rIns="0" bIns="0" rtlCol="0" anchor="ctr"/>
          <a:lstStyle/>
          <a:p>
            <a:pPr marL="0" indent="0" algn="ctr">
              <a:buNone/>
            </a:pPr>
            <a:r>
              <a:rPr lang="en-US" sz="850" b="1" dirty="0">
                <a:solidFill>
                  <a:srgbClr val="1D6BFF"/>
                </a:solidFill>
                <a:latin typeface="Aptos" pitchFamily="34" charset="0"/>
                <a:ea typeface="Aptos" pitchFamily="34" charset="-122"/>
                <a:cs typeface="Aptos" pitchFamily="34" charset="-120"/>
              </a:rPr>
              <a:t>11</a:t>
            </a:r>
            <a:endParaRPr lang="en-US" sz="850" dirty="0"/>
          </a:p>
        </p:txBody>
      </p:sp>
      <p:sp>
        <p:nvSpPr>
          <p:cNvPr id="9" name="Shape 7"/>
          <p:cNvSpPr/>
          <p:nvPr/>
        </p:nvSpPr>
        <p:spPr>
          <a:xfrm>
            <a:off x="658368" y="1325880"/>
            <a:ext cx="3429000" cy="4892040"/>
          </a:xfrm>
          <a:prstGeom prst="roundRect">
            <a:avLst>
              <a:gd name="adj" fmla="val 4800"/>
            </a:avLst>
          </a:prstGeom>
          <a:solidFill>
            <a:srgbClr val="EAF8F2"/>
          </a:solidFill>
          <a:ln w="12700">
            <a:solidFill>
              <a:srgbClr val="C7EAD7"/>
            </a:solidFill>
            <a:prstDash val="solid"/>
          </a:ln>
          <a:effectLst>
            <a:outerShdw blurRad="25400" dist="50800" dir="2700000" algn="bl" rotWithShape="0">
              <a:srgbClr val="C6D7EA">
                <a:alpha val="16000"/>
              </a:srgbClr>
            </a:outerShdw>
          </a:effectLst>
        </p:spPr>
      </p:sp>
      <p:sp>
        <p:nvSpPr>
          <p:cNvPr id="10" name="Text 8"/>
          <p:cNvSpPr/>
          <p:nvPr/>
        </p:nvSpPr>
        <p:spPr>
          <a:xfrm>
            <a:off x="886968" y="1682496"/>
            <a:ext cx="2971800" cy="256032"/>
          </a:xfrm>
          <a:prstGeom prst="rect">
            <a:avLst/>
          </a:prstGeom>
          <a:noFill/>
          <a:ln/>
        </p:spPr>
        <p:txBody>
          <a:bodyPr wrap="square" lIns="0" tIns="0" rIns="0" bIns="0" rtlCol="0" anchor="ctr"/>
          <a:lstStyle/>
          <a:p>
            <a:pPr marL="0" indent="0" algn="ctr">
              <a:buNone/>
            </a:pPr>
            <a:r>
              <a:rPr lang="en-US" b="1" dirty="0">
                <a:solidFill>
                  <a:srgbClr val="35C58A"/>
                </a:solidFill>
              </a:rPr>
              <a:t>Ưu điểm</a:t>
            </a:r>
            <a:endParaRPr lang="en-US" dirty="0"/>
          </a:p>
        </p:txBody>
      </p:sp>
      <p:sp>
        <p:nvSpPr>
          <p:cNvPr id="11" name="Shape 9"/>
          <p:cNvSpPr/>
          <p:nvPr/>
        </p:nvSpPr>
        <p:spPr>
          <a:xfrm>
            <a:off x="1042416" y="2331720"/>
            <a:ext cx="91440" cy="91440"/>
          </a:xfrm>
          <a:prstGeom prst="ellipse">
            <a:avLst/>
          </a:prstGeom>
          <a:solidFill>
            <a:srgbClr val="35C58A"/>
          </a:solidFill>
          <a:ln w="12700">
            <a:solidFill>
              <a:srgbClr val="333333">
                <a:alpha val="0"/>
              </a:srgbClr>
            </a:solidFill>
            <a:prstDash val="solid"/>
          </a:ln>
        </p:spPr>
      </p:sp>
      <p:sp>
        <p:nvSpPr>
          <p:cNvPr id="12" name="Text 10"/>
          <p:cNvSpPr/>
          <p:nvPr/>
        </p:nvSpPr>
        <p:spPr>
          <a:xfrm>
            <a:off x="1225296" y="2258568"/>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Tự động hóa quá trình điểm danh</a:t>
            </a:r>
            <a:endParaRPr lang="en-US" sz="1400" dirty="0"/>
          </a:p>
        </p:txBody>
      </p:sp>
      <p:sp>
        <p:nvSpPr>
          <p:cNvPr id="13" name="Shape 11"/>
          <p:cNvSpPr/>
          <p:nvPr/>
        </p:nvSpPr>
        <p:spPr>
          <a:xfrm>
            <a:off x="1042416" y="2990088"/>
            <a:ext cx="91440" cy="91440"/>
          </a:xfrm>
          <a:prstGeom prst="ellipse">
            <a:avLst/>
          </a:prstGeom>
          <a:solidFill>
            <a:srgbClr val="35C58A"/>
          </a:solidFill>
          <a:ln w="12700">
            <a:solidFill>
              <a:srgbClr val="333333">
                <a:alpha val="0"/>
              </a:srgbClr>
            </a:solidFill>
            <a:prstDash val="solid"/>
          </a:ln>
        </p:spPr>
      </p:sp>
      <p:sp>
        <p:nvSpPr>
          <p:cNvPr id="14" name="Text 12"/>
          <p:cNvSpPr/>
          <p:nvPr/>
        </p:nvSpPr>
        <p:spPr>
          <a:xfrm>
            <a:off x="1225296" y="2916936"/>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Lưu dữ liệu CSV dễ quản lý</a:t>
            </a:r>
            <a:endParaRPr lang="en-US" sz="1400" dirty="0"/>
          </a:p>
        </p:txBody>
      </p:sp>
      <p:sp>
        <p:nvSpPr>
          <p:cNvPr id="15" name="Shape 13"/>
          <p:cNvSpPr/>
          <p:nvPr/>
        </p:nvSpPr>
        <p:spPr>
          <a:xfrm>
            <a:off x="1042416" y="3648456"/>
            <a:ext cx="91440" cy="91440"/>
          </a:xfrm>
          <a:prstGeom prst="ellipse">
            <a:avLst/>
          </a:prstGeom>
          <a:solidFill>
            <a:srgbClr val="35C58A"/>
          </a:solidFill>
          <a:ln w="12700">
            <a:solidFill>
              <a:srgbClr val="333333">
                <a:alpha val="0"/>
              </a:srgbClr>
            </a:solidFill>
            <a:prstDash val="solid"/>
          </a:ln>
        </p:spPr>
      </p:sp>
      <p:sp>
        <p:nvSpPr>
          <p:cNvPr id="16" name="Text 14"/>
          <p:cNvSpPr/>
          <p:nvPr/>
        </p:nvSpPr>
        <p:spPr>
          <a:xfrm>
            <a:off x="1225296" y="3575304"/>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Cấu trúc code dễ bảo trì</a:t>
            </a:r>
            <a:endParaRPr lang="en-US" sz="1400" dirty="0"/>
          </a:p>
        </p:txBody>
      </p:sp>
      <p:sp>
        <p:nvSpPr>
          <p:cNvPr id="17" name="Shape 15"/>
          <p:cNvSpPr/>
          <p:nvPr/>
        </p:nvSpPr>
        <p:spPr>
          <a:xfrm>
            <a:off x="1042416" y="4306824"/>
            <a:ext cx="91440" cy="91440"/>
          </a:xfrm>
          <a:prstGeom prst="ellipse">
            <a:avLst/>
          </a:prstGeom>
          <a:solidFill>
            <a:srgbClr val="35C58A"/>
          </a:solidFill>
          <a:ln w="12700">
            <a:solidFill>
              <a:srgbClr val="333333">
                <a:alpha val="0"/>
              </a:srgbClr>
            </a:solidFill>
            <a:prstDash val="solid"/>
          </a:ln>
        </p:spPr>
      </p:sp>
      <p:sp>
        <p:nvSpPr>
          <p:cNvPr id="18" name="Text 16"/>
          <p:cNvSpPr/>
          <p:nvPr/>
        </p:nvSpPr>
        <p:spPr>
          <a:xfrm>
            <a:off x="1225296" y="4233672"/>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Phù hợp demo trên máy cá nhân</a:t>
            </a:r>
            <a:endParaRPr lang="en-US" sz="1400" dirty="0"/>
          </a:p>
        </p:txBody>
      </p:sp>
      <p:sp>
        <p:nvSpPr>
          <p:cNvPr id="19" name="Shape 17"/>
          <p:cNvSpPr/>
          <p:nvPr/>
        </p:nvSpPr>
        <p:spPr>
          <a:xfrm>
            <a:off x="4517136" y="1325880"/>
            <a:ext cx="3429000" cy="4892040"/>
          </a:xfrm>
          <a:prstGeom prst="roundRect">
            <a:avLst>
              <a:gd name="adj" fmla="val 4800"/>
            </a:avLst>
          </a:prstGeom>
          <a:solidFill>
            <a:srgbClr val="FFF7E8"/>
          </a:solidFill>
          <a:ln w="12700">
            <a:solidFill>
              <a:srgbClr val="FCD68A"/>
            </a:solidFill>
            <a:prstDash val="solid"/>
          </a:ln>
          <a:effectLst>
            <a:outerShdw blurRad="25400" dist="50800" dir="2700000" algn="bl" rotWithShape="0">
              <a:srgbClr val="C6D7EA">
                <a:alpha val="16000"/>
              </a:srgbClr>
            </a:outerShdw>
          </a:effectLst>
        </p:spPr>
      </p:sp>
      <p:sp>
        <p:nvSpPr>
          <p:cNvPr id="20" name="Text 18"/>
          <p:cNvSpPr/>
          <p:nvPr/>
        </p:nvSpPr>
        <p:spPr>
          <a:xfrm>
            <a:off x="4745736" y="1682496"/>
            <a:ext cx="2971800" cy="256032"/>
          </a:xfrm>
          <a:prstGeom prst="rect">
            <a:avLst/>
          </a:prstGeom>
          <a:noFill/>
          <a:ln/>
        </p:spPr>
        <p:txBody>
          <a:bodyPr wrap="square" lIns="0" tIns="0" rIns="0" bIns="0" rtlCol="0" anchor="ctr"/>
          <a:lstStyle/>
          <a:p>
            <a:pPr marL="0" indent="0" algn="ctr">
              <a:buNone/>
            </a:pPr>
            <a:r>
              <a:rPr lang="en-US" b="1" dirty="0">
                <a:solidFill>
                  <a:srgbClr val="F59E0B"/>
                </a:solidFill>
              </a:rPr>
              <a:t>Hạn chế</a:t>
            </a:r>
            <a:endParaRPr lang="en-US" dirty="0"/>
          </a:p>
        </p:txBody>
      </p:sp>
      <p:sp>
        <p:nvSpPr>
          <p:cNvPr id="21" name="Shape 19"/>
          <p:cNvSpPr/>
          <p:nvPr/>
        </p:nvSpPr>
        <p:spPr>
          <a:xfrm>
            <a:off x="4901184" y="2331720"/>
            <a:ext cx="91440" cy="91440"/>
          </a:xfrm>
          <a:prstGeom prst="ellipse">
            <a:avLst/>
          </a:prstGeom>
          <a:solidFill>
            <a:srgbClr val="F59E0B"/>
          </a:solidFill>
          <a:ln w="12700">
            <a:solidFill>
              <a:srgbClr val="333333">
                <a:alpha val="0"/>
              </a:srgbClr>
            </a:solidFill>
            <a:prstDash val="solid"/>
          </a:ln>
        </p:spPr>
      </p:sp>
      <p:sp>
        <p:nvSpPr>
          <p:cNvPr id="22" name="Text 20"/>
          <p:cNvSpPr/>
          <p:nvPr/>
        </p:nvSpPr>
        <p:spPr>
          <a:xfrm>
            <a:off x="5084064" y="2258568"/>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Phụ thuộc ánh sáng và camera</a:t>
            </a:r>
            <a:endParaRPr lang="en-US" sz="1400" dirty="0"/>
          </a:p>
        </p:txBody>
      </p:sp>
      <p:sp>
        <p:nvSpPr>
          <p:cNvPr id="23" name="Shape 21"/>
          <p:cNvSpPr/>
          <p:nvPr/>
        </p:nvSpPr>
        <p:spPr>
          <a:xfrm>
            <a:off x="4901184" y="2990088"/>
            <a:ext cx="91440" cy="91440"/>
          </a:xfrm>
          <a:prstGeom prst="ellipse">
            <a:avLst/>
          </a:prstGeom>
          <a:solidFill>
            <a:srgbClr val="F59E0B"/>
          </a:solidFill>
          <a:ln w="12700">
            <a:solidFill>
              <a:srgbClr val="333333">
                <a:alpha val="0"/>
              </a:srgbClr>
            </a:solidFill>
            <a:prstDash val="solid"/>
          </a:ln>
        </p:spPr>
      </p:sp>
      <p:sp>
        <p:nvSpPr>
          <p:cNvPr id="24" name="Text 22"/>
          <p:cNvSpPr/>
          <p:nvPr/>
        </p:nvSpPr>
        <p:spPr>
          <a:xfrm>
            <a:off x="5084064" y="2916936"/>
            <a:ext cx="2697480" cy="219456"/>
          </a:xfrm>
          <a:prstGeom prst="rect">
            <a:avLst/>
          </a:prstGeom>
          <a:noFill/>
          <a:ln/>
        </p:spPr>
        <p:txBody>
          <a:bodyPr wrap="square" lIns="0" tIns="0" rIns="0" bIns="0" rtlCol="0" anchor="ctr">
            <a:noAutofit/>
          </a:bodyPr>
          <a:lstStyle/>
          <a:p>
            <a:pPr marL="0" indent="0">
              <a:buNone/>
            </a:pPr>
            <a:r>
              <a:rPr lang="en-US" sz="1400" dirty="0">
                <a:solidFill>
                  <a:srgbClr val="182334"/>
                </a:solidFill>
              </a:rPr>
              <a:t>Mặt bị che khuất dễ giảm độ chính xác</a:t>
            </a:r>
            <a:endParaRPr lang="en-US" sz="1400" dirty="0"/>
          </a:p>
        </p:txBody>
      </p:sp>
      <p:sp>
        <p:nvSpPr>
          <p:cNvPr id="25" name="Shape 23"/>
          <p:cNvSpPr/>
          <p:nvPr/>
        </p:nvSpPr>
        <p:spPr>
          <a:xfrm>
            <a:off x="4901184" y="3648456"/>
            <a:ext cx="91440" cy="91440"/>
          </a:xfrm>
          <a:prstGeom prst="ellipse">
            <a:avLst/>
          </a:prstGeom>
          <a:solidFill>
            <a:srgbClr val="F59E0B"/>
          </a:solidFill>
          <a:ln w="12700">
            <a:solidFill>
              <a:srgbClr val="333333">
                <a:alpha val="0"/>
              </a:srgbClr>
            </a:solidFill>
            <a:prstDash val="solid"/>
          </a:ln>
        </p:spPr>
      </p:sp>
      <p:sp>
        <p:nvSpPr>
          <p:cNvPr id="26" name="Text 24"/>
          <p:cNvSpPr/>
          <p:nvPr/>
        </p:nvSpPr>
        <p:spPr>
          <a:xfrm>
            <a:off x="5084064" y="3575304"/>
            <a:ext cx="2697480" cy="219456"/>
          </a:xfrm>
          <a:prstGeom prst="rect">
            <a:avLst/>
          </a:prstGeom>
          <a:noFill/>
          <a:ln/>
        </p:spPr>
        <p:txBody>
          <a:bodyPr wrap="square" lIns="0" tIns="0" rIns="0" bIns="0" rtlCol="0" anchor="ctr">
            <a:noAutofit/>
          </a:bodyPr>
          <a:lstStyle/>
          <a:p>
            <a:pPr marL="0" indent="0">
              <a:buNone/>
            </a:pPr>
            <a:r>
              <a:rPr lang="en-US" sz="1400" dirty="0">
                <a:solidFill>
                  <a:srgbClr val="182334"/>
                </a:solidFill>
              </a:rPr>
              <a:t>Chưa có giao diện quản lý hoàn chỉnh</a:t>
            </a:r>
            <a:endParaRPr lang="en-US" sz="1400" dirty="0"/>
          </a:p>
        </p:txBody>
      </p:sp>
      <p:sp>
        <p:nvSpPr>
          <p:cNvPr id="27" name="Shape 25"/>
          <p:cNvSpPr/>
          <p:nvPr/>
        </p:nvSpPr>
        <p:spPr>
          <a:xfrm>
            <a:off x="4901184" y="4306824"/>
            <a:ext cx="91440" cy="91440"/>
          </a:xfrm>
          <a:prstGeom prst="ellipse">
            <a:avLst/>
          </a:prstGeom>
          <a:solidFill>
            <a:srgbClr val="F59E0B"/>
          </a:solidFill>
          <a:ln w="12700">
            <a:solidFill>
              <a:srgbClr val="333333">
                <a:alpha val="0"/>
              </a:srgbClr>
            </a:solidFill>
            <a:prstDash val="solid"/>
          </a:ln>
        </p:spPr>
      </p:sp>
      <p:sp>
        <p:nvSpPr>
          <p:cNvPr id="28" name="Text 26"/>
          <p:cNvSpPr/>
          <p:nvPr/>
        </p:nvSpPr>
        <p:spPr>
          <a:xfrm>
            <a:off x="5084064" y="4233672"/>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Chưa có chống giả mạo bằng ảnh</a:t>
            </a:r>
            <a:endParaRPr lang="en-US" sz="1400" dirty="0"/>
          </a:p>
        </p:txBody>
      </p:sp>
      <p:sp>
        <p:nvSpPr>
          <p:cNvPr id="29" name="Shape 27"/>
          <p:cNvSpPr/>
          <p:nvPr/>
        </p:nvSpPr>
        <p:spPr>
          <a:xfrm>
            <a:off x="8375904" y="1325880"/>
            <a:ext cx="3429000" cy="4892040"/>
          </a:xfrm>
          <a:prstGeom prst="roundRect">
            <a:avLst>
              <a:gd name="adj" fmla="val 4800"/>
            </a:avLst>
          </a:prstGeom>
          <a:solidFill>
            <a:srgbClr val="EAF4FF"/>
          </a:solidFill>
          <a:ln w="12700">
            <a:solidFill>
              <a:srgbClr val="C9D9EC"/>
            </a:solidFill>
            <a:prstDash val="solid"/>
          </a:ln>
          <a:effectLst>
            <a:outerShdw blurRad="25400" dist="50800" dir="2700000" algn="bl" rotWithShape="0">
              <a:srgbClr val="C6D7EA">
                <a:alpha val="16000"/>
              </a:srgbClr>
            </a:outerShdw>
          </a:effectLst>
        </p:spPr>
      </p:sp>
      <p:sp>
        <p:nvSpPr>
          <p:cNvPr id="30" name="Text 28"/>
          <p:cNvSpPr/>
          <p:nvPr/>
        </p:nvSpPr>
        <p:spPr>
          <a:xfrm>
            <a:off x="8604504" y="1682496"/>
            <a:ext cx="2971800" cy="256032"/>
          </a:xfrm>
          <a:prstGeom prst="rect">
            <a:avLst/>
          </a:prstGeom>
          <a:noFill/>
          <a:ln/>
        </p:spPr>
        <p:txBody>
          <a:bodyPr wrap="square" lIns="0" tIns="0" rIns="0" bIns="0" rtlCol="0" anchor="ctr"/>
          <a:lstStyle/>
          <a:p>
            <a:pPr marL="0" indent="0" algn="ctr">
              <a:buNone/>
            </a:pPr>
            <a:r>
              <a:rPr lang="en-US" b="1" dirty="0">
                <a:solidFill>
                  <a:srgbClr val="1D6BFF"/>
                </a:solidFill>
              </a:rPr>
              <a:t>Hướng phát triển</a:t>
            </a:r>
            <a:endParaRPr lang="en-US" dirty="0"/>
          </a:p>
        </p:txBody>
      </p:sp>
      <p:sp>
        <p:nvSpPr>
          <p:cNvPr id="31" name="Shape 29"/>
          <p:cNvSpPr/>
          <p:nvPr/>
        </p:nvSpPr>
        <p:spPr>
          <a:xfrm>
            <a:off x="8759952" y="2331720"/>
            <a:ext cx="91440" cy="91440"/>
          </a:xfrm>
          <a:prstGeom prst="ellipse">
            <a:avLst/>
          </a:prstGeom>
          <a:solidFill>
            <a:srgbClr val="1D6BFF"/>
          </a:solidFill>
          <a:ln w="12700">
            <a:solidFill>
              <a:srgbClr val="333333">
                <a:alpha val="0"/>
              </a:srgbClr>
            </a:solidFill>
            <a:prstDash val="solid"/>
          </a:ln>
        </p:spPr>
      </p:sp>
      <p:sp>
        <p:nvSpPr>
          <p:cNvPr id="32" name="Text 30"/>
          <p:cNvSpPr/>
          <p:nvPr/>
        </p:nvSpPr>
        <p:spPr>
          <a:xfrm>
            <a:off x="8955024" y="2258568"/>
            <a:ext cx="2697480" cy="402336"/>
          </a:xfrm>
          <a:prstGeom prst="rect">
            <a:avLst/>
          </a:prstGeom>
          <a:noFill/>
          <a:ln/>
        </p:spPr>
        <p:txBody>
          <a:bodyPr wrap="square" lIns="0" tIns="0" rIns="0" bIns="0" rtlCol="0" anchor="ctr">
            <a:noAutofit/>
          </a:bodyPr>
          <a:lstStyle/>
          <a:p>
            <a:pPr marL="0" indent="0">
              <a:buNone/>
            </a:pPr>
            <a:r>
              <a:rPr lang="en-US" sz="1400" dirty="0">
                <a:solidFill>
                  <a:srgbClr val="182334"/>
                </a:solidFill>
              </a:rPr>
              <a:t>Xây dựng giao diện Tkinter/PyQt/Web</a:t>
            </a:r>
            <a:endParaRPr lang="en-US" sz="1400" dirty="0"/>
          </a:p>
        </p:txBody>
      </p:sp>
      <p:sp>
        <p:nvSpPr>
          <p:cNvPr id="33" name="Shape 31"/>
          <p:cNvSpPr/>
          <p:nvPr/>
        </p:nvSpPr>
        <p:spPr>
          <a:xfrm>
            <a:off x="8759952" y="2990088"/>
            <a:ext cx="91440" cy="91440"/>
          </a:xfrm>
          <a:prstGeom prst="ellipse">
            <a:avLst/>
          </a:prstGeom>
          <a:solidFill>
            <a:srgbClr val="1D6BFF"/>
          </a:solidFill>
          <a:ln w="12700">
            <a:solidFill>
              <a:srgbClr val="333333">
                <a:alpha val="0"/>
              </a:srgbClr>
            </a:solidFill>
            <a:prstDash val="solid"/>
          </a:ln>
        </p:spPr>
      </p:sp>
      <p:sp>
        <p:nvSpPr>
          <p:cNvPr id="34" name="Text 32"/>
          <p:cNvSpPr/>
          <p:nvPr/>
        </p:nvSpPr>
        <p:spPr>
          <a:xfrm>
            <a:off x="8942832" y="2916936"/>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Kết nối SQLite hoặc MySQL</a:t>
            </a:r>
            <a:endParaRPr lang="en-US" sz="1400" dirty="0"/>
          </a:p>
        </p:txBody>
      </p:sp>
      <p:sp>
        <p:nvSpPr>
          <p:cNvPr id="35" name="Shape 33"/>
          <p:cNvSpPr/>
          <p:nvPr/>
        </p:nvSpPr>
        <p:spPr>
          <a:xfrm>
            <a:off x="8759952" y="3648456"/>
            <a:ext cx="91440" cy="91440"/>
          </a:xfrm>
          <a:prstGeom prst="ellipse">
            <a:avLst/>
          </a:prstGeom>
          <a:solidFill>
            <a:srgbClr val="1D6BFF"/>
          </a:solidFill>
          <a:ln w="12700">
            <a:solidFill>
              <a:srgbClr val="333333">
                <a:alpha val="0"/>
              </a:srgbClr>
            </a:solidFill>
            <a:prstDash val="solid"/>
          </a:ln>
        </p:spPr>
      </p:sp>
      <p:sp>
        <p:nvSpPr>
          <p:cNvPr id="36" name="Text 34"/>
          <p:cNvSpPr/>
          <p:nvPr/>
        </p:nvSpPr>
        <p:spPr>
          <a:xfrm>
            <a:off x="8942832" y="3575304"/>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Bổ sung chống điểm danh hộ</a:t>
            </a:r>
            <a:endParaRPr lang="en-US" sz="1400" dirty="0"/>
          </a:p>
        </p:txBody>
      </p:sp>
      <p:sp>
        <p:nvSpPr>
          <p:cNvPr id="37" name="Shape 35"/>
          <p:cNvSpPr/>
          <p:nvPr/>
        </p:nvSpPr>
        <p:spPr>
          <a:xfrm>
            <a:off x="8759952" y="4306824"/>
            <a:ext cx="91440" cy="91440"/>
          </a:xfrm>
          <a:prstGeom prst="ellipse">
            <a:avLst/>
          </a:prstGeom>
          <a:solidFill>
            <a:srgbClr val="1D6BFF"/>
          </a:solidFill>
          <a:ln w="12700">
            <a:solidFill>
              <a:srgbClr val="333333">
                <a:alpha val="0"/>
              </a:srgbClr>
            </a:solidFill>
            <a:prstDash val="solid"/>
          </a:ln>
        </p:spPr>
      </p:sp>
      <p:sp>
        <p:nvSpPr>
          <p:cNvPr id="38" name="Text 36"/>
          <p:cNvSpPr/>
          <p:nvPr/>
        </p:nvSpPr>
        <p:spPr>
          <a:xfrm>
            <a:off x="8942832" y="4233672"/>
            <a:ext cx="2697480" cy="219456"/>
          </a:xfrm>
          <a:prstGeom prst="rect">
            <a:avLst/>
          </a:prstGeom>
          <a:noFill/>
          <a:ln/>
        </p:spPr>
        <p:txBody>
          <a:bodyPr wrap="square" lIns="0" tIns="0" rIns="0" bIns="0" rtlCol="0" anchor="ctr">
            <a:normAutofit/>
          </a:bodyPr>
          <a:lstStyle/>
          <a:p>
            <a:pPr marL="0" indent="0">
              <a:buNone/>
            </a:pPr>
            <a:r>
              <a:rPr lang="en-US" sz="1400" dirty="0">
                <a:solidFill>
                  <a:srgbClr val="182334"/>
                </a:solidFill>
              </a:rPr>
              <a:t>Tích hợp hệ thống quản lý sinh viên</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BFF"/>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8A9699E7-4059-D01F-B2E6-8F025E73AF9A}"/>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TotalTime>
  <Words>2766</Words>
  <Application>Microsoft Office PowerPoint</Application>
  <PresentationFormat>Widescreen</PresentationFormat>
  <Paragraphs>283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Bahnschrift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UNETI - Nhóm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Nhận diện khuôn mặt phục vụ điểm danh sinh viên</dc:title>
  <dc:subject>Bài thuyết trình nhận diện khuôn mặt điểm danh sinh viên</dc:subject>
  <dc:creator>OpenAI - GPT-5.5 Thinking</dc:creator>
  <cp:lastModifiedBy>Administrator</cp:lastModifiedBy>
  <cp:revision>20</cp:revision>
  <dcterms:created xsi:type="dcterms:W3CDTF">2026-05-25T07:27:40Z</dcterms:created>
  <dcterms:modified xsi:type="dcterms:W3CDTF">2026-06-02T02:30:03Z</dcterms:modified>
</cp:coreProperties>
</file>